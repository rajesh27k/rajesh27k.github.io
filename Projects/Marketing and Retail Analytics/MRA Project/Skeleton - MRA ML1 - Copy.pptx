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notesMasterIdLst>
    <p:notesMasterId r:id="rId19"/>
  </p:notesMasterIdLst>
  <p:sldIdLst>
    <p:sldId id="256" r:id="rId2"/>
    <p:sldId id="257" r:id="rId3"/>
    <p:sldId id="258" r:id="rId4"/>
    <p:sldId id="265" r:id="rId5"/>
    <p:sldId id="259" r:id="rId6"/>
    <p:sldId id="261" r:id="rId7"/>
    <p:sldId id="266" r:id="rId8"/>
    <p:sldId id="267" r:id="rId9"/>
    <p:sldId id="269" r:id="rId10"/>
    <p:sldId id="270" r:id="rId11"/>
    <p:sldId id="271" r:id="rId12"/>
    <p:sldId id="272" r:id="rId13"/>
    <p:sldId id="260" r:id="rId14"/>
    <p:sldId id="262" r:id="rId15"/>
    <p:sldId id="263" r:id="rId16"/>
    <p:sldId id="273" r:id="rId17"/>
    <p:sldId id="27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62" d="100"/>
          <a:sy n="162" d="100"/>
        </p:scale>
        <p:origin x="26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3C1E-6B18-4219-8682-564A5A493263}" type="datetimeFigureOut">
              <a:rPr lang="en-IN" smtClean="0"/>
              <a:t>15-06-2025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EDB973-2792-4979-BA28-D2D38E797896}" type="slidenum">
              <a:rPr lang="en-IN" smtClean="0"/>
              <a:t>‹#›</a:t>
            </a:fld>
            <a:endParaRPr lang="en-IN"/>
          </a:p>
        </p:txBody>
      </p:sp>
    </p:spTree>
    <p:extLst>
      <p:ext uri="{BB962C8B-B14F-4D97-AF65-F5344CB8AC3E}">
        <p14:creationId xmlns:p14="http://schemas.microsoft.com/office/powerpoint/2010/main" val="545632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F75FA28-3735-49B3-9EC2-2D19C7289C52}" type="datetime1">
              <a:rPr lang="en-US" smtClean="0"/>
              <a:t>6/15/2025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4907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95A76C-AD7E-4ABB-A25C-5571A096554F}" type="datetime1">
              <a:rPr lang="en-US" smtClean="0"/>
              <a:t>6/15/2025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86404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83C6EF-BBE0-470C-8B68-59B9EE1BABDC}" type="datetime1">
              <a:rPr lang="en-US" smtClean="0"/>
              <a:t>6/15/2025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3444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84888B3-199D-4B1C-8C88-854995CB4E0F}" type="datetime1">
              <a:rPr lang="en-US" smtClean="0"/>
              <a:t>6/15/2025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00027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AEF27BD-1836-4AE8-AD02-F8A8C3341AD9}" type="datetime1">
              <a:rPr lang="en-US" smtClean="0"/>
              <a:t>6/15/2025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21121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74DC007-C3FF-4832-9A8F-8E53A53DB3DC}" type="datetime1">
              <a:rPr lang="en-US" smtClean="0"/>
              <a:t>6/15/2025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16397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C865F61-5A29-4D94-8FF0-3A9E25DB328D}" type="datetime1">
              <a:rPr lang="en-US" smtClean="0"/>
              <a:t>6/15/2025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19441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B7A1FD2-94B2-4BBB-8631-09DF09B9D7D8}" type="datetime1">
              <a:rPr lang="en-US" smtClean="0"/>
              <a:t>6/15/2025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48493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1BA941-EC10-4491-BA58-97F44C50399B}" type="datetime1">
              <a:rPr lang="en-US" smtClean="0"/>
              <a:t>6/15/2025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30534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6DBCEF-EBBE-4730-A4C8-752C2852EA46}" type="datetime1">
              <a:rPr lang="en-US" smtClean="0"/>
              <a:t>6/15/2025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40847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83B3DD-6970-4422-845C-D8DD41F31649}" type="datetime1">
              <a:rPr lang="en-US" smtClean="0"/>
              <a:t>6/15/2025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9078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0640504-C19D-4D43-96A7-88E0943C334D}" type="datetime1">
              <a:rPr lang="en-US" smtClean="0"/>
              <a:t>6/15/2025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217C01CDF565}"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5049711"/>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MRA Project Part A</a:t>
            </a:r>
          </a:p>
        </p:txBody>
      </p:sp>
      <p:sp>
        <p:nvSpPr>
          <p:cNvPr id="3" name="Subtitle 2"/>
          <p:cNvSpPr>
            <a:spLocks noGrp="1"/>
          </p:cNvSpPr>
          <p:nvPr>
            <p:ph type="subTitle" idx="1"/>
          </p:nvPr>
        </p:nvSpPr>
        <p:spPr/>
        <p:txBody>
          <a:bodyPr>
            <a:normAutofit fontScale="85000" lnSpcReduction="20000"/>
          </a:bodyPr>
          <a:lstStyle/>
          <a:p>
            <a:r>
              <a:rPr lang="en-IN" dirty="0"/>
              <a:t>User name: Rajesh </a:t>
            </a:r>
            <a:r>
              <a:rPr lang="en-IN" dirty="0" err="1"/>
              <a:t>MAmbulli</a:t>
            </a:r>
            <a:endParaRPr lang="en-IN" dirty="0"/>
          </a:p>
          <a:p>
            <a:r>
              <a:rPr lang="en-IN" dirty="0"/>
              <a:t>batch: </a:t>
            </a:r>
            <a:r>
              <a:rPr lang="en-IN" b="1" dirty="0"/>
              <a:t>PGPDSBA.O.SEP24.A</a:t>
            </a:r>
            <a:endParaRPr lang="en-IN" dirty="0"/>
          </a:p>
          <a:p>
            <a:r>
              <a:rPr lang="en-IN" dirty="0"/>
              <a:t>Email: rajeshmambulli@icloud.com</a:t>
            </a:r>
          </a:p>
        </p:txBody>
      </p:sp>
      <p:sp>
        <p:nvSpPr>
          <p:cNvPr id="4" name="Slide Number Placeholder 3">
            <a:extLst>
              <a:ext uri="{FF2B5EF4-FFF2-40B4-BE49-F238E27FC236}">
                <a16:creationId xmlns:a16="http://schemas.microsoft.com/office/drawing/2014/main" id="{4A29844C-8223-3A87-885D-5C289C405FFA}"/>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2016520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 – Part A: Customer Behavior Analysis &amp; Segmentation Strategy</a:t>
            </a:r>
            <a:endParaRPr lang="en-IN" dirty="0"/>
          </a:p>
        </p:txBody>
      </p:sp>
      <p:sp>
        <p:nvSpPr>
          <p:cNvPr id="5" name="Rectangle 2">
            <a:extLst>
              <a:ext uri="{FF2B5EF4-FFF2-40B4-BE49-F238E27FC236}">
                <a16:creationId xmlns:a16="http://schemas.microsoft.com/office/drawing/2014/main" id="{4B09E21B-0665-60AA-2EEB-A29740835EF3}"/>
              </a:ext>
            </a:extLst>
          </p:cNvPr>
          <p:cNvSpPr>
            <a:spLocks noGrp="1" noChangeArrowheads="1"/>
          </p:cNvSpPr>
          <p:nvPr>
            <p:ph idx="1"/>
          </p:nvPr>
        </p:nvSpPr>
        <p:spPr bwMode="auto">
          <a:xfrm>
            <a:off x="1097280" y="1737360"/>
            <a:ext cx="9393382"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SzTx/>
              <a:buFont typeface="Arial" panose="020B0604020202020204" pitchFamily="34" charset="0"/>
              <a:buChar char="•"/>
            </a:pPr>
            <a:r>
              <a:rPr kumimoji="0" lang="en-US" altLang="en-US" sz="1400" b="1" i="0" u="none" strike="noStrike" cap="none" normalizeH="0" baseline="0" dirty="0">
                <a:ln>
                  <a:noFill/>
                </a:ln>
                <a:solidFill>
                  <a:schemeClr val="tx1"/>
                </a:solidFill>
                <a:effectLst/>
              </a:rPr>
              <a:t>Business Overview:</a:t>
            </a:r>
            <a:r>
              <a:rPr kumimoji="0" lang="en-US" altLang="en-US" sz="1400" b="0" i="0" u="none" strike="noStrike" cap="none" normalizeH="0" baseline="0" dirty="0">
                <a:ln>
                  <a:noFill/>
                </a:ln>
                <a:solidFill>
                  <a:schemeClr val="tx1"/>
                </a:solidFill>
                <a:effectLst/>
              </a:rPr>
              <a:t> Introduction to the company and the analytical challenge.</a:t>
            </a:r>
          </a:p>
          <a:p>
            <a:pPr marL="0" indent="0" eaLnBrk="0" fontAlgn="base" hangingPunct="0">
              <a:lnSpc>
                <a:spcPct val="100000"/>
              </a:lnSpc>
              <a:spcBef>
                <a:spcPct val="0"/>
              </a:spcBef>
              <a:spcAft>
                <a:spcPct val="0"/>
              </a:spcAft>
              <a:buClrTx/>
              <a:buSzTx/>
              <a:buNone/>
            </a:pPr>
            <a:endParaRPr kumimoji="0" lang="en-US" altLang="en-US" sz="14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ClrTx/>
              <a:buSzTx/>
              <a:buFont typeface="Arial" panose="020B0604020202020204" pitchFamily="34" charset="0"/>
              <a:buChar char="•"/>
            </a:pPr>
            <a:r>
              <a:rPr kumimoji="0" lang="en-US" altLang="en-US" sz="1400" b="1" i="0" u="none" strike="noStrike" cap="none" normalizeH="0" baseline="0" dirty="0">
                <a:ln>
                  <a:noFill/>
                </a:ln>
                <a:solidFill>
                  <a:schemeClr val="tx1"/>
                </a:solidFill>
                <a:effectLst/>
              </a:rPr>
              <a:t>Problem Statement &amp; Objectives:</a:t>
            </a:r>
            <a:r>
              <a:rPr kumimoji="0" lang="en-US" altLang="en-US" sz="1400" b="0" i="0" u="none" strike="noStrike" cap="none" normalizeH="0" baseline="0" dirty="0">
                <a:ln>
                  <a:noFill/>
                </a:ln>
                <a:solidFill>
                  <a:schemeClr val="tx1"/>
                </a:solidFill>
                <a:effectLst/>
              </a:rPr>
              <a:t> Key questions and business goals driving the analysis</a:t>
            </a:r>
          </a:p>
          <a:p>
            <a:pPr marL="0" indent="0" eaLnBrk="0" fontAlgn="base" hangingPunct="0">
              <a:lnSpc>
                <a:spcPct val="100000"/>
              </a:lnSpc>
              <a:spcBef>
                <a:spcPct val="0"/>
              </a:spcBef>
              <a:spcAft>
                <a:spcPct val="0"/>
              </a:spcAft>
              <a:buClrTx/>
              <a:buSzTx/>
              <a:buNone/>
            </a:pPr>
            <a:endParaRPr kumimoji="0" lang="en-US" altLang="en-US" sz="14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ClrTx/>
              <a:buSzTx/>
              <a:buFont typeface="Arial" panose="020B0604020202020204" pitchFamily="34" charset="0"/>
              <a:buChar char="•"/>
            </a:pPr>
            <a:r>
              <a:rPr kumimoji="0" lang="en-US" altLang="en-US" sz="1400" b="1" i="0" u="none" strike="noStrike" cap="none" normalizeH="0" baseline="0" dirty="0">
                <a:ln>
                  <a:noFill/>
                </a:ln>
                <a:solidFill>
                  <a:schemeClr val="tx1"/>
                </a:solidFill>
                <a:effectLst/>
              </a:rPr>
              <a:t>Data Understanding:</a:t>
            </a:r>
            <a:r>
              <a:rPr kumimoji="0" lang="en-US" altLang="en-US" sz="1400" b="0" i="0" u="none" strike="noStrike" cap="none" normalizeH="0" baseline="0" dirty="0">
                <a:ln>
                  <a:noFill/>
                </a:ln>
                <a:solidFill>
                  <a:schemeClr val="tx1"/>
                </a:solidFill>
                <a:effectLst/>
              </a:rPr>
              <a:t> Structure and variables of the transactional dataset</a:t>
            </a:r>
          </a:p>
          <a:p>
            <a:pPr marL="0" indent="0" eaLnBrk="0" fontAlgn="base" hangingPunct="0">
              <a:lnSpc>
                <a:spcPct val="100000"/>
              </a:lnSpc>
              <a:spcBef>
                <a:spcPct val="0"/>
              </a:spcBef>
              <a:spcAft>
                <a:spcPct val="0"/>
              </a:spcAft>
              <a:buClrTx/>
              <a:buSzTx/>
              <a:buNone/>
            </a:pPr>
            <a:endParaRPr kumimoji="0" lang="en-US" altLang="en-US" sz="14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ClrTx/>
              <a:buSzTx/>
              <a:buFont typeface="Arial" panose="020B0604020202020204" pitchFamily="34" charset="0"/>
              <a:buChar char="•"/>
            </a:pPr>
            <a:r>
              <a:rPr kumimoji="0" lang="en-US" altLang="en-US" sz="1400" b="1" i="0" u="none" strike="noStrike" cap="none" normalizeH="0" baseline="0" dirty="0">
                <a:ln>
                  <a:noFill/>
                </a:ln>
                <a:solidFill>
                  <a:schemeClr val="tx1"/>
                </a:solidFill>
                <a:effectLst/>
              </a:rPr>
              <a:t>Exploratory Data Analysis (EDA):</a:t>
            </a:r>
            <a:r>
              <a:rPr kumimoji="0" lang="en-US" altLang="en-US" sz="1400" b="0" i="0" u="none" strike="noStrike" cap="none" normalizeH="0" baseline="0" dirty="0">
                <a:ln>
                  <a:noFill/>
                </a:ln>
                <a:solidFill>
                  <a:schemeClr val="tx1"/>
                </a:solidFill>
                <a:effectLst/>
              </a:rPr>
              <a:t> Key patterns, sales trends, and product-level insights</a:t>
            </a:r>
            <a:endParaRPr lang="en-US" altLang="en-US" sz="1400" dirty="0">
              <a:solidFill>
                <a:schemeClr val="tx1"/>
              </a:solidFill>
            </a:endParaRPr>
          </a:p>
          <a:p>
            <a:pPr marL="0" indent="0" eaLnBrk="0" fontAlgn="base" hangingPunct="0">
              <a:lnSpc>
                <a:spcPct val="100000"/>
              </a:lnSpc>
              <a:spcBef>
                <a:spcPct val="0"/>
              </a:spcBef>
              <a:spcAft>
                <a:spcPct val="0"/>
              </a:spcAft>
              <a:buClrTx/>
              <a:buSzTx/>
              <a:buNone/>
            </a:pPr>
            <a:endParaRPr kumimoji="0" lang="en-US" altLang="en-US" sz="14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ClrTx/>
              <a:buSzTx/>
              <a:buFont typeface="Arial" panose="020B0604020202020204" pitchFamily="34" charset="0"/>
              <a:buChar char="•"/>
            </a:pPr>
            <a:r>
              <a:rPr kumimoji="0" lang="en-US" altLang="en-US" sz="1400" b="1" i="0" u="none" strike="noStrike" cap="none" normalizeH="0" baseline="0" dirty="0">
                <a:ln>
                  <a:noFill/>
                </a:ln>
                <a:solidFill>
                  <a:schemeClr val="tx1"/>
                </a:solidFill>
                <a:effectLst/>
              </a:rPr>
              <a:t>Insights from EDA</a:t>
            </a:r>
            <a:r>
              <a:rPr kumimoji="0" lang="en-US" altLang="en-US" sz="1400" b="0" i="0" u="none" strike="noStrike" cap="none" normalizeH="0" baseline="0" dirty="0">
                <a:ln>
                  <a:noFill/>
                </a:ln>
                <a:solidFill>
                  <a:schemeClr val="tx1"/>
                </a:solidFill>
                <a:effectLst/>
              </a:rPr>
              <a:t> Highlights of customer behavior and potential segmentation cues</a:t>
            </a:r>
          </a:p>
          <a:p>
            <a:pPr marL="0" indent="0" eaLnBrk="0" fontAlgn="base" hangingPunct="0">
              <a:lnSpc>
                <a:spcPct val="100000"/>
              </a:lnSpc>
              <a:spcBef>
                <a:spcPct val="0"/>
              </a:spcBef>
              <a:spcAft>
                <a:spcPct val="0"/>
              </a:spcAft>
              <a:buClrTx/>
              <a:buSzTx/>
              <a:buNone/>
            </a:pPr>
            <a:endParaRPr kumimoji="0" lang="en-US" altLang="en-US" sz="14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ClrTx/>
              <a:buSzTx/>
              <a:buFont typeface="Arial" panose="020B0604020202020204" pitchFamily="34" charset="0"/>
              <a:buChar char="•"/>
            </a:pPr>
            <a:r>
              <a:rPr kumimoji="0" lang="en-US" altLang="en-US" sz="1400" b="1" i="0" u="none" strike="noStrike" cap="none" normalizeH="0" baseline="0" dirty="0">
                <a:ln>
                  <a:noFill/>
                </a:ln>
                <a:solidFill>
                  <a:schemeClr val="tx1"/>
                </a:solidFill>
                <a:effectLst/>
              </a:rPr>
              <a:t>Customer Segmentation (RFM Analysis):</a:t>
            </a:r>
            <a:r>
              <a:rPr kumimoji="0" lang="en-US" altLang="en-US" sz="1400" b="0" i="0" u="none" strike="noStrike" cap="none" normalizeH="0" baseline="0" dirty="0">
                <a:ln>
                  <a:noFill/>
                </a:ln>
                <a:solidFill>
                  <a:schemeClr val="tx1"/>
                </a:solidFill>
                <a:effectLst/>
              </a:rPr>
              <a:t> Methodology for RFM scoring and segment creation</a:t>
            </a:r>
          </a:p>
          <a:p>
            <a:pPr marL="0" indent="0" eaLnBrk="0" fontAlgn="base" hangingPunct="0">
              <a:lnSpc>
                <a:spcPct val="100000"/>
              </a:lnSpc>
              <a:spcBef>
                <a:spcPct val="0"/>
              </a:spcBef>
              <a:spcAft>
                <a:spcPct val="0"/>
              </a:spcAft>
              <a:buClrTx/>
              <a:buSzTx/>
              <a:buNone/>
            </a:pPr>
            <a:endParaRPr kumimoji="0" lang="en-US" altLang="en-US" sz="14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ClrTx/>
              <a:buSzTx/>
              <a:buFont typeface="Arial" panose="020B0604020202020204" pitchFamily="34" charset="0"/>
              <a:buChar char="•"/>
            </a:pPr>
            <a:r>
              <a:rPr kumimoji="0" lang="en-US" altLang="en-US" sz="1400" b="1" i="0" u="none" strike="noStrike" cap="none" normalizeH="0" baseline="0" dirty="0">
                <a:ln>
                  <a:noFill/>
                </a:ln>
                <a:solidFill>
                  <a:schemeClr val="tx1"/>
                </a:solidFill>
                <a:effectLst/>
              </a:rPr>
              <a:t>Segment Profiles &amp; Behavioral Inference:</a:t>
            </a:r>
            <a:r>
              <a:rPr kumimoji="0" lang="en-US" altLang="en-US" sz="1400" b="0" i="0" u="none" strike="noStrike" cap="none" normalizeH="0" baseline="0" dirty="0">
                <a:ln>
                  <a:noFill/>
                </a:ln>
                <a:solidFill>
                  <a:schemeClr val="tx1"/>
                </a:solidFill>
                <a:effectLst/>
              </a:rPr>
              <a:t> Interpretation of segments and their business implications</a:t>
            </a:r>
          </a:p>
          <a:p>
            <a:pPr marL="0" indent="0" eaLnBrk="0" fontAlgn="base" hangingPunct="0">
              <a:lnSpc>
                <a:spcPct val="100000"/>
              </a:lnSpc>
              <a:spcBef>
                <a:spcPct val="0"/>
              </a:spcBef>
              <a:spcAft>
                <a:spcPct val="0"/>
              </a:spcAft>
              <a:buClrTx/>
              <a:buSzTx/>
              <a:buNone/>
            </a:pPr>
            <a:endParaRPr kumimoji="0" lang="en-US" altLang="en-US" sz="14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ClrTx/>
              <a:buSzTx/>
              <a:buFont typeface="Arial" panose="020B0604020202020204" pitchFamily="34" charset="0"/>
              <a:buChar char="•"/>
            </a:pPr>
            <a:r>
              <a:rPr kumimoji="0" lang="en-US" altLang="en-US" sz="1400" b="1" i="0" u="none" strike="noStrike" cap="none" normalizeH="0" baseline="0" dirty="0">
                <a:ln>
                  <a:noFill/>
                </a:ln>
                <a:solidFill>
                  <a:schemeClr val="tx1"/>
                </a:solidFill>
                <a:effectLst/>
              </a:rPr>
              <a:t>Targeted Marketing Strategy:</a:t>
            </a:r>
            <a:r>
              <a:rPr kumimoji="0" lang="en-US" altLang="en-US" sz="1400" b="0" i="0" u="none" strike="noStrike" cap="none" normalizeH="0" baseline="0" dirty="0">
                <a:ln>
                  <a:noFill/>
                </a:ln>
                <a:solidFill>
                  <a:schemeClr val="tx1"/>
                </a:solidFill>
                <a:effectLst/>
              </a:rPr>
              <a:t> Actionable recommendations tailored to each segment</a:t>
            </a:r>
          </a:p>
          <a:p>
            <a:pPr marL="0" indent="0" eaLnBrk="0" fontAlgn="base" hangingPunct="0">
              <a:lnSpc>
                <a:spcPct val="100000"/>
              </a:lnSpc>
              <a:spcBef>
                <a:spcPct val="0"/>
              </a:spcBef>
              <a:spcAft>
                <a:spcPct val="0"/>
              </a:spcAft>
              <a:buClrTx/>
              <a:buSzTx/>
              <a:buNone/>
            </a:pPr>
            <a:endParaRPr kumimoji="0" lang="en-US" altLang="en-US" sz="14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ClrTx/>
              <a:buSzTx/>
              <a:buFont typeface="Arial" panose="020B0604020202020204" pitchFamily="34" charset="0"/>
              <a:buChar char="•"/>
            </a:pPr>
            <a:r>
              <a:rPr kumimoji="0" lang="en-US" altLang="en-US" sz="1400" b="1" i="0" u="none" strike="noStrike" cap="none" normalizeH="0" baseline="0" dirty="0">
                <a:ln>
                  <a:noFill/>
                </a:ln>
                <a:solidFill>
                  <a:schemeClr val="tx1"/>
                </a:solidFill>
                <a:effectLst/>
              </a:rPr>
              <a:t>KNIME Workflow Overview: </a:t>
            </a:r>
            <a:r>
              <a:rPr kumimoji="0" lang="en-US" altLang="en-US" sz="1400" b="0" i="0" u="none" strike="noStrike" cap="none" normalizeH="0" baseline="0" dirty="0">
                <a:ln>
                  <a:noFill/>
                </a:ln>
                <a:solidFill>
                  <a:schemeClr val="tx1"/>
                </a:solidFill>
                <a:effectLst/>
              </a:rPr>
              <a:t> Analytical pipeline and tools used for implementation</a:t>
            </a:r>
          </a:p>
          <a:p>
            <a:pPr marL="0" indent="0" eaLnBrk="0" fontAlgn="base" hangingPunct="0">
              <a:lnSpc>
                <a:spcPct val="100000"/>
              </a:lnSpc>
              <a:spcBef>
                <a:spcPct val="0"/>
              </a:spcBef>
              <a:spcAft>
                <a:spcPct val="0"/>
              </a:spcAft>
              <a:buClrTx/>
              <a:buSzTx/>
              <a:buNone/>
            </a:pPr>
            <a:endParaRPr kumimoji="0" lang="en-US" altLang="en-US" sz="14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ClrTx/>
              <a:buSzTx/>
              <a:buFont typeface="Arial" panose="020B0604020202020204" pitchFamily="34" charset="0"/>
              <a:buChar char="•"/>
            </a:pPr>
            <a:r>
              <a:rPr kumimoji="0" lang="en-US" altLang="en-US" sz="1400" b="1" i="0" u="none" strike="noStrike" cap="none" normalizeH="0" baseline="0" dirty="0">
                <a:ln>
                  <a:noFill/>
                </a:ln>
                <a:solidFill>
                  <a:schemeClr val="tx1"/>
                </a:solidFill>
                <a:effectLst/>
              </a:rPr>
              <a:t>Conclusion &amp; Strategic Impact:</a:t>
            </a:r>
            <a:r>
              <a:rPr kumimoji="0" lang="en-US" altLang="en-US" sz="1400" b="0" i="0" u="none" strike="noStrike" cap="none" normalizeH="0" baseline="0" dirty="0">
                <a:ln>
                  <a:noFill/>
                </a:ln>
                <a:solidFill>
                  <a:schemeClr val="tx1"/>
                </a:solidFill>
                <a:effectLst/>
              </a:rPr>
              <a:t> Summary of insights, projected business benefits, and future scope</a:t>
            </a:r>
          </a:p>
        </p:txBody>
      </p:sp>
      <p:sp>
        <p:nvSpPr>
          <p:cNvPr id="3" name="Slide Number Placeholder 2">
            <a:extLst>
              <a:ext uri="{FF2B5EF4-FFF2-40B4-BE49-F238E27FC236}">
                <a16:creationId xmlns:a16="http://schemas.microsoft.com/office/drawing/2014/main" id="{148DFAA7-7B69-896F-C578-6038045A2FBC}"/>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400977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322014"/>
            <a:ext cx="10058400" cy="1450757"/>
          </a:xfrm>
        </p:spPr>
        <p:txBody>
          <a:bodyPr/>
          <a:lstStyle/>
          <a:p>
            <a:r>
              <a:rPr lang="en-IN" dirty="0"/>
              <a:t>Business Overview</a:t>
            </a:r>
          </a:p>
        </p:txBody>
      </p:sp>
      <p:sp>
        <p:nvSpPr>
          <p:cNvPr id="3" name="Content Placeholder 2"/>
          <p:cNvSpPr>
            <a:spLocks noGrp="1"/>
          </p:cNvSpPr>
          <p:nvPr>
            <p:ph idx="1"/>
          </p:nvPr>
        </p:nvSpPr>
        <p:spPr>
          <a:xfrm>
            <a:off x="1173973" y="1772771"/>
            <a:ext cx="9905016" cy="4813300"/>
          </a:xfrm>
        </p:spPr>
        <p:txBody>
          <a:bodyPr>
            <a:noAutofit/>
          </a:bodyPr>
          <a:lstStyle/>
          <a:p>
            <a:pPr algn="just" fontAlgn="auto"/>
            <a:endParaRPr lang="en-US" dirty="0"/>
          </a:p>
          <a:p>
            <a:pPr algn="just" fontAlgn="auto"/>
            <a:endParaRPr lang="en-US" dirty="0"/>
          </a:p>
          <a:p>
            <a:pPr algn="just" fontAlgn="auto"/>
            <a:r>
              <a:rPr lang="en-US" dirty="0"/>
              <a:t>An automobile parts manufacturing company has been actively selling products to a diverse range of customers for the past three years. Despite its growth, the company lacks the in-house expertise to derive actionable insights from its transaction data. As a result, they wish to uncover hidden patterns and trends in their customer transactions. By analyzing this data, the company aims to better understand customer behavior, improve customer segmentation, and implement targeted marketing strategies. These insights will help the company not only enhance customer satisfaction but also drive revenue growth by offering more personalized and efficient services.</a:t>
            </a:r>
          </a:p>
          <a:p>
            <a:pPr>
              <a:lnSpc>
                <a:spcPct val="120000"/>
              </a:lnSpc>
            </a:pPr>
            <a:endParaRPr lang="en-IN" sz="1200" dirty="0"/>
          </a:p>
        </p:txBody>
      </p:sp>
      <p:sp>
        <p:nvSpPr>
          <p:cNvPr id="4" name="Slide Number Placeholder 3">
            <a:extLst>
              <a:ext uri="{FF2B5EF4-FFF2-40B4-BE49-F238E27FC236}">
                <a16:creationId xmlns:a16="http://schemas.microsoft.com/office/drawing/2014/main" id="{DC50EA40-13E2-F80C-5E19-73D5FDEAFC2E}"/>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3874616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927AC-8669-BEF6-2FEE-30463750E2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F79D8B-AEFA-89D1-EEDB-94D6FB3335FA}"/>
              </a:ext>
            </a:extLst>
          </p:cNvPr>
          <p:cNvSpPr>
            <a:spLocks noGrp="1"/>
          </p:cNvSpPr>
          <p:nvPr>
            <p:ph type="title"/>
          </p:nvPr>
        </p:nvSpPr>
        <p:spPr>
          <a:xfrm>
            <a:off x="1066800" y="322014"/>
            <a:ext cx="10058400" cy="1450757"/>
          </a:xfrm>
        </p:spPr>
        <p:txBody>
          <a:bodyPr/>
          <a:lstStyle/>
          <a:p>
            <a:r>
              <a:rPr lang="en-IN" dirty="0"/>
              <a:t>Problem Statement</a:t>
            </a:r>
          </a:p>
        </p:txBody>
      </p:sp>
      <p:sp>
        <p:nvSpPr>
          <p:cNvPr id="3" name="Content Placeholder 2">
            <a:extLst>
              <a:ext uri="{FF2B5EF4-FFF2-40B4-BE49-F238E27FC236}">
                <a16:creationId xmlns:a16="http://schemas.microsoft.com/office/drawing/2014/main" id="{53BB0564-9872-8085-1431-4991813265F1}"/>
              </a:ext>
            </a:extLst>
          </p:cNvPr>
          <p:cNvSpPr>
            <a:spLocks noGrp="1"/>
          </p:cNvSpPr>
          <p:nvPr>
            <p:ph idx="1"/>
          </p:nvPr>
        </p:nvSpPr>
        <p:spPr>
          <a:xfrm>
            <a:off x="1173973" y="1772771"/>
            <a:ext cx="9905016" cy="4813300"/>
          </a:xfrm>
        </p:spPr>
        <p:txBody>
          <a:bodyPr>
            <a:noAutofit/>
          </a:bodyPr>
          <a:lstStyle/>
          <a:p>
            <a:r>
              <a:rPr lang="en-US" b="1" dirty="0"/>
              <a:t>Objective:</a:t>
            </a:r>
            <a:endParaRPr lang="en-US" dirty="0"/>
          </a:p>
          <a:p>
            <a:pPr fontAlgn="auto"/>
            <a:r>
              <a:rPr lang="en-US" dirty="0"/>
              <a:t>The primary objective of this analysis is to leverage data science techniques to:</a:t>
            </a:r>
          </a:p>
          <a:p>
            <a:pPr fontAlgn="auto"/>
            <a:r>
              <a:rPr lang="en-US" dirty="0"/>
              <a:t>Identify underlying patterns in customer purchasing behavior.</a:t>
            </a:r>
          </a:p>
          <a:p>
            <a:pPr fontAlgn="auto"/>
            <a:r>
              <a:rPr lang="en-US" dirty="0"/>
              <a:t>Segment customers based on their transactional data.</a:t>
            </a:r>
          </a:p>
          <a:p>
            <a:pPr fontAlgn="auto"/>
            <a:r>
              <a:rPr lang="en-US" dirty="0"/>
              <a:t>Provide actionable insights to optimize the company's marketing efforts.</a:t>
            </a:r>
          </a:p>
          <a:p>
            <a:pPr fontAlgn="auto"/>
            <a:r>
              <a:rPr lang="en-US" dirty="0"/>
              <a:t>Recommend personalized marketing strategies for each customer segment to maximize sales and customer retention.</a:t>
            </a:r>
          </a:p>
          <a:p>
            <a:pPr fontAlgn="auto"/>
            <a:r>
              <a:rPr lang="en-US" dirty="0"/>
              <a:t>Your role as a Business Analyst is to use the provided dataset to achieve these goals and present findings in a manner that can guide the company's decision-making.</a:t>
            </a:r>
          </a:p>
          <a:p>
            <a:pPr algn="just" fontAlgn="auto"/>
            <a:endParaRPr lang="en-US" dirty="0"/>
          </a:p>
          <a:p>
            <a:pPr marL="0" indent="0" algn="just" fontAlgn="auto">
              <a:buNone/>
            </a:pPr>
            <a:endParaRPr lang="en-US" dirty="0"/>
          </a:p>
        </p:txBody>
      </p:sp>
      <p:sp>
        <p:nvSpPr>
          <p:cNvPr id="4" name="Slide Number Placeholder 3">
            <a:extLst>
              <a:ext uri="{FF2B5EF4-FFF2-40B4-BE49-F238E27FC236}">
                <a16:creationId xmlns:a16="http://schemas.microsoft.com/office/drawing/2014/main" id="{6FFFDC4B-30D3-C6E9-DED5-5DF899A09307}"/>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1002733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Description</a:t>
            </a:r>
          </a:p>
        </p:txBody>
      </p:sp>
      <p:sp>
        <p:nvSpPr>
          <p:cNvPr id="3" name="Content Placeholder 2"/>
          <p:cNvSpPr>
            <a:spLocks noGrp="1"/>
          </p:cNvSpPr>
          <p:nvPr>
            <p:ph idx="1"/>
          </p:nvPr>
        </p:nvSpPr>
        <p:spPr>
          <a:xfrm>
            <a:off x="1097280" y="1845734"/>
            <a:ext cx="10058400" cy="502209"/>
          </a:xfrm>
        </p:spPr>
        <p:txBody>
          <a:bodyPr>
            <a:noAutofit/>
          </a:bodyPr>
          <a:lstStyle/>
          <a:p>
            <a:pPr fontAlgn="auto"/>
            <a:r>
              <a:rPr lang="en-US" sz="1200" dirty="0"/>
              <a:t>The dataset provided contains three years of transactional data from the company, with each row representing a unique order. Below is an explanation of the key attributes:</a:t>
            </a:r>
          </a:p>
          <a:p>
            <a:endParaRPr lang="en-IN" sz="1200" dirty="0"/>
          </a:p>
        </p:txBody>
      </p:sp>
      <p:sp>
        <p:nvSpPr>
          <p:cNvPr id="4" name="TextBox 3">
            <a:extLst>
              <a:ext uri="{FF2B5EF4-FFF2-40B4-BE49-F238E27FC236}">
                <a16:creationId xmlns:a16="http://schemas.microsoft.com/office/drawing/2014/main" id="{4328382B-E211-C626-8C88-07229EE563C1}"/>
              </a:ext>
            </a:extLst>
          </p:cNvPr>
          <p:cNvSpPr txBox="1"/>
          <p:nvPr/>
        </p:nvSpPr>
        <p:spPr>
          <a:xfrm>
            <a:off x="1097280" y="2241755"/>
            <a:ext cx="6872748" cy="3785652"/>
          </a:xfrm>
          <a:prstGeom prst="rect">
            <a:avLst/>
          </a:prstGeom>
          <a:noFill/>
        </p:spPr>
        <p:txBody>
          <a:bodyPr wrap="square" rtlCol="0">
            <a:spAutoFit/>
          </a:bodyPr>
          <a:lstStyle/>
          <a:p>
            <a:pPr fontAlgn="auto">
              <a:lnSpc>
                <a:spcPct val="100000"/>
              </a:lnSpc>
            </a:pPr>
            <a:r>
              <a:rPr lang="en-US" sz="1200" b="1" dirty="0"/>
              <a:t>ORDERNUMBER</a:t>
            </a:r>
            <a:r>
              <a:rPr lang="en-US" sz="1200" dirty="0"/>
              <a:t>: Unique identifier for each order.</a:t>
            </a:r>
          </a:p>
          <a:p>
            <a:pPr fontAlgn="auto">
              <a:lnSpc>
                <a:spcPct val="100000"/>
              </a:lnSpc>
            </a:pPr>
            <a:r>
              <a:rPr lang="en-US" sz="1200" b="1" dirty="0"/>
              <a:t>QUANTITYORDERED</a:t>
            </a:r>
            <a:r>
              <a:rPr lang="en-US" sz="1200" dirty="0"/>
              <a:t>: Number of items ordered in a specific transaction.</a:t>
            </a:r>
          </a:p>
          <a:p>
            <a:pPr fontAlgn="auto">
              <a:lnSpc>
                <a:spcPct val="100000"/>
              </a:lnSpc>
            </a:pPr>
            <a:r>
              <a:rPr lang="en-US" sz="1200" b="1" dirty="0"/>
              <a:t>PRICEEACH</a:t>
            </a:r>
            <a:r>
              <a:rPr lang="en-US" sz="1200" dirty="0"/>
              <a:t>: Price per unit of the product in the order.</a:t>
            </a:r>
          </a:p>
          <a:p>
            <a:pPr fontAlgn="auto">
              <a:lnSpc>
                <a:spcPct val="100000"/>
              </a:lnSpc>
            </a:pPr>
            <a:r>
              <a:rPr lang="en-US" sz="1200" b="1" dirty="0"/>
              <a:t>ORDERLINENUMBER</a:t>
            </a:r>
            <a:r>
              <a:rPr lang="en-US" sz="1200" dirty="0"/>
              <a:t>: Sequence number of the product in the order.</a:t>
            </a:r>
          </a:p>
          <a:p>
            <a:pPr fontAlgn="auto">
              <a:lnSpc>
                <a:spcPct val="100000"/>
              </a:lnSpc>
            </a:pPr>
            <a:r>
              <a:rPr lang="en-US" sz="1200" b="1" dirty="0"/>
              <a:t>SALES</a:t>
            </a:r>
            <a:r>
              <a:rPr lang="en-US" sz="1200" dirty="0"/>
              <a:t>: Total sales value for the order.</a:t>
            </a:r>
          </a:p>
          <a:p>
            <a:pPr fontAlgn="auto">
              <a:lnSpc>
                <a:spcPct val="100000"/>
              </a:lnSpc>
            </a:pPr>
            <a:r>
              <a:rPr lang="en-US" sz="1200" b="1" dirty="0"/>
              <a:t>ORDERDATE</a:t>
            </a:r>
            <a:r>
              <a:rPr lang="en-US" sz="1200" dirty="0"/>
              <a:t>: Date when the order was placed.</a:t>
            </a:r>
          </a:p>
          <a:p>
            <a:pPr fontAlgn="auto">
              <a:lnSpc>
                <a:spcPct val="100000"/>
              </a:lnSpc>
            </a:pPr>
            <a:r>
              <a:rPr lang="en-US" sz="1200" b="1" dirty="0"/>
              <a:t>DAYS_SINCE_LASTORDER</a:t>
            </a:r>
            <a:r>
              <a:rPr lang="en-US" sz="1200" dirty="0"/>
              <a:t>: Number of days since the customer's previous order.</a:t>
            </a:r>
          </a:p>
          <a:p>
            <a:pPr fontAlgn="auto">
              <a:lnSpc>
                <a:spcPct val="100000"/>
              </a:lnSpc>
            </a:pPr>
            <a:r>
              <a:rPr lang="en-US" sz="1200" b="1" dirty="0"/>
              <a:t>STATUS</a:t>
            </a:r>
            <a:r>
              <a:rPr lang="en-US" sz="1200" dirty="0"/>
              <a:t>: Current status of the order (e.g., Shipped, Disputed).</a:t>
            </a:r>
          </a:p>
          <a:p>
            <a:pPr fontAlgn="auto">
              <a:lnSpc>
                <a:spcPct val="100000"/>
              </a:lnSpc>
            </a:pPr>
            <a:r>
              <a:rPr lang="en-US" sz="1200" b="1" dirty="0"/>
              <a:t>PRODUCTLINE</a:t>
            </a:r>
            <a:r>
              <a:rPr lang="en-US" sz="1200" dirty="0"/>
              <a:t>: Product category to which the item belongs (e.g., Motorcycles, Classic Cars).</a:t>
            </a:r>
          </a:p>
          <a:p>
            <a:pPr fontAlgn="auto">
              <a:lnSpc>
                <a:spcPct val="100000"/>
              </a:lnSpc>
            </a:pPr>
            <a:r>
              <a:rPr lang="en-US" sz="1200" b="1" dirty="0"/>
              <a:t>MSRP</a:t>
            </a:r>
            <a:r>
              <a:rPr lang="en-US" sz="1200" dirty="0"/>
              <a:t>: Manufacturer’s Suggested Retail Price for the product.</a:t>
            </a:r>
          </a:p>
          <a:p>
            <a:pPr fontAlgn="auto">
              <a:lnSpc>
                <a:spcPct val="100000"/>
              </a:lnSpc>
            </a:pPr>
            <a:r>
              <a:rPr lang="en-US" sz="1200" b="1" dirty="0"/>
              <a:t>PRODUCTCODE</a:t>
            </a:r>
            <a:r>
              <a:rPr lang="en-US" sz="1200" dirty="0"/>
              <a:t>: Unique identifier for the product.</a:t>
            </a:r>
          </a:p>
          <a:p>
            <a:pPr fontAlgn="auto">
              <a:lnSpc>
                <a:spcPct val="100000"/>
              </a:lnSpc>
            </a:pPr>
            <a:r>
              <a:rPr lang="en-US" sz="1200" b="1" dirty="0"/>
              <a:t>CUSTOMERNAME</a:t>
            </a:r>
            <a:r>
              <a:rPr lang="en-US" sz="1200" dirty="0"/>
              <a:t>: Name of the customer placing the order.</a:t>
            </a:r>
          </a:p>
          <a:p>
            <a:pPr fontAlgn="auto">
              <a:lnSpc>
                <a:spcPct val="100000"/>
              </a:lnSpc>
            </a:pPr>
            <a:r>
              <a:rPr lang="en-US" sz="1200" b="1" dirty="0"/>
              <a:t>PHONE</a:t>
            </a:r>
            <a:r>
              <a:rPr lang="en-US" sz="1200" dirty="0"/>
              <a:t>: Customer's contact phone number.</a:t>
            </a:r>
          </a:p>
          <a:p>
            <a:pPr fontAlgn="auto">
              <a:lnSpc>
                <a:spcPct val="100000"/>
              </a:lnSpc>
            </a:pPr>
            <a:r>
              <a:rPr lang="en-US" sz="1200" b="1" dirty="0"/>
              <a:t>ADDRESSLINE1</a:t>
            </a:r>
            <a:r>
              <a:rPr lang="en-US" sz="1200" dirty="0"/>
              <a:t>: Customer's primary address.</a:t>
            </a:r>
          </a:p>
          <a:p>
            <a:pPr fontAlgn="auto">
              <a:lnSpc>
                <a:spcPct val="100000"/>
              </a:lnSpc>
            </a:pPr>
            <a:r>
              <a:rPr lang="en-US" sz="1200" b="1" dirty="0"/>
              <a:t>CITY</a:t>
            </a:r>
            <a:r>
              <a:rPr lang="en-US" sz="1200" dirty="0"/>
              <a:t>: City of the customer's address.</a:t>
            </a:r>
          </a:p>
          <a:p>
            <a:pPr fontAlgn="auto">
              <a:lnSpc>
                <a:spcPct val="100000"/>
              </a:lnSpc>
            </a:pPr>
            <a:r>
              <a:rPr lang="en-US" sz="1200" b="1" dirty="0"/>
              <a:t>POSTALCODE</a:t>
            </a:r>
            <a:r>
              <a:rPr lang="en-US" sz="1200" dirty="0"/>
              <a:t>: Postal code of the customer's address.</a:t>
            </a:r>
          </a:p>
          <a:p>
            <a:pPr fontAlgn="auto">
              <a:lnSpc>
                <a:spcPct val="100000"/>
              </a:lnSpc>
            </a:pPr>
            <a:r>
              <a:rPr lang="en-US" sz="1200" b="1" dirty="0"/>
              <a:t>COUNTRY</a:t>
            </a:r>
            <a:r>
              <a:rPr lang="en-US" sz="1200" dirty="0"/>
              <a:t>: Country of the customer's address.</a:t>
            </a:r>
          </a:p>
          <a:p>
            <a:pPr fontAlgn="auto">
              <a:lnSpc>
                <a:spcPct val="100000"/>
              </a:lnSpc>
            </a:pPr>
            <a:r>
              <a:rPr lang="en-US" sz="1200" b="1" dirty="0"/>
              <a:t>CONTACTLASTNAME</a:t>
            </a:r>
            <a:r>
              <a:rPr lang="en-US" sz="1200" dirty="0"/>
              <a:t>: Last name of the customer’s contact person.</a:t>
            </a:r>
          </a:p>
          <a:p>
            <a:pPr fontAlgn="auto">
              <a:lnSpc>
                <a:spcPct val="100000"/>
              </a:lnSpc>
            </a:pPr>
            <a:r>
              <a:rPr lang="en-US" sz="1200" b="1" dirty="0"/>
              <a:t>CONTACTFIRSTNAME</a:t>
            </a:r>
            <a:r>
              <a:rPr lang="en-US" sz="1200" dirty="0"/>
              <a:t>: First name of the customer’s contact person.</a:t>
            </a:r>
          </a:p>
          <a:p>
            <a:pPr fontAlgn="auto">
              <a:lnSpc>
                <a:spcPct val="100000"/>
              </a:lnSpc>
            </a:pPr>
            <a:r>
              <a:rPr lang="en-US" sz="1200" b="1" dirty="0"/>
              <a:t>DEALSIZE</a:t>
            </a:r>
            <a:r>
              <a:rPr lang="en-US" sz="1200" dirty="0"/>
              <a:t>: Size category of the transaction (e.g., Small, Medium, Large).</a:t>
            </a:r>
          </a:p>
        </p:txBody>
      </p:sp>
      <p:sp>
        <p:nvSpPr>
          <p:cNvPr id="5" name="Slide Number Placeholder 4">
            <a:extLst>
              <a:ext uri="{FF2B5EF4-FFF2-40B4-BE49-F238E27FC236}">
                <a16:creationId xmlns:a16="http://schemas.microsoft.com/office/drawing/2014/main" id="{C150DE0C-AFF9-E8DD-B52A-4F871E7988FA}"/>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762739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EDA STARTS</a:t>
            </a:r>
          </a:p>
        </p:txBody>
      </p:sp>
      <p:pic>
        <p:nvPicPr>
          <p:cNvPr id="5" name="Content Placeholder 4">
            <a:extLst>
              <a:ext uri="{FF2B5EF4-FFF2-40B4-BE49-F238E27FC236}">
                <a16:creationId xmlns:a16="http://schemas.microsoft.com/office/drawing/2014/main" id="{51E131F1-FDD4-E916-3E4C-E9E89FDF2762}"/>
              </a:ext>
            </a:extLst>
          </p:cNvPr>
          <p:cNvPicPr>
            <a:picLocks noGrp="1" noChangeAspect="1"/>
          </p:cNvPicPr>
          <p:nvPr>
            <p:ph idx="1"/>
          </p:nvPr>
        </p:nvPicPr>
        <p:blipFill>
          <a:blip r:embed="rId2"/>
          <a:stretch>
            <a:fillRect/>
          </a:stretch>
        </p:blipFill>
        <p:spPr>
          <a:xfrm>
            <a:off x="1186046" y="2036166"/>
            <a:ext cx="4909954" cy="2785667"/>
          </a:xfrm>
        </p:spPr>
      </p:pic>
      <p:pic>
        <p:nvPicPr>
          <p:cNvPr id="7" name="Picture 6">
            <a:extLst>
              <a:ext uri="{FF2B5EF4-FFF2-40B4-BE49-F238E27FC236}">
                <a16:creationId xmlns:a16="http://schemas.microsoft.com/office/drawing/2014/main" id="{EC61F4FF-45A6-5F44-7505-FF2C01AE684C}"/>
              </a:ext>
            </a:extLst>
          </p:cNvPr>
          <p:cNvPicPr>
            <a:picLocks noChangeAspect="1"/>
          </p:cNvPicPr>
          <p:nvPr/>
        </p:nvPicPr>
        <p:blipFill>
          <a:blip r:embed="rId3"/>
          <a:stretch>
            <a:fillRect/>
          </a:stretch>
        </p:blipFill>
        <p:spPr>
          <a:xfrm>
            <a:off x="6368160" y="1982451"/>
            <a:ext cx="5013482" cy="2762636"/>
          </a:xfrm>
          <a:prstGeom prst="rect">
            <a:avLst/>
          </a:prstGeom>
        </p:spPr>
      </p:pic>
      <p:sp>
        <p:nvSpPr>
          <p:cNvPr id="8" name="TextBox 7">
            <a:extLst>
              <a:ext uri="{FF2B5EF4-FFF2-40B4-BE49-F238E27FC236}">
                <a16:creationId xmlns:a16="http://schemas.microsoft.com/office/drawing/2014/main" id="{7148F22A-8B50-DB42-BAFD-F0A04DC1D9C4}"/>
              </a:ext>
            </a:extLst>
          </p:cNvPr>
          <p:cNvSpPr txBox="1"/>
          <p:nvPr/>
        </p:nvSpPr>
        <p:spPr>
          <a:xfrm>
            <a:off x="1097280" y="5846261"/>
            <a:ext cx="7975928" cy="369332"/>
          </a:xfrm>
          <a:prstGeom prst="rect">
            <a:avLst/>
          </a:prstGeom>
          <a:noFill/>
        </p:spPr>
        <p:txBody>
          <a:bodyPr wrap="square" rtlCol="0">
            <a:spAutoFit/>
          </a:bodyPr>
          <a:lstStyle/>
          <a:p>
            <a:r>
              <a:rPr lang="en-IN" dirty="0"/>
              <a:t>This is Head and Tail of the provided Sales Data</a:t>
            </a:r>
          </a:p>
        </p:txBody>
      </p:sp>
      <p:sp>
        <p:nvSpPr>
          <p:cNvPr id="3" name="Slide Number Placeholder 2">
            <a:extLst>
              <a:ext uri="{FF2B5EF4-FFF2-40B4-BE49-F238E27FC236}">
                <a16:creationId xmlns:a16="http://schemas.microsoft.com/office/drawing/2014/main" id="{ED067000-B7C5-5A5C-31C7-F5E242A07D5C}"/>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488982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643CC-B8E3-2BB0-F1A4-776B84BDA9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6BAE5C-243C-82C1-C676-F4AEB6818841}"/>
              </a:ext>
            </a:extLst>
          </p:cNvPr>
          <p:cNvSpPr>
            <a:spLocks noGrp="1"/>
          </p:cNvSpPr>
          <p:nvPr>
            <p:ph type="title"/>
          </p:nvPr>
        </p:nvSpPr>
        <p:spPr/>
        <p:txBody>
          <a:bodyPr/>
          <a:lstStyle/>
          <a:p>
            <a:r>
              <a:rPr lang="en-IN" dirty="0"/>
              <a:t>EDA cont..</a:t>
            </a:r>
          </a:p>
        </p:txBody>
      </p:sp>
      <p:sp>
        <p:nvSpPr>
          <p:cNvPr id="8" name="TextBox 7">
            <a:extLst>
              <a:ext uri="{FF2B5EF4-FFF2-40B4-BE49-F238E27FC236}">
                <a16:creationId xmlns:a16="http://schemas.microsoft.com/office/drawing/2014/main" id="{92684217-081F-1FDB-FB3B-462F0058EBBC}"/>
              </a:ext>
            </a:extLst>
          </p:cNvPr>
          <p:cNvSpPr txBox="1"/>
          <p:nvPr/>
        </p:nvSpPr>
        <p:spPr>
          <a:xfrm>
            <a:off x="1309657" y="5646833"/>
            <a:ext cx="7975928" cy="738664"/>
          </a:xfrm>
          <a:prstGeom prst="rect">
            <a:avLst/>
          </a:prstGeom>
          <a:noFill/>
        </p:spPr>
        <p:txBody>
          <a:bodyPr wrap="square" rtlCol="0">
            <a:spAutoFit/>
          </a:bodyPr>
          <a:lstStyle/>
          <a:p>
            <a:pPr marL="285750" indent="-285750">
              <a:buFont typeface="Arial" panose="020B0604020202020204" pitchFamily="34" charset="0"/>
              <a:buChar char="•"/>
            </a:pPr>
            <a:r>
              <a:rPr lang="en-IN" sz="1400" dirty="0"/>
              <a:t>All the Datatypes are correct no intervention is required.</a:t>
            </a:r>
          </a:p>
          <a:p>
            <a:pPr marL="285750" indent="-285750">
              <a:buFont typeface="Arial" panose="020B0604020202020204" pitchFamily="34" charset="0"/>
              <a:buChar char="•"/>
            </a:pPr>
            <a:r>
              <a:rPr lang="en-IN" sz="1400" dirty="0"/>
              <a:t>No Duplicates in the data</a:t>
            </a:r>
          </a:p>
          <a:p>
            <a:pPr marL="285750" indent="-285750">
              <a:buFont typeface="Arial" panose="020B0604020202020204" pitchFamily="34" charset="0"/>
              <a:buChar char="•"/>
            </a:pPr>
            <a:r>
              <a:rPr lang="en-IN" sz="1400" dirty="0"/>
              <a:t>No Missing values in the data</a:t>
            </a:r>
          </a:p>
        </p:txBody>
      </p:sp>
      <p:pic>
        <p:nvPicPr>
          <p:cNvPr id="9" name="Content Placeholder 8">
            <a:extLst>
              <a:ext uri="{FF2B5EF4-FFF2-40B4-BE49-F238E27FC236}">
                <a16:creationId xmlns:a16="http://schemas.microsoft.com/office/drawing/2014/main" id="{95EEA0F4-1482-339D-E2BE-C25A301D8D63}"/>
              </a:ext>
            </a:extLst>
          </p:cNvPr>
          <p:cNvPicPr>
            <a:picLocks noGrp="1" noChangeAspect="1"/>
          </p:cNvPicPr>
          <p:nvPr>
            <p:ph idx="1"/>
          </p:nvPr>
        </p:nvPicPr>
        <p:blipFill>
          <a:blip r:embed="rId2"/>
          <a:stretch>
            <a:fillRect/>
          </a:stretch>
        </p:blipFill>
        <p:spPr>
          <a:xfrm>
            <a:off x="1216111" y="1925446"/>
            <a:ext cx="3810532" cy="828791"/>
          </a:xfrm>
        </p:spPr>
      </p:pic>
      <p:pic>
        <p:nvPicPr>
          <p:cNvPr id="11" name="Picture 10">
            <a:extLst>
              <a:ext uri="{FF2B5EF4-FFF2-40B4-BE49-F238E27FC236}">
                <a16:creationId xmlns:a16="http://schemas.microsoft.com/office/drawing/2014/main" id="{0260D63A-51BA-2726-FD34-868485ADC8B6}"/>
              </a:ext>
            </a:extLst>
          </p:cNvPr>
          <p:cNvPicPr>
            <a:picLocks noChangeAspect="1"/>
          </p:cNvPicPr>
          <p:nvPr/>
        </p:nvPicPr>
        <p:blipFill>
          <a:blip r:embed="rId3"/>
          <a:stretch>
            <a:fillRect/>
          </a:stretch>
        </p:blipFill>
        <p:spPr>
          <a:xfrm>
            <a:off x="6982207" y="1793882"/>
            <a:ext cx="4173473" cy="4093674"/>
          </a:xfrm>
          <a:prstGeom prst="rect">
            <a:avLst/>
          </a:prstGeom>
        </p:spPr>
      </p:pic>
      <p:pic>
        <p:nvPicPr>
          <p:cNvPr id="13" name="Picture 12">
            <a:extLst>
              <a:ext uri="{FF2B5EF4-FFF2-40B4-BE49-F238E27FC236}">
                <a16:creationId xmlns:a16="http://schemas.microsoft.com/office/drawing/2014/main" id="{0B22A9F6-F4E7-592F-F4B4-0B51DC88C4CC}"/>
              </a:ext>
            </a:extLst>
          </p:cNvPr>
          <p:cNvPicPr>
            <a:picLocks noChangeAspect="1"/>
          </p:cNvPicPr>
          <p:nvPr/>
        </p:nvPicPr>
        <p:blipFill>
          <a:blip r:embed="rId4"/>
          <a:stretch>
            <a:fillRect/>
          </a:stretch>
        </p:blipFill>
        <p:spPr>
          <a:xfrm>
            <a:off x="1468582" y="2994960"/>
            <a:ext cx="1527638" cy="2651873"/>
          </a:xfrm>
          <a:prstGeom prst="rect">
            <a:avLst/>
          </a:prstGeom>
        </p:spPr>
      </p:pic>
      <p:pic>
        <p:nvPicPr>
          <p:cNvPr id="15" name="Picture 14">
            <a:extLst>
              <a:ext uri="{FF2B5EF4-FFF2-40B4-BE49-F238E27FC236}">
                <a16:creationId xmlns:a16="http://schemas.microsoft.com/office/drawing/2014/main" id="{2C1A803E-AFF9-9199-B9AA-FA3BC4151A0D}"/>
              </a:ext>
            </a:extLst>
          </p:cNvPr>
          <p:cNvPicPr>
            <a:picLocks noChangeAspect="1"/>
          </p:cNvPicPr>
          <p:nvPr/>
        </p:nvPicPr>
        <p:blipFill>
          <a:blip r:embed="rId5"/>
          <a:stretch>
            <a:fillRect/>
          </a:stretch>
        </p:blipFill>
        <p:spPr>
          <a:xfrm>
            <a:off x="3859667" y="3840664"/>
            <a:ext cx="2333951" cy="838317"/>
          </a:xfrm>
          <a:prstGeom prst="rect">
            <a:avLst/>
          </a:prstGeom>
        </p:spPr>
      </p:pic>
      <p:sp>
        <p:nvSpPr>
          <p:cNvPr id="3" name="Slide Number Placeholder 2">
            <a:extLst>
              <a:ext uri="{FF2B5EF4-FFF2-40B4-BE49-F238E27FC236}">
                <a16:creationId xmlns:a16="http://schemas.microsoft.com/office/drawing/2014/main" id="{8B732BDA-5F06-F3E0-0D97-43595F3146D5}"/>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3449842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D69C9-1800-1995-E295-A76D3AE687B6}"/>
              </a:ext>
            </a:extLst>
          </p:cNvPr>
          <p:cNvSpPr>
            <a:spLocks noGrp="1"/>
          </p:cNvSpPr>
          <p:nvPr>
            <p:ph type="title"/>
          </p:nvPr>
        </p:nvSpPr>
        <p:spPr/>
        <p:txBody>
          <a:bodyPr/>
          <a:lstStyle/>
          <a:p>
            <a:r>
              <a:rPr lang="en-IN" dirty="0"/>
              <a:t>EDA cont..</a:t>
            </a:r>
          </a:p>
        </p:txBody>
      </p:sp>
      <p:pic>
        <p:nvPicPr>
          <p:cNvPr id="5" name="Picture 4">
            <a:extLst>
              <a:ext uri="{FF2B5EF4-FFF2-40B4-BE49-F238E27FC236}">
                <a16:creationId xmlns:a16="http://schemas.microsoft.com/office/drawing/2014/main" id="{9DBA1EA5-6813-B305-07F2-92D827A0F5C7}"/>
              </a:ext>
            </a:extLst>
          </p:cNvPr>
          <p:cNvPicPr>
            <a:picLocks noChangeAspect="1"/>
          </p:cNvPicPr>
          <p:nvPr/>
        </p:nvPicPr>
        <p:blipFill>
          <a:blip r:embed="rId2"/>
          <a:stretch>
            <a:fillRect/>
          </a:stretch>
        </p:blipFill>
        <p:spPr>
          <a:xfrm>
            <a:off x="5630059" y="1959428"/>
            <a:ext cx="5525621" cy="3572311"/>
          </a:xfrm>
          <a:prstGeom prst="rect">
            <a:avLst/>
          </a:prstGeom>
        </p:spPr>
      </p:pic>
      <p:sp>
        <p:nvSpPr>
          <p:cNvPr id="9" name="Rectangle 3">
            <a:extLst>
              <a:ext uri="{FF2B5EF4-FFF2-40B4-BE49-F238E27FC236}">
                <a16:creationId xmlns:a16="http://schemas.microsoft.com/office/drawing/2014/main" id="{5E1F5FAA-5A76-9064-C896-0D93FC8E0DD2}"/>
              </a:ext>
            </a:extLst>
          </p:cNvPr>
          <p:cNvSpPr>
            <a:spLocks noGrp="1" noChangeArrowheads="1"/>
          </p:cNvSpPr>
          <p:nvPr>
            <p:ph idx="1"/>
          </p:nvPr>
        </p:nvSpPr>
        <p:spPr bwMode="auto">
          <a:xfrm>
            <a:off x="1097280" y="2287755"/>
            <a:ext cx="4489409"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latin typeface="Arial" panose="020B0604020202020204" pitchFamily="34" charset="0"/>
              </a:rPr>
              <a:t>Total Records</a:t>
            </a:r>
            <a:r>
              <a:rPr kumimoji="0" lang="en-US" altLang="en-US" sz="1000" b="0" i="0" u="none" strike="noStrike" cap="none" normalizeH="0" baseline="0" dirty="0">
                <a:ln>
                  <a:noFill/>
                </a:ln>
                <a:solidFill>
                  <a:schemeClr val="tx1"/>
                </a:solidFill>
                <a:effectLst/>
                <a:latin typeface="Arial" panose="020B0604020202020204" pitchFamily="34" charset="0"/>
              </a:rPr>
              <a:t>: 2,747 transactions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latin typeface="Arial" panose="020B0604020202020204" pitchFamily="34" charset="0"/>
              </a:rPr>
              <a:t>Order &amp; Sales Metrics</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292608" lvl="1" indent="0" eaLnBrk="0" fontAlgn="base" hangingPunct="0">
              <a:lnSpc>
                <a:spcPct val="100000"/>
              </a:lnSpc>
              <a:spcBef>
                <a:spcPct val="0"/>
              </a:spcBef>
              <a:spcAft>
                <a:spcPct val="0"/>
              </a:spcAft>
              <a:buClrTx/>
              <a:buFontTx/>
              <a:buChar char="•"/>
            </a:pPr>
            <a:r>
              <a:rPr kumimoji="0" lang="en-US" altLang="en-US" sz="800" b="0" i="1" u="none" strike="noStrike" cap="none" normalizeH="0" baseline="0" dirty="0">
                <a:ln>
                  <a:noFill/>
                </a:ln>
                <a:solidFill>
                  <a:schemeClr val="tx1"/>
                </a:solidFill>
                <a:effectLst/>
                <a:latin typeface="Arial" panose="020B0604020202020204" pitchFamily="34" charset="0"/>
              </a:rPr>
              <a:t>Average Quantity Ordered</a:t>
            </a:r>
            <a:r>
              <a:rPr kumimoji="0" lang="en-US" altLang="en-US" sz="800" b="0" i="0" u="none" strike="noStrike" cap="none" normalizeH="0" baseline="0" dirty="0">
                <a:ln>
                  <a:noFill/>
                </a:ln>
                <a:solidFill>
                  <a:schemeClr val="tx1"/>
                </a:solidFill>
                <a:effectLst/>
                <a:latin typeface="Arial" panose="020B0604020202020204" pitchFamily="34" charset="0"/>
              </a:rPr>
              <a:t>: ~35 units per order</a:t>
            </a:r>
          </a:p>
          <a:p>
            <a:pPr marL="292608" lvl="1" indent="0" eaLnBrk="0" fontAlgn="base" hangingPunct="0">
              <a:lnSpc>
                <a:spcPct val="100000"/>
              </a:lnSpc>
              <a:spcBef>
                <a:spcPct val="0"/>
              </a:spcBef>
              <a:spcAft>
                <a:spcPct val="0"/>
              </a:spcAft>
              <a:buClrTx/>
              <a:buFontTx/>
              <a:buChar char="•"/>
            </a:pPr>
            <a:r>
              <a:rPr kumimoji="0" lang="en-US" altLang="en-US" sz="800" b="0" i="1" u="none" strike="noStrike" cap="none" normalizeH="0" baseline="0" dirty="0">
                <a:ln>
                  <a:noFill/>
                </a:ln>
                <a:solidFill>
                  <a:schemeClr val="tx1"/>
                </a:solidFill>
                <a:effectLst/>
                <a:latin typeface="Arial" panose="020B0604020202020204" pitchFamily="34" charset="0"/>
              </a:rPr>
              <a:t>Average Price Each</a:t>
            </a:r>
            <a:r>
              <a:rPr kumimoji="0" lang="en-US" altLang="en-US" sz="800" b="0" i="0" u="none" strike="noStrike" cap="none" normalizeH="0" baseline="0" dirty="0">
                <a:ln>
                  <a:noFill/>
                </a:ln>
                <a:solidFill>
                  <a:schemeClr val="tx1"/>
                </a:solidFill>
                <a:effectLst/>
                <a:latin typeface="Arial" panose="020B0604020202020204" pitchFamily="34" charset="0"/>
              </a:rPr>
              <a:t>: ₹101.10</a:t>
            </a:r>
          </a:p>
          <a:p>
            <a:pPr marL="292608" lvl="1" indent="0" eaLnBrk="0" fontAlgn="base" hangingPunct="0">
              <a:lnSpc>
                <a:spcPct val="100000"/>
              </a:lnSpc>
              <a:spcBef>
                <a:spcPct val="0"/>
              </a:spcBef>
              <a:spcAft>
                <a:spcPct val="0"/>
              </a:spcAft>
              <a:buClrTx/>
              <a:buFontTx/>
              <a:buChar char="•"/>
            </a:pPr>
            <a:r>
              <a:rPr kumimoji="0" lang="en-US" altLang="en-US" sz="800" b="0" i="1" u="none" strike="noStrike" cap="none" normalizeH="0" baseline="0" dirty="0">
                <a:ln>
                  <a:noFill/>
                </a:ln>
                <a:solidFill>
                  <a:schemeClr val="tx1"/>
                </a:solidFill>
                <a:effectLst/>
                <a:latin typeface="Arial" panose="020B0604020202020204" pitchFamily="34" charset="0"/>
              </a:rPr>
              <a:t>Average Sales per Line Item</a:t>
            </a:r>
            <a:r>
              <a:rPr kumimoji="0" lang="en-US" altLang="en-US" sz="800" b="0" i="0" u="none" strike="noStrike" cap="none" normalizeH="0" baseline="0" dirty="0">
                <a:ln>
                  <a:noFill/>
                </a:ln>
                <a:solidFill>
                  <a:schemeClr val="tx1"/>
                </a:solidFill>
                <a:effectLst/>
                <a:latin typeface="Arial" panose="020B0604020202020204" pitchFamily="34" charset="0"/>
              </a:rPr>
              <a:t>: ₹3,553</a:t>
            </a:r>
          </a:p>
          <a:p>
            <a:pPr marL="292608" lvl="1" indent="0" eaLnBrk="0" fontAlgn="base" hangingPunct="0">
              <a:lnSpc>
                <a:spcPct val="100000"/>
              </a:lnSpc>
              <a:spcBef>
                <a:spcPct val="0"/>
              </a:spcBef>
              <a:spcAft>
                <a:spcPct val="0"/>
              </a:spcAft>
              <a:buClrTx/>
              <a:buFontTx/>
              <a:buChar char="•"/>
            </a:pPr>
            <a:r>
              <a:rPr kumimoji="0" lang="en-US" altLang="en-US" sz="800" b="0" i="1" u="none" strike="noStrike" cap="none" normalizeH="0" baseline="0" dirty="0">
                <a:ln>
                  <a:noFill/>
                </a:ln>
                <a:solidFill>
                  <a:schemeClr val="tx1"/>
                </a:solidFill>
                <a:effectLst/>
                <a:latin typeface="Arial" panose="020B0604020202020204" pitchFamily="34" charset="0"/>
              </a:rPr>
              <a:t>Max Sales</a:t>
            </a:r>
            <a:r>
              <a:rPr kumimoji="0" lang="en-US" altLang="en-US" sz="800" b="0" i="0" u="none" strike="noStrike" cap="none" normalizeH="0" baseline="0" dirty="0">
                <a:ln>
                  <a:noFill/>
                </a:ln>
                <a:solidFill>
                  <a:schemeClr val="tx1"/>
                </a:solidFill>
                <a:effectLst/>
                <a:latin typeface="Arial" panose="020B0604020202020204" pitchFamily="34" charset="0"/>
              </a:rPr>
              <a:t>: ₹14,082.80</a:t>
            </a:r>
          </a:p>
          <a:p>
            <a:pPr marL="292608" lvl="1" indent="0" eaLnBrk="0" fontAlgn="base" hangingPunct="0">
              <a:lnSpc>
                <a:spcPct val="100000"/>
              </a:lnSpc>
              <a:spcBef>
                <a:spcPct val="0"/>
              </a:spcBef>
              <a:spcAft>
                <a:spcPct val="0"/>
              </a:spcAft>
              <a:buClrTx/>
              <a:buNone/>
            </a:pP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latin typeface="Arial" panose="020B0604020202020204" pitchFamily="34" charset="0"/>
              </a:rPr>
              <a:t>Order Timing</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292608" lvl="1" indent="0" eaLnBrk="0" fontAlgn="base" hangingPunct="0">
              <a:lnSpc>
                <a:spcPct val="100000"/>
              </a:lnSpc>
              <a:spcBef>
                <a:spcPct val="0"/>
              </a:spcBef>
              <a:spcAft>
                <a:spcPct val="0"/>
              </a:spcAft>
              <a:buClrTx/>
              <a:buFontTx/>
              <a:buChar char="•"/>
            </a:pPr>
            <a:r>
              <a:rPr kumimoji="0" lang="en-US" altLang="en-US" sz="800" b="0" i="1" u="none" strike="noStrike" cap="none" normalizeH="0" baseline="0" dirty="0">
                <a:ln>
                  <a:noFill/>
                </a:ln>
                <a:solidFill>
                  <a:schemeClr val="tx1"/>
                </a:solidFill>
                <a:effectLst/>
                <a:latin typeface="Arial" panose="020B0604020202020204" pitchFamily="34" charset="0"/>
              </a:rPr>
              <a:t>Order Dates</a:t>
            </a:r>
            <a:r>
              <a:rPr kumimoji="0" lang="en-US" altLang="en-US" sz="800" b="0" i="0" u="none" strike="noStrike" cap="none" normalizeH="0" baseline="0" dirty="0">
                <a:ln>
                  <a:noFill/>
                </a:ln>
                <a:solidFill>
                  <a:schemeClr val="tx1"/>
                </a:solidFill>
                <a:effectLst/>
                <a:latin typeface="Arial" panose="020B0604020202020204" pitchFamily="34" charset="0"/>
              </a:rPr>
              <a:t>: Range from Jan 2018 to May 2020</a:t>
            </a:r>
          </a:p>
          <a:p>
            <a:pPr marL="292608" lvl="1" indent="0" eaLnBrk="0" fontAlgn="base" hangingPunct="0">
              <a:lnSpc>
                <a:spcPct val="100000"/>
              </a:lnSpc>
              <a:spcBef>
                <a:spcPct val="0"/>
              </a:spcBef>
              <a:spcAft>
                <a:spcPct val="0"/>
              </a:spcAft>
              <a:buClrTx/>
              <a:buFontTx/>
              <a:buChar char="•"/>
            </a:pPr>
            <a:r>
              <a:rPr kumimoji="0" lang="en-US" altLang="en-US" sz="800" b="0" i="1" u="none" strike="noStrike" cap="none" normalizeH="0" baseline="0" dirty="0">
                <a:ln>
                  <a:noFill/>
                </a:ln>
                <a:solidFill>
                  <a:schemeClr val="tx1"/>
                </a:solidFill>
                <a:effectLst/>
                <a:latin typeface="Arial" panose="020B0604020202020204" pitchFamily="34" charset="0"/>
              </a:rPr>
              <a:t>Days Since Last Order</a:t>
            </a:r>
            <a:r>
              <a:rPr kumimoji="0" lang="en-US" altLang="en-US" sz="800" b="0" i="0" u="none" strike="noStrike" cap="none" normalizeH="0" baseline="0" dirty="0">
                <a:ln>
                  <a:noFill/>
                </a:ln>
                <a:solidFill>
                  <a:schemeClr val="tx1"/>
                </a:solidFill>
                <a:effectLst/>
                <a:latin typeface="Arial" panose="020B0604020202020204" pitchFamily="34" charset="0"/>
              </a:rPr>
              <a:t>: Mean ~1,757 days, with a wide spread (min 42, max 3,562)</a:t>
            </a:r>
          </a:p>
          <a:p>
            <a:pPr marL="292608" lvl="1" indent="0" eaLnBrk="0" fontAlgn="base" hangingPunct="0">
              <a:lnSpc>
                <a:spcPct val="100000"/>
              </a:lnSpc>
              <a:spcBef>
                <a:spcPct val="0"/>
              </a:spcBef>
              <a:spcAft>
                <a:spcPct val="0"/>
              </a:spcAft>
              <a:buClrTx/>
              <a:buNone/>
            </a:pP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latin typeface="Arial" panose="020B0604020202020204" pitchFamily="34" charset="0"/>
              </a:rPr>
              <a:t>Product &amp; Customer Insights</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292608" lvl="1" indent="0" eaLnBrk="0" fontAlgn="base" hangingPunct="0">
              <a:lnSpc>
                <a:spcPct val="100000"/>
              </a:lnSpc>
              <a:spcBef>
                <a:spcPct val="0"/>
              </a:spcBef>
              <a:spcAft>
                <a:spcPct val="0"/>
              </a:spcAft>
              <a:buClrTx/>
              <a:buFontTx/>
              <a:buChar char="•"/>
            </a:pPr>
            <a:r>
              <a:rPr kumimoji="0" lang="en-US" altLang="en-US" sz="800" b="0" i="1" u="none" strike="noStrike" cap="none" normalizeH="0" baseline="0" dirty="0">
                <a:ln>
                  <a:noFill/>
                </a:ln>
                <a:solidFill>
                  <a:schemeClr val="tx1"/>
                </a:solidFill>
                <a:effectLst/>
                <a:latin typeface="Arial" panose="020B0604020202020204" pitchFamily="34" charset="0"/>
              </a:rPr>
              <a:t>Top Product Line</a:t>
            </a:r>
            <a:r>
              <a:rPr kumimoji="0" lang="en-US" altLang="en-US" sz="800" b="0" i="0" u="none" strike="noStrike" cap="none" normalizeH="0" baseline="0" dirty="0">
                <a:ln>
                  <a:noFill/>
                </a:ln>
                <a:solidFill>
                  <a:schemeClr val="tx1"/>
                </a:solidFill>
                <a:effectLst/>
                <a:latin typeface="Arial" panose="020B0604020202020204" pitchFamily="34" charset="0"/>
              </a:rPr>
              <a:t>: Classic Cars (949 entries)</a:t>
            </a:r>
          </a:p>
          <a:p>
            <a:pPr marL="292608" lvl="1" indent="0" eaLnBrk="0" fontAlgn="base" hangingPunct="0">
              <a:lnSpc>
                <a:spcPct val="100000"/>
              </a:lnSpc>
              <a:spcBef>
                <a:spcPct val="0"/>
              </a:spcBef>
              <a:spcAft>
                <a:spcPct val="0"/>
              </a:spcAft>
              <a:buClrTx/>
              <a:buFontTx/>
              <a:buChar char="•"/>
            </a:pPr>
            <a:r>
              <a:rPr kumimoji="0" lang="en-US" altLang="en-US" sz="800" b="0" i="1" u="none" strike="noStrike" cap="none" normalizeH="0" baseline="0" dirty="0">
                <a:ln>
                  <a:noFill/>
                </a:ln>
                <a:solidFill>
                  <a:schemeClr val="tx1"/>
                </a:solidFill>
                <a:effectLst/>
                <a:latin typeface="Arial" panose="020B0604020202020204" pitchFamily="34" charset="0"/>
              </a:rPr>
              <a:t>Most Frequent Product Code</a:t>
            </a:r>
            <a:r>
              <a:rPr kumimoji="0" lang="en-US" altLang="en-US" sz="800" b="0" i="0" u="none" strike="noStrike" cap="none" normalizeH="0" baseline="0" dirty="0">
                <a:ln>
                  <a:noFill/>
                </a:ln>
                <a:solidFill>
                  <a:schemeClr val="tx1"/>
                </a:solidFill>
                <a:effectLst/>
                <a:latin typeface="Arial" panose="020B0604020202020204" pitchFamily="34" charset="0"/>
              </a:rPr>
              <a:t>: S18_3232</a:t>
            </a:r>
          </a:p>
          <a:p>
            <a:pPr marL="292608" lvl="1" indent="0" eaLnBrk="0" fontAlgn="base" hangingPunct="0">
              <a:lnSpc>
                <a:spcPct val="100000"/>
              </a:lnSpc>
              <a:spcBef>
                <a:spcPct val="0"/>
              </a:spcBef>
              <a:spcAft>
                <a:spcPct val="0"/>
              </a:spcAft>
              <a:buClrTx/>
              <a:buFontTx/>
              <a:buChar char="•"/>
            </a:pPr>
            <a:r>
              <a:rPr kumimoji="0" lang="en-US" altLang="en-US" sz="800" b="0" i="1" u="none" strike="noStrike" cap="none" normalizeH="0" baseline="0" dirty="0">
                <a:ln>
                  <a:noFill/>
                </a:ln>
                <a:solidFill>
                  <a:schemeClr val="tx1"/>
                </a:solidFill>
                <a:effectLst/>
                <a:latin typeface="Arial" panose="020B0604020202020204" pitchFamily="34" charset="0"/>
              </a:rPr>
              <a:t>Top Customer</a:t>
            </a:r>
            <a:r>
              <a:rPr kumimoji="0" lang="en-US" altLang="en-US" sz="800" b="0" i="0" u="none" strike="noStrike" cap="none" normalizeH="0" baseline="0" dirty="0">
                <a:ln>
                  <a:noFill/>
                </a:ln>
                <a:solidFill>
                  <a:schemeClr val="tx1"/>
                </a:solidFill>
                <a:effectLst/>
                <a:latin typeface="Arial" panose="020B0604020202020204" pitchFamily="34" charset="0"/>
              </a:rPr>
              <a:t>: Euro Shopping Channel (259 orders)</a:t>
            </a:r>
          </a:p>
          <a:p>
            <a:pPr marL="292608" lvl="1" indent="0" eaLnBrk="0" fontAlgn="base" hangingPunct="0">
              <a:lnSpc>
                <a:spcPct val="100000"/>
              </a:lnSpc>
              <a:spcBef>
                <a:spcPct val="0"/>
              </a:spcBef>
              <a:spcAft>
                <a:spcPct val="0"/>
              </a:spcAft>
              <a:buClrTx/>
              <a:buFontTx/>
              <a:buChar char="•"/>
            </a:pPr>
            <a:r>
              <a:rPr kumimoji="0" lang="en-US" altLang="en-US" sz="800" b="0" i="1" u="none" strike="noStrike" cap="none" normalizeH="0" baseline="0" dirty="0">
                <a:ln>
                  <a:noFill/>
                </a:ln>
                <a:solidFill>
                  <a:schemeClr val="tx1"/>
                </a:solidFill>
                <a:effectLst/>
                <a:latin typeface="Arial" panose="020B0604020202020204" pitchFamily="34" charset="0"/>
              </a:rPr>
              <a:t>Top Order Status</a:t>
            </a:r>
            <a:r>
              <a:rPr kumimoji="0" lang="en-US" altLang="en-US" sz="800" b="0" i="0" u="none" strike="noStrike" cap="none" normalizeH="0" baseline="0" dirty="0">
                <a:ln>
                  <a:noFill/>
                </a:ln>
                <a:solidFill>
                  <a:schemeClr val="tx1"/>
                </a:solidFill>
                <a:effectLst/>
                <a:latin typeface="Arial" panose="020B0604020202020204" pitchFamily="34" charset="0"/>
              </a:rPr>
              <a:t>: Shipped (2,541 orders)</a:t>
            </a:r>
          </a:p>
          <a:p>
            <a:pPr marL="292608" lvl="1" indent="0" eaLnBrk="0" fontAlgn="base" hangingPunct="0">
              <a:lnSpc>
                <a:spcPct val="100000"/>
              </a:lnSpc>
              <a:spcBef>
                <a:spcPct val="0"/>
              </a:spcBef>
              <a:spcAft>
                <a:spcPct val="0"/>
              </a:spcAft>
              <a:buClrTx/>
              <a:buNone/>
            </a:pP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latin typeface="Arial" panose="020B0604020202020204" pitchFamily="34" charset="0"/>
              </a:rPr>
              <a:t>Data Distribution</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292608" lvl="1" indent="0" eaLnBrk="0" fontAlgn="base" hangingPunct="0">
              <a:lnSpc>
                <a:spcPct val="100000"/>
              </a:lnSpc>
              <a:spcBef>
                <a:spcPct val="0"/>
              </a:spcBef>
              <a:spcAft>
                <a:spcPct val="0"/>
              </a:spcAft>
              <a:buClrTx/>
              <a:buFontTx/>
              <a:buChar char="•"/>
            </a:pPr>
            <a:r>
              <a:rPr kumimoji="0" lang="en-US" altLang="en-US" sz="800" b="0" i="0" u="none" strike="noStrike" cap="none" normalizeH="0" baseline="0" dirty="0">
                <a:ln>
                  <a:noFill/>
                </a:ln>
                <a:solidFill>
                  <a:schemeClr val="tx1"/>
                </a:solidFill>
                <a:effectLst/>
                <a:latin typeface="Arial" panose="020B0604020202020204" pitchFamily="34" charset="0"/>
              </a:rPr>
              <a:t>Most numeric fields like </a:t>
            </a:r>
            <a:r>
              <a:rPr kumimoji="0" lang="en-US" altLang="en-US" sz="800" b="0" i="0" u="none" strike="noStrike" cap="none" normalizeH="0" baseline="0" dirty="0">
                <a:ln>
                  <a:noFill/>
                </a:ln>
                <a:solidFill>
                  <a:schemeClr val="tx1"/>
                </a:solidFill>
                <a:effectLst/>
                <a:latin typeface="Arial Unicode MS"/>
              </a:rPr>
              <a:t>QUANTITYORDERED</a:t>
            </a:r>
            <a:r>
              <a:rPr kumimoji="0" lang="en-US" altLang="en-US" sz="800" b="0" i="0" u="none" strike="noStrike" cap="none" normalizeH="0" baseline="0" dirty="0">
                <a:ln>
                  <a:noFill/>
                </a:ln>
                <a:solidFill>
                  <a:schemeClr val="tx1"/>
                </a:solidFill>
                <a:effectLst/>
              </a:rPr>
              <a:t>, </a:t>
            </a:r>
            <a:r>
              <a:rPr kumimoji="0" lang="en-US" altLang="en-US" sz="800" b="0" i="0" u="none" strike="noStrike" cap="none" normalizeH="0" baseline="0" dirty="0">
                <a:ln>
                  <a:noFill/>
                </a:ln>
                <a:solidFill>
                  <a:schemeClr val="tx1"/>
                </a:solidFill>
                <a:effectLst/>
                <a:latin typeface="Arial Unicode MS"/>
              </a:rPr>
              <a:t>PRICEEACH</a:t>
            </a:r>
            <a:r>
              <a:rPr kumimoji="0" lang="en-US" altLang="en-US" sz="800" b="0" i="0" u="none" strike="noStrike" cap="none" normalizeH="0" baseline="0" dirty="0">
                <a:ln>
                  <a:noFill/>
                </a:ln>
                <a:solidFill>
                  <a:schemeClr val="tx1"/>
                </a:solidFill>
                <a:effectLst/>
              </a:rPr>
              <a:t>, and </a:t>
            </a:r>
            <a:r>
              <a:rPr kumimoji="0" lang="en-US" altLang="en-US" sz="800" b="0" i="0" u="none" strike="noStrike" cap="none" normalizeH="0" baseline="0" dirty="0">
                <a:ln>
                  <a:noFill/>
                </a:ln>
                <a:solidFill>
                  <a:schemeClr val="tx1"/>
                </a:solidFill>
                <a:effectLst/>
                <a:latin typeface="Arial Unicode MS"/>
              </a:rPr>
              <a:t>SALES</a:t>
            </a:r>
            <a:r>
              <a:rPr kumimoji="0" lang="en-US" altLang="en-US" sz="800" b="0" i="0" u="none" strike="noStrike" cap="none" normalizeH="0" baseline="0" dirty="0">
                <a:ln>
                  <a:noFill/>
                </a:ln>
                <a:solidFill>
                  <a:schemeClr val="tx1"/>
                </a:solidFill>
                <a:effectLst/>
              </a:rPr>
              <a:t> show moderate variability, suggesting a diverse range of order sizes and values</a:t>
            </a: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292608" lvl="1" indent="0" eaLnBrk="0" fontAlgn="base" hangingPunct="0">
              <a:lnSpc>
                <a:spcPct val="100000"/>
              </a:lnSpc>
              <a:spcBef>
                <a:spcPct val="0"/>
              </a:spcBef>
              <a:spcAft>
                <a:spcPct val="0"/>
              </a:spcAft>
              <a:buClrTx/>
              <a:buFontTx/>
              <a:buChar char="•"/>
            </a:pPr>
            <a:r>
              <a:rPr kumimoji="0" lang="en-US" altLang="en-US" sz="800" b="0" i="0" u="none" strike="noStrike" cap="none" normalizeH="0" baseline="0" dirty="0">
                <a:ln>
                  <a:noFill/>
                </a:ln>
                <a:solidFill>
                  <a:schemeClr val="tx1"/>
                </a:solidFill>
                <a:effectLst/>
                <a:latin typeface="Arial Unicode MS"/>
              </a:rPr>
              <a:t>MSRP</a:t>
            </a:r>
            <a:r>
              <a:rPr kumimoji="0" lang="en-US" altLang="en-US" sz="800" b="0" i="0" u="none" strike="noStrike" cap="none" normalizeH="0" baseline="0" dirty="0">
                <a:ln>
                  <a:noFill/>
                </a:ln>
                <a:solidFill>
                  <a:schemeClr val="tx1"/>
                </a:solidFill>
                <a:effectLst/>
              </a:rPr>
              <a:t> and </a:t>
            </a:r>
            <a:r>
              <a:rPr kumimoji="0" lang="en-US" altLang="en-US" sz="800" b="0" i="0" u="none" strike="noStrike" cap="none" normalizeH="0" baseline="0" dirty="0">
                <a:ln>
                  <a:noFill/>
                </a:ln>
                <a:solidFill>
                  <a:schemeClr val="tx1"/>
                </a:solidFill>
                <a:effectLst/>
                <a:latin typeface="Arial Unicode MS"/>
              </a:rPr>
              <a:t>PRICEEACH</a:t>
            </a:r>
            <a:r>
              <a:rPr kumimoji="0" lang="en-US" altLang="en-US" sz="800" b="0" i="0" u="none" strike="noStrike" cap="none" normalizeH="0" baseline="0" dirty="0">
                <a:ln>
                  <a:noFill/>
                </a:ln>
                <a:solidFill>
                  <a:schemeClr val="tx1"/>
                </a:solidFill>
                <a:effectLst/>
              </a:rPr>
              <a:t> are fairly aligned, indicating pricing consistency</a:t>
            </a: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3" name="Slide Number Placeholder 2">
            <a:extLst>
              <a:ext uri="{FF2B5EF4-FFF2-40B4-BE49-F238E27FC236}">
                <a16:creationId xmlns:a16="http://schemas.microsoft.com/office/drawing/2014/main" id="{454943FA-1E09-4499-955C-69153D1AB266}"/>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Tree>
    <p:extLst>
      <p:ext uri="{BB962C8B-B14F-4D97-AF65-F5344CB8AC3E}">
        <p14:creationId xmlns:p14="http://schemas.microsoft.com/office/powerpoint/2010/main" val="2246163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721AA-8433-081E-53B5-941D83131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C9A2DB-1676-4774-4D1D-F2ED13B0257E}"/>
              </a:ext>
            </a:extLst>
          </p:cNvPr>
          <p:cNvSpPr>
            <a:spLocks noGrp="1"/>
          </p:cNvSpPr>
          <p:nvPr>
            <p:ph type="title"/>
          </p:nvPr>
        </p:nvSpPr>
        <p:spPr/>
        <p:txBody>
          <a:bodyPr/>
          <a:lstStyle/>
          <a:p>
            <a:r>
              <a:rPr lang="en-IN" dirty="0"/>
              <a:t>EDA cont..</a:t>
            </a:r>
          </a:p>
        </p:txBody>
      </p:sp>
      <p:pic>
        <p:nvPicPr>
          <p:cNvPr id="4" name="Picture 3">
            <a:extLst>
              <a:ext uri="{FF2B5EF4-FFF2-40B4-BE49-F238E27FC236}">
                <a16:creationId xmlns:a16="http://schemas.microsoft.com/office/drawing/2014/main" id="{38B1FB42-BA6B-B385-AB3B-B6D58F877C38}"/>
              </a:ext>
            </a:extLst>
          </p:cNvPr>
          <p:cNvPicPr>
            <a:picLocks noChangeAspect="1"/>
          </p:cNvPicPr>
          <p:nvPr/>
        </p:nvPicPr>
        <p:blipFill>
          <a:blip r:embed="rId2"/>
          <a:stretch>
            <a:fillRect/>
          </a:stretch>
        </p:blipFill>
        <p:spPr>
          <a:xfrm>
            <a:off x="7250307" y="1831750"/>
            <a:ext cx="3987964" cy="2024669"/>
          </a:xfrm>
          <a:prstGeom prst="rect">
            <a:avLst/>
          </a:prstGeom>
        </p:spPr>
      </p:pic>
      <p:pic>
        <p:nvPicPr>
          <p:cNvPr id="7" name="Picture 6">
            <a:extLst>
              <a:ext uri="{FF2B5EF4-FFF2-40B4-BE49-F238E27FC236}">
                <a16:creationId xmlns:a16="http://schemas.microsoft.com/office/drawing/2014/main" id="{807D61B1-9ED2-46F7-A187-C392F3DFAA70}"/>
              </a:ext>
            </a:extLst>
          </p:cNvPr>
          <p:cNvPicPr>
            <a:picLocks noChangeAspect="1"/>
          </p:cNvPicPr>
          <p:nvPr/>
        </p:nvPicPr>
        <p:blipFill>
          <a:blip r:embed="rId3"/>
          <a:stretch>
            <a:fillRect/>
          </a:stretch>
        </p:blipFill>
        <p:spPr>
          <a:xfrm>
            <a:off x="7367311" y="3904185"/>
            <a:ext cx="3753955" cy="2024668"/>
          </a:xfrm>
          <a:prstGeom prst="rect">
            <a:avLst/>
          </a:prstGeom>
        </p:spPr>
      </p:pic>
      <p:pic>
        <p:nvPicPr>
          <p:cNvPr id="10" name="Picture 9">
            <a:extLst>
              <a:ext uri="{FF2B5EF4-FFF2-40B4-BE49-F238E27FC236}">
                <a16:creationId xmlns:a16="http://schemas.microsoft.com/office/drawing/2014/main" id="{055AD839-9CA7-D9F9-406D-6ADE92EEFF87}"/>
              </a:ext>
            </a:extLst>
          </p:cNvPr>
          <p:cNvPicPr>
            <a:picLocks noChangeAspect="1"/>
          </p:cNvPicPr>
          <p:nvPr/>
        </p:nvPicPr>
        <p:blipFill>
          <a:blip r:embed="rId4"/>
          <a:stretch>
            <a:fillRect/>
          </a:stretch>
        </p:blipFill>
        <p:spPr>
          <a:xfrm>
            <a:off x="4196407" y="1837716"/>
            <a:ext cx="3178769" cy="1937871"/>
          </a:xfrm>
          <a:prstGeom prst="rect">
            <a:avLst/>
          </a:prstGeom>
        </p:spPr>
      </p:pic>
      <p:pic>
        <p:nvPicPr>
          <p:cNvPr id="12" name="Picture 11">
            <a:extLst>
              <a:ext uri="{FF2B5EF4-FFF2-40B4-BE49-F238E27FC236}">
                <a16:creationId xmlns:a16="http://schemas.microsoft.com/office/drawing/2014/main" id="{1DF86EC1-2AB6-EE55-9869-931524A0AF08}"/>
              </a:ext>
            </a:extLst>
          </p:cNvPr>
          <p:cNvPicPr>
            <a:picLocks noChangeAspect="1"/>
          </p:cNvPicPr>
          <p:nvPr/>
        </p:nvPicPr>
        <p:blipFill>
          <a:blip r:embed="rId5"/>
          <a:stretch>
            <a:fillRect/>
          </a:stretch>
        </p:blipFill>
        <p:spPr>
          <a:xfrm>
            <a:off x="4243111" y="3904185"/>
            <a:ext cx="3186635" cy="2024668"/>
          </a:xfrm>
          <a:prstGeom prst="rect">
            <a:avLst/>
          </a:prstGeom>
        </p:spPr>
      </p:pic>
      <p:sp>
        <p:nvSpPr>
          <p:cNvPr id="16" name="Rectangle 4">
            <a:extLst>
              <a:ext uri="{FF2B5EF4-FFF2-40B4-BE49-F238E27FC236}">
                <a16:creationId xmlns:a16="http://schemas.microsoft.com/office/drawing/2014/main" id="{99752471-A4A0-AD95-5155-636F624EBE17}"/>
              </a:ext>
            </a:extLst>
          </p:cNvPr>
          <p:cNvSpPr>
            <a:spLocks noGrp="1" noChangeArrowheads="1"/>
          </p:cNvSpPr>
          <p:nvPr>
            <p:ph idx="1"/>
          </p:nvPr>
        </p:nvSpPr>
        <p:spPr bwMode="auto">
          <a:xfrm>
            <a:off x="1144117" y="2498313"/>
            <a:ext cx="298038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err="1">
                <a:ln>
                  <a:noFill/>
                </a:ln>
                <a:solidFill>
                  <a:schemeClr val="tx1"/>
                </a:solidFill>
                <a:effectLst/>
              </a:rPr>
              <a:t>OrderLineNumber</a:t>
            </a:r>
            <a:r>
              <a:rPr kumimoji="0" lang="en-US" altLang="en-US" sz="1000" b="1" i="0" u="none" strike="noStrike" cap="none" normalizeH="0" baseline="0" dirty="0">
                <a:ln>
                  <a:noFill/>
                </a:ln>
                <a:solidFill>
                  <a:schemeClr val="tx1"/>
                </a:solidFill>
                <a:effectLst/>
              </a:rPr>
              <a:t>:</a:t>
            </a:r>
            <a:r>
              <a:rPr kumimoji="0" lang="en-US" altLang="en-US" sz="1000" b="0" i="0" u="none" strike="noStrike" cap="none" normalizeH="0" baseline="0" dirty="0">
                <a:ln>
                  <a:noFill/>
                </a:ln>
                <a:solidFill>
                  <a:schemeClr val="tx1"/>
                </a:solidFill>
                <a:effectLst/>
              </a:rPr>
              <a:t> Most orders include just a few items, with 70%+ of transactions involving top 1–5 product lines. Indicates focused purchasing behavior.</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err="1">
                <a:ln>
                  <a:noFill/>
                </a:ln>
                <a:solidFill>
                  <a:schemeClr val="tx1"/>
                </a:solidFill>
                <a:effectLst/>
              </a:rPr>
              <a:t>QuantityOrdered</a:t>
            </a:r>
            <a:r>
              <a:rPr lang="en-US" altLang="en-US" sz="1000" dirty="0">
                <a:solidFill>
                  <a:schemeClr val="tx1"/>
                </a:solidFill>
              </a:rPr>
              <a:t>: </a:t>
            </a:r>
            <a:r>
              <a:rPr kumimoji="0" lang="en-US" altLang="en-US" sz="1000" b="0" i="0" u="none" strike="noStrike" cap="none" normalizeH="0" baseline="0" dirty="0">
                <a:ln>
                  <a:noFill/>
                </a:ln>
                <a:solidFill>
                  <a:schemeClr val="tx1"/>
                </a:solidFill>
                <a:effectLst/>
              </a:rPr>
              <a:t>Median order quantity centers around 35 units. While most customers order within a consistent range, some place bulk orders.</a:t>
            </a: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1000" dirty="0">
              <a:solidFill>
                <a:schemeClr val="tx1"/>
              </a:solidFill>
            </a:endParaRPr>
          </a:p>
          <a:p>
            <a:pPr marL="0" indent="0" algn="just" eaLnBrk="0" fontAlgn="base" hangingPunct="0">
              <a:lnSpc>
                <a:spcPct val="100000"/>
              </a:lnSpc>
              <a:spcBef>
                <a:spcPct val="0"/>
              </a:spcBef>
              <a:spcAft>
                <a:spcPct val="0"/>
              </a:spcAft>
              <a:buClrTx/>
              <a:buSzTx/>
              <a:buFontTx/>
              <a:buChar char="•"/>
            </a:pPr>
            <a:r>
              <a:rPr lang="en-US" altLang="en-US" sz="1000" b="1" dirty="0">
                <a:solidFill>
                  <a:schemeClr val="tx1"/>
                </a:solidFill>
              </a:rPr>
              <a:t>Sales:</a:t>
            </a:r>
            <a:r>
              <a:rPr lang="en-US" altLang="en-US" sz="1000" dirty="0">
                <a:solidFill>
                  <a:schemeClr val="tx1"/>
                </a:solidFill>
              </a:rPr>
              <a:t> Sales per line-item average around ₹3,500. Most transactions are moderate in value, but high-value outliers.</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err="1">
                <a:ln>
                  <a:noFill/>
                </a:ln>
                <a:solidFill>
                  <a:schemeClr val="tx1"/>
                </a:solidFill>
                <a:effectLst/>
              </a:rPr>
              <a:t>PriceEach</a:t>
            </a:r>
            <a:r>
              <a:rPr kumimoji="0" lang="en-US" altLang="en-US" sz="1000" b="1" i="0" u="none" strike="noStrike" cap="none" normalizeH="0" baseline="0" dirty="0">
                <a:ln>
                  <a:noFill/>
                </a:ln>
                <a:solidFill>
                  <a:schemeClr val="tx1"/>
                </a:solidFill>
                <a:effectLst/>
              </a:rPr>
              <a:t>:</a:t>
            </a:r>
            <a:r>
              <a:rPr kumimoji="0" lang="en-US" altLang="en-US" sz="1000" b="0" i="0" u="none" strike="noStrike" cap="none" normalizeH="0" baseline="0" dirty="0">
                <a:ln>
                  <a:noFill/>
                </a:ln>
                <a:solidFill>
                  <a:schemeClr val="tx1"/>
                </a:solidFill>
                <a:effectLst/>
              </a:rPr>
              <a:t> Product prices are tightly clustered near ₹100, with a few premium outliers. This stability suggests a standardized pricing model</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000" b="0" i="0" u="none" strike="noStrike" cap="none" normalizeH="0" baseline="0" dirty="0">
              <a:ln>
                <a:noFill/>
              </a:ln>
              <a:solidFill>
                <a:schemeClr val="tx1"/>
              </a:solidFill>
              <a:effectLst/>
            </a:endParaRPr>
          </a:p>
        </p:txBody>
      </p:sp>
      <p:sp>
        <p:nvSpPr>
          <p:cNvPr id="3" name="Slide Number Placeholder 2">
            <a:extLst>
              <a:ext uri="{FF2B5EF4-FFF2-40B4-BE49-F238E27FC236}">
                <a16:creationId xmlns:a16="http://schemas.microsoft.com/office/drawing/2014/main" id="{33CC404D-3974-A014-A2E9-7FB399554EBF}"/>
              </a:ext>
            </a:extLst>
          </p:cNvPr>
          <p:cNvSpPr>
            <a:spLocks noGrp="1"/>
          </p:cNvSpPr>
          <p:nvPr>
            <p:ph type="sldNum" sz="quarter" idx="12"/>
          </p:nvPr>
        </p:nvSpPr>
        <p:spPr/>
        <p:txBody>
          <a:bodyPr/>
          <a:lstStyle/>
          <a:p>
            <a:fld id="{D57F1E4F-1CFF-5643-939E-217C01CDF565}" type="slidenum">
              <a:rPr lang="en-US" smtClean="0"/>
              <a:pPr/>
              <a:t>9</a:t>
            </a:fld>
            <a:endParaRPr lang="en-US" dirty="0"/>
          </a:p>
        </p:txBody>
      </p:sp>
    </p:spTree>
    <p:extLst>
      <p:ext uri="{BB962C8B-B14F-4D97-AF65-F5344CB8AC3E}">
        <p14:creationId xmlns:p14="http://schemas.microsoft.com/office/powerpoint/2010/main" val="705203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BDFB0-41BE-2F05-E9E2-1DF8E88A15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E856E1-B535-66B7-C60A-689E722DDBB7}"/>
              </a:ext>
            </a:extLst>
          </p:cNvPr>
          <p:cNvSpPr>
            <a:spLocks noGrp="1"/>
          </p:cNvSpPr>
          <p:nvPr>
            <p:ph type="title"/>
          </p:nvPr>
        </p:nvSpPr>
        <p:spPr/>
        <p:txBody>
          <a:bodyPr/>
          <a:lstStyle/>
          <a:p>
            <a:r>
              <a:rPr lang="en-IN" dirty="0"/>
              <a:t>EDA cont..</a:t>
            </a:r>
          </a:p>
        </p:txBody>
      </p:sp>
      <p:sp>
        <p:nvSpPr>
          <p:cNvPr id="16" name="Rectangle 4">
            <a:extLst>
              <a:ext uri="{FF2B5EF4-FFF2-40B4-BE49-F238E27FC236}">
                <a16:creationId xmlns:a16="http://schemas.microsoft.com/office/drawing/2014/main" id="{C5630F2D-9EA4-64AB-A2EE-35FF99F95A44}"/>
              </a:ext>
            </a:extLst>
          </p:cNvPr>
          <p:cNvSpPr>
            <a:spLocks noGrp="1" noChangeArrowheads="1"/>
          </p:cNvSpPr>
          <p:nvPr>
            <p:ph idx="1"/>
          </p:nvPr>
        </p:nvSpPr>
        <p:spPr bwMode="auto">
          <a:xfrm>
            <a:off x="1144117" y="2522164"/>
            <a:ext cx="2980381" cy="2506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buClrTx/>
              <a:buFont typeface="Arial" panose="020B0604020202020204" pitchFamily="34" charset="0"/>
              <a:buChar char="•"/>
            </a:pPr>
            <a:r>
              <a:rPr lang="en-US" sz="1000" b="1" dirty="0">
                <a:solidFill>
                  <a:schemeClr val="tx1"/>
                </a:solidFill>
              </a:rPr>
              <a:t>Order Trends Over Time</a:t>
            </a:r>
            <a:r>
              <a:rPr lang="en-US" sz="1000" b="1" dirty="0"/>
              <a:t>: </a:t>
            </a:r>
            <a:r>
              <a:rPr lang="en-US" sz="1000" dirty="0"/>
              <a:t>Orders span from Jan 2018 to July 2020, with peak activity in April–July 2019, suggesting a period of increased demand.</a:t>
            </a:r>
          </a:p>
          <a:p>
            <a:pPr algn="just">
              <a:buClrTx/>
              <a:buFont typeface="Arial" panose="020B0604020202020204" pitchFamily="34" charset="0"/>
              <a:buChar char="•"/>
            </a:pPr>
            <a:r>
              <a:rPr lang="en-US" sz="1000" b="1" dirty="0">
                <a:solidFill>
                  <a:schemeClr val="tx1"/>
                </a:solidFill>
              </a:rPr>
              <a:t>MSRP Distribution: </a:t>
            </a:r>
            <a:r>
              <a:rPr lang="en-US" sz="1000" dirty="0"/>
              <a:t>Most products have an MSRP clustered around ₹100, reflecting a standardized pricing strategy. A high outliers.</a:t>
            </a:r>
          </a:p>
          <a:p>
            <a:pPr algn="just">
              <a:buClrTx/>
              <a:buFont typeface="Arial" panose="020B0604020202020204" pitchFamily="34" charset="0"/>
              <a:buChar char="•"/>
            </a:pPr>
            <a:r>
              <a:rPr lang="en-IN" sz="1000" b="1" dirty="0">
                <a:solidFill>
                  <a:schemeClr val="tx1"/>
                </a:solidFill>
              </a:rPr>
              <a:t>Product Line Performance:</a:t>
            </a:r>
          </a:p>
          <a:p>
            <a:pPr lvl="1" algn="just">
              <a:buClrTx/>
              <a:buFont typeface="Arial" panose="020B0604020202020204" pitchFamily="34" charset="0"/>
              <a:buChar char="•"/>
            </a:pPr>
            <a:r>
              <a:rPr lang="en-US" altLang="en-US" sz="900" b="1" dirty="0">
                <a:solidFill>
                  <a:schemeClr val="tx1"/>
                </a:solidFill>
              </a:rPr>
              <a:t>Top Performer</a:t>
            </a:r>
            <a:r>
              <a:rPr lang="en-US" altLang="en-US" sz="900" dirty="0">
                <a:solidFill>
                  <a:schemeClr val="tx1"/>
                </a:solidFill>
              </a:rPr>
              <a:t>: Classic Cars dominate with 949 orders.</a:t>
            </a:r>
          </a:p>
          <a:p>
            <a:pPr lvl="1" algn="just">
              <a:buClrTx/>
              <a:buFont typeface="Arial" panose="020B0604020202020204" pitchFamily="34" charset="0"/>
              <a:buChar char="•"/>
            </a:pPr>
            <a:r>
              <a:rPr lang="en-US" altLang="en-US" sz="900" b="1" dirty="0">
                <a:solidFill>
                  <a:schemeClr val="tx1"/>
                </a:solidFill>
              </a:rPr>
              <a:t>Strong Contenders</a:t>
            </a:r>
            <a:r>
              <a:rPr lang="en-US" altLang="en-US" sz="900" dirty="0">
                <a:solidFill>
                  <a:schemeClr val="tx1"/>
                </a:solidFill>
              </a:rPr>
              <a:t>: Vintage Cars (579) and Motorcycles (313) maintain substantial demand, suggesting secondary growth areas.</a:t>
            </a:r>
          </a:p>
          <a:p>
            <a:pPr marL="201168" lvl="1" indent="0" algn="just">
              <a:buClrTx/>
              <a:buNone/>
            </a:pPr>
            <a:endParaRPr lang="en-US" altLang="en-US" sz="600" dirty="0">
              <a:solidFill>
                <a:schemeClr val="tx1"/>
              </a:solidFill>
            </a:endParaRPr>
          </a:p>
          <a:p>
            <a:pPr marL="292608" lvl="1" indent="0" algn="just" eaLnBrk="0" fontAlgn="base" hangingPunct="0">
              <a:lnSpc>
                <a:spcPct val="100000"/>
              </a:lnSpc>
              <a:spcBef>
                <a:spcPct val="0"/>
              </a:spcBef>
              <a:spcAft>
                <a:spcPct val="0"/>
              </a:spcAft>
              <a:buClrTx/>
              <a:buFontTx/>
              <a:buChar char="•"/>
            </a:pPr>
            <a:endParaRPr lang="en-US" altLang="en-US" sz="800" dirty="0">
              <a:solidFill>
                <a:schemeClr val="tx1"/>
              </a:solidFill>
            </a:endParaRPr>
          </a:p>
        </p:txBody>
      </p:sp>
      <p:pic>
        <p:nvPicPr>
          <p:cNvPr id="5" name="Picture 4">
            <a:extLst>
              <a:ext uri="{FF2B5EF4-FFF2-40B4-BE49-F238E27FC236}">
                <a16:creationId xmlns:a16="http://schemas.microsoft.com/office/drawing/2014/main" id="{A4EAE016-8E8F-6862-D4AE-3097400441B5}"/>
              </a:ext>
            </a:extLst>
          </p:cNvPr>
          <p:cNvPicPr>
            <a:picLocks noChangeAspect="1"/>
          </p:cNvPicPr>
          <p:nvPr/>
        </p:nvPicPr>
        <p:blipFill>
          <a:blip r:embed="rId2"/>
          <a:stretch>
            <a:fillRect/>
          </a:stretch>
        </p:blipFill>
        <p:spPr>
          <a:xfrm>
            <a:off x="4122486" y="1902736"/>
            <a:ext cx="3307260" cy="1917731"/>
          </a:xfrm>
          <a:prstGeom prst="rect">
            <a:avLst/>
          </a:prstGeom>
        </p:spPr>
      </p:pic>
      <p:pic>
        <p:nvPicPr>
          <p:cNvPr id="8" name="Picture 7">
            <a:extLst>
              <a:ext uri="{FF2B5EF4-FFF2-40B4-BE49-F238E27FC236}">
                <a16:creationId xmlns:a16="http://schemas.microsoft.com/office/drawing/2014/main" id="{F49BD037-80D3-29F6-C506-CFFFB65B3073}"/>
              </a:ext>
            </a:extLst>
          </p:cNvPr>
          <p:cNvPicPr>
            <a:picLocks noChangeAspect="1"/>
          </p:cNvPicPr>
          <p:nvPr/>
        </p:nvPicPr>
        <p:blipFill>
          <a:blip r:embed="rId3"/>
          <a:stretch>
            <a:fillRect/>
          </a:stretch>
        </p:blipFill>
        <p:spPr>
          <a:xfrm>
            <a:off x="7734054" y="1902736"/>
            <a:ext cx="3387212" cy="1969737"/>
          </a:xfrm>
          <a:prstGeom prst="rect">
            <a:avLst/>
          </a:prstGeom>
        </p:spPr>
      </p:pic>
      <p:pic>
        <p:nvPicPr>
          <p:cNvPr id="11" name="Picture 10">
            <a:extLst>
              <a:ext uri="{FF2B5EF4-FFF2-40B4-BE49-F238E27FC236}">
                <a16:creationId xmlns:a16="http://schemas.microsoft.com/office/drawing/2014/main" id="{BDE1BF99-D343-2299-49EE-1D068C76941D}"/>
              </a:ext>
            </a:extLst>
          </p:cNvPr>
          <p:cNvPicPr>
            <a:picLocks noChangeAspect="1"/>
          </p:cNvPicPr>
          <p:nvPr/>
        </p:nvPicPr>
        <p:blipFill>
          <a:blip r:embed="rId4"/>
          <a:stretch>
            <a:fillRect/>
          </a:stretch>
        </p:blipFill>
        <p:spPr>
          <a:xfrm>
            <a:off x="4122486" y="3872473"/>
            <a:ext cx="3307260" cy="2056380"/>
          </a:xfrm>
          <a:prstGeom prst="rect">
            <a:avLst/>
          </a:prstGeom>
        </p:spPr>
      </p:pic>
      <p:pic>
        <p:nvPicPr>
          <p:cNvPr id="14" name="Picture 13">
            <a:extLst>
              <a:ext uri="{FF2B5EF4-FFF2-40B4-BE49-F238E27FC236}">
                <a16:creationId xmlns:a16="http://schemas.microsoft.com/office/drawing/2014/main" id="{415EFDB1-9C02-A681-B5AE-8FC909422E54}"/>
              </a:ext>
            </a:extLst>
          </p:cNvPr>
          <p:cNvPicPr>
            <a:picLocks noChangeAspect="1"/>
          </p:cNvPicPr>
          <p:nvPr/>
        </p:nvPicPr>
        <p:blipFill>
          <a:blip r:embed="rId5"/>
          <a:stretch>
            <a:fillRect/>
          </a:stretch>
        </p:blipFill>
        <p:spPr>
          <a:xfrm>
            <a:off x="7429746" y="3924479"/>
            <a:ext cx="3618136" cy="2010575"/>
          </a:xfrm>
          <a:prstGeom prst="rect">
            <a:avLst/>
          </a:prstGeom>
        </p:spPr>
      </p:pic>
      <p:sp>
        <p:nvSpPr>
          <p:cNvPr id="3" name="Slide Number Placeholder 2">
            <a:extLst>
              <a:ext uri="{FF2B5EF4-FFF2-40B4-BE49-F238E27FC236}">
                <a16:creationId xmlns:a16="http://schemas.microsoft.com/office/drawing/2014/main" id="{A4B06B4C-AC60-EB99-655B-0B280E5DB70C}"/>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Tree>
    <p:extLst>
      <p:ext uri="{BB962C8B-B14F-4D97-AF65-F5344CB8AC3E}">
        <p14:creationId xmlns:p14="http://schemas.microsoft.com/office/powerpoint/2010/main" val="2256088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ED129-6E1E-5BD8-9CA6-BAA0D54091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FEA8B-F1D5-393C-FBE8-F592283B8677}"/>
              </a:ext>
            </a:extLst>
          </p:cNvPr>
          <p:cNvSpPr>
            <a:spLocks noGrp="1"/>
          </p:cNvSpPr>
          <p:nvPr>
            <p:ph type="title"/>
          </p:nvPr>
        </p:nvSpPr>
        <p:spPr/>
        <p:txBody>
          <a:bodyPr/>
          <a:lstStyle/>
          <a:p>
            <a:r>
              <a:rPr lang="en-IN" dirty="0"/>
              <a:t>EDA cont..</a:t>
            </a:r>
          </a:p>
        </p:txBody>
      </p:sp>
      <p:sp>
        <p:nvSpPr>
          <p:cNvPr id="16" name="Rectangle 4">
            <a:extLst>
              <a:ext uri="{FF2B5EF4-FFF2-40B4-BE49-F238E27FC236}">
                <a16:creationId xmlns:a16="http://schemas.microsoft.com/office/drawing/2014/main" id="{9E281452-1293-0304-A374-C41FC21F8B38}"/>
              </a:ext>
            </a:extLst>
          </p:cNvPr>
          <p:cNvSpPr>
            <a:spLocks noGrp="1" noChangeArrowheads="1"/>
          </p:cNvSpPr>
          <p:nvPr>
            <p:ph idx="1"/>
          </p:nvPr>
        </p:nvSpPr>
        <p:spPr bwMode="auto">
          <a:xfrm>
            <a:off x="1144117" y="1807354"/>
            <a:ext cx="2980381" cy="393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Clr>
                <a:schemeClr val="tx1"/>
              </a:buClr>
              <a:buFont typeface="Arial" panose="020B0604020202020204" pitchFamily="34" charset="0"/>
              <a:buChar char="•"/>
            </a:pPr>
            <a:r>
              <a:rPr lang="en-US" sz="1000" b="1" dirty="0"/>
              <a:t>Geographic Focus</a:t>
            </a:r>
            <a:r>
              <a:rPr lang="en-US" sz="1000" dirty="0"/>
              <a:t>: </a:t>
            </a:r>
            <a:r>
              <a:rPr lang="en-US" sz="1000" b="1" dirty="0"/>
              <a:t>USA dominates</a:t>
            </a:r>
            <a:r>
              <a:rPr lang="en-US" sz="1000" dirty="0"/>
              <a:t> customer count (928), followed by </a:t>
            </a:r>
            <a:r>
              <a:rPr lang="en-US" sz="1000" b="1" dirty="0"/>
              <a:t>Spain (342)</a:t>
            </a:r>
            <a:r>
              <a:rPr lang="en-US" sz="1000" dirty="0"/>
              <a:t> and </a:t>
            </a:r>
            <a:r>
              <a:rPr lang="en-US" sz="1000" b="1" dirty="0"/>
              <a:t>France (314)</a:t>
            </a:r>
            <a:r>
              <a:rPr lang="en-US" sz="1000" dirty="0"/>
              <a:t>—these are your core markets. Moderate reach in countries like </a:t>
            </a:r>
            <a:r>
              <a:rPr lang="en-US" sz="1000" b="1" dirty="0"/>
              <a:t>Australia, Finland, and Italy</a:t>
            </a:r>
            <a:r>
              <a:rPr lang="en-US" sz="1000" dirty="0"/>
              <a:t> suggests growth potential with region-specific strategies. Low-count regions such as </a:t>
            </a:r>
            <a:r>
              <a:rPr lang="en-US" sz="1000" b="1" dirty="0"/>
              <a:t>Ireland and Philippines</a:t>
            </a:r>
            <a:r>
              <a:rPr lang="en-US" sz="1000" dirty="0"/>
              <a:t> may need reevaluation or tailored penetration strategies.</a:t>
            </a:r>
            <a:endParaRPr kumimoji="0" lang="en-US" altLang="en-US" sz="1000" b="0" i="0" u="none" strike="noStrike" cap="none" normalizeH="0" baseline="0" dirty="0">
              <a:ln>
                <a:noFill/>
              </a:ln>
              <a:solidFill>
                <a:schemeClr val="tx1"/>
              </a:solidFill>
              <a:effectLst/>
            </a:endParaRPr>
          </a:p>
          <a:p>
            <a:pPr>
              <a:buClrTx/>
              <a:buFont typeface="Arial" panose="020B0604020202020204" pitchFamily="34" charset="0"/>
              <a:buChar char="•"/>
            </a:pPr>
            <a:r>
              <a:rPr lang="en-US" sz="1000" b="1" dirty="0"/>
              <a:t>Deal Size Dynamics: Medium (1,349)</a:t>
            </a:r>
            <a:r>
              <a:rPr lang="en-US" sz="1000" dirty="0"/>
              <a:t> and </a:t>
            </a:r>
            <a:r>
              <a:rPr lang="en-US" sz="1000" b="1" dirty="0"/>
              <a:t>Small (1,246)</a:t>
            </a:r>
            <a:r>
              <a:rPr lang="en-US" sz="1000" dirty="0"/>
              <a:t> deals form the business backbone—ideal for scalable, campaign-based marketing. </a:t>
            </a:r>
            <a:r>
              <a:rPr lang="en-US" sz="1000" b="1" dirty="0"/>
              <a:t>Large deals (152)</a:t>
            </a:r>
            <a:r>
              <a:rPr lang="en-US" sz="1000" dirty="0"/>
              <a:t>, though limited in volume, are likely </a:t>
            </a:r>
            <a:r>
              <a:rPr lang="en-US" sz="1000" b="1" dirty="0"/>
              <a:t>high-value</a:t>
            </a:r>
            <a:r>
              <a:rPr lang="en-US" sz="1000" dirty="0"/>
              <a:t>, justifying strategic relationship-building and loyalty programs.</a:t>
            </a:r>
            <a:endParaRPr lang="en-US" altLang="en-US" sz="1000" dirty="0">
              <a:solidFill>
                <a:schemeClr val="tx1"/>
              </a:solidFill>
            </a:endParaRPr>
          </a:p>
          <a:p>
            <a:pPr>
              <a:buFont typeface="Arial" panose="020B0604020202020204" pitchFamily="34" charset="0"/>
              <a:buChar char="•"/>
            </a:pPr>
            <a:r>
              <a:rPr lang="en-US" sz="1000" b="1" dirty="0"/>
              <a:t>Key Correlations Driving Business Impact</a:t>
            </a:r>
            <a:r>
              <a:rPr lang="en-US" sz="1000" dirty="0"/>
              <a:t>: </a:t>
            </a:r>
          </a:p>
          <a:p>
            <a:pPr lvl="1">
              <a:buFont typeface="Arial" panose="020B0604020202020204" pitchFamily="34" charset="0"/>
              <a:buChar char="•"/>
            </a:pPr>
            <a:r>
              <a:rPr lang="en-US" sz="800" b="1" dirty="0"/>
              <a:t>SALES strongly correlate with PRICEEACH (0.81)</a:t>
            </a:r>
            <a:r>
              <a:rPr lang="en-US" sz="800" dirty="0"/>
              <a:t> and </a:t>
            </a:r>
            <a:r>
              <a:rPr lang="en-US" sz="800" b="1" dirty="0"/>
              <a:t>MSRP (0.63)</a:t>
            </a:r>
            <a:r>
              <a:rPr lang="en-US" sz="800" dirty="0"/>
              <a:t>—price optimization directly influences revenue. </a:t>
            </a:r>
          </a:p>
          <a:p>
            <a:pPr lvl="1">
              <a:buFont typeface="Arial" panose="020B0604020202020204" pitchFamily="34" charset="0"/>
              <a:buChar char="•"/>
            </a:pPr>
            <a:r>
              <a:rPr lang="en-US" sz="800" b="1" dirty="0"/>
              <a:t>PRICEEACH ↔ MSRP correlation (0.78)</a:t>
            </a:r>
            <a:r>
              <a:rPr lang="en-US" sz="800" dirty="0"/>
              <a:t> confirms consistent pricing strategy. </a:t>
            </a:r>
          </a:p>
          <a:p>
            <a:pPr lvl="1">
              <a:buFont typeface="Arial" panose="020B0604020202020204" pitchFamily="34" charset="0"/>
              <a:buChar char="•"/>
            </a:pPr>
            <a:r>
              <a:rPr lang="en-US" sz="800" b="1" dirty="0"/>
              <a:t>DAYS_SINCE_LASTORDER is negatively correlated with SALES (-0.33)</a:t>
            </a:r>
            <a:r>
              <a:rPr lang="en-US" sz="800" dirty="0"/>
              <a:t> and MSRP (-0.52), revealing that </a:t>
            </a:r>
            <a:r>
              <a:rPr lang="en-US" sz="800" b="1" dirty="0"/>
              <a:t>longer gaps between purchases reduce revenue</a:t>
            </a:r>
            <a:r>
              <a:rPr lang="en-US" sz="800" dirty="0"/>
              <a:t>—a compelling reason to implement re-engagement campaigns.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000" b="0" i="0" u="none" strike="noStrike" cap="none" normalizeH="0" baseline="0" dirty="0">
              <a:ln>
                <a:noFill/>
              </a:ln>
              <a:solidFill>
                <a:schemeClr val="tx1"/>
              </a:solidFill>
              <a:effectLst/>
            </a:endParaRPr>
          </a:p>
        </p:txBody>
      </p:sp>
      <p:pic>
        <p:nvPicPr>
          <p:cNvPr id="5" name="Picture 4">
            <a:extLst>
              <a:ext uri="{FF2B5EF4-FFF2-40B4-BE49-F238E27FC236}">
                <a16:creationId xmlns:a16="http://schemas.microsoft.com/office/drawing/2014/main" id="{31191F37-608A-0ADD-74AA-54C6D21B2A4C}"/>
              </a:ext>
            </a:extLst>
          </p:cNvPr>
          <p:cNvPicPr>
            <a:picLocks noChangeAspect="1"/>
          </p:cNvPicPr>
          <p:nvPr/>
        </p:nvPicPr>
        <p:blipFill>
          <a:blip r:embed="rId2"/>
          <a:stretch>
            <a:fillRect/>
          </a:stretch>
        </p:blipFill>
        <p:spPr>
          <a:xfrm>
            <a:off x="6614026" y="1737360"/>
            <a:ext cx="4541654" cy="1881894"/>
          </a:xfrm>
          <a:prstGeom prst="rect">
            <a:avLst/>
          </a:prstGeom>
        </p:spPr>
      </p:pic>
      <p:pic>
        <p:nvPicPr>
          <p:cNvPr id="8" name="Picture 7">
            <a:extLst>
              <a:ext uri="{FF2B5EF4-FFF2-40B4-BE49-F238E27FC236}">
                <a16:creationId xmlns:a16="http://schemas.microsoft.com/office/drawing/2014/main" id="{529270F2-43E1-304F-258E-63FCEF342F5B}"/>
              </a:ext>
            </a:extLst>
          </p:cNvPr>
          <p:cNvPicPr>
            <a:picLocks noChangeAspect="1"/>
          </p:cNvPicPr>
          <p:nvPr/>
        </p:nvPicPr>
        <p:blipFill>
          <a:blip r:embed="rId3"/>
          <a:stretch>
            <a:fillRect/>
          </a:stretch>
        </p:blipFill>
        <p:spPr>
          <a:xfrm>
            <a:off x="6764288" y="3619254"/>
            <a:ext cx="4391392" cy="2554545"/>
          </a:xfrm>
          <a:prstGeom prst="rect">
            <a:avLst/>
          </a:prstGeom>
        </p:spPr>
      </p:pic>
      <p:pic>
        <p:nvPicPr>
          <p:cNvPr id="11" name="Picture 10">
            <a:extLst>
              <a:ext uri="{FF2B5EF4-FFF2-40B4-BE49-F238E27FC236}">
                <a16:creationId xmlns:a16="http://schemas.microsoft.com/office/drawing/2014/main" id="{ABBC974F-BC4D-8B67-F1CE-7ACAE72164C0}"/>
              </a:ext>
            </a:extLst>
          </p:cNvPr>
          <p:cNvPicPr>
            <a:picLocks noChangeAspect="1"/>
          </p:cNvPicPr>
          <p:nvPr/>
        </p:nvPicPr>
        <p:blipFill>
          <a:blip r:embed="rId4"/>
          <a:stretch>
            <a:fillRect/>
          </a:stretch>
        </p:blipFill>
        <p:spPr>
          <a:xfrm>
            <a:off x="4146820" y="2232182"/>
            <a:ext cx="2444884" cy="3086806"/>
          </a:xfrm>
          <a:prstGeom prst="rect">
            <a:avLst/>
          </a:prstGeom>
        </p:spPr>
      </p:pic>
      <p:sp>
        <p:nvSpPr>
          <p:cNvPr id="3" name="Slide Number Placeholder 2">
            <a:extLst>
              <a:ext uri="{FF2B5EF4-FFF2-40B4-BE49-F238E27FC236}">
                <a16:creationId xmlns:a16="http://schemas.microsoft.com/office/drawing/2014/main" id="{D194B3FA-2398-995D-E876-C2D17FEED262}"/>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Tree>
    <p:extLst>
      <p:ext uri="{BB962C8B-B14F-4D97-AF65-F5344CB8AC3E}">
        <p14:creationId xmlns:p14="http://schemas.microsoft.com/office/powerpoint/2010/main" val="2842370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00F65-82F0-A28E-6C40-7A851C63FB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D22B92-5D35-E75F-F47A-325659F35422}"/>
              </a:ext>
            </a:extLst>
          </p:cNvPr>
          <p:cNvSpPr>
            <a:spLocks noGrp="1"/>
          </p:cNvSpPr>
          <p:nvPr>
            <p:ph type="title"/>
          </p:nvPr>
        </p:nvSpPr>
        <p:spPr/>
        <p:txBody>
          <a:bodyPr/>
          <a:lstStyle/>
          <a:p>
            <a:r>
              <a:rPr lang="en-IN" dirty="0"/>
              <a:t>EDA cont..</a:t>
            </a:r>
          </a:p>
        </p:txBody>
      </p:sp>
      <p:sp>
        <p:nvSpPr>
          <p:cNvPr id="16" name="Rectangle 4">
            <a:extLst>
              <a:ext uri="{FF2B5EF4-FFF2-40B4-BE49-F238E27FC236}">
                <a16:creationId xmlns:a16="http://schemas.microsoft.com/office/drawing/2014/main" id="{50F478EE-F967-05B9-979E-6DFA334F313A}"/>
              </a:ext>
            </a:extLst>
          </p:cNvPr>
          <p:cNvSpPr>
            <a:spLocks noGrp="1" noChangeArrowheads="1"/>
          </p:cNvSpPr>
          <p:nvPr>
            <p:ph idx="1"/>
          </p:nvPr>
        </p:nvSpPr>
        <p:spPr bwMode="auto">
          <a:xfrm>
            <a:off x="1144117" y="2103332"/>
            <a:ext cx="2980381" cy="3344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ClrTx/>
              <a:buFont typeface="Arial" panose="020B0604020202020204" pitchFamily="34" charset="0"/>
              <a:buChar char="•"/>
            </a:pPr>
            <a:r>
              <a:rPr lang="en-US" sz="1000" b="1" dirty="0"/>
              <a:t>SALES vs. PRICEEACH</a:t>
            </a:r>
            <a:r>
              <a:rPr lang="en-US" sz="1000" dirty="0"/>
              <a:t>: </a:t>
            </a:r>
            <a:r>
              <a:rPr lang="en-US" sz="1000" dirty="0">
                <a:solidFill>
                  <a:schemeClr val="tx1"/>
                </a:solidFill>
              </a:rPr>
              <a:t>A strong positive correlation suggests that higher-priced items tend to generate more revenue</a:t>
            </a:r>
            <a:r>
              <a:rPr lang="en-US" sz="1000" dirty="0"/>
              <a:t>.</a:t>
            </a:r>
          </a:p>
          <a:p>
            <a:pPr>
              <a:buClrTx/>
              <a:buFont typeface="Arial" panose="020B0604020202020204" pitchFamily="34" charset="0"/>
              <a:buChar char="•"/>
            </a:pPr>
            <a:r>
              <a:rPr lang="en-US" sz="1000" b="1" dirty="0"/>
              <a:t>SALES vs. MSRP: </a:t>
            </a:r>
            <a:r>
              <a:rPr lang="en-US" sz="1000" dirty="0"/>
              <a:t>A similar positive correlation implies that products with a higher MSRP are often sold at a higher price point.</a:t>
            </a:r>
          </a:p>
          <a:p>
            <a:pPr>
              <a:buClrTx/>
              <a:buFont typeface="Arial" panose="020B0604020202020204" pitchFamily="34" charset="0"/>
              <a:buChar char="•"/>
            </a:pPr>
            <a:r>
              <a:rPr lang="en-US" sz="1000" b="1" dirty="0"/>
              <a:t>QUANTITYORDERED vs. SALES: </a:t>
            </a:r>
            <a:r>
              <a:rPr lang="en-US" sz="1000" dirty="0"/>
              <a:t>If there’s a noticeable trend where higher quantities lead to higher sales, bulk purchasing might be a key driver.</a:t>
            </a:r>
          </a:p>
          <a:p>
            <a:pPr>
              <a:buClrTx/>
              <a:buFont typeface="Arial" panose="020B0604020202020204" pitchFamily="34" charset="0"/>
              <a:buChar char="•"/>
            </a:pPr>
            <a:r>
              <a:rPr lang="en-US" sz="1000" b="1" dirty="0"/>
              <a:t>DAYS_SINCE_LASTORDER vs. SALES: </a:t>
            </a:r>
            <a:r>
              <a:rPr lang="en-US" sz="1000" dirty="0"/>
              <a:t>A weak correlation here might indicate irregular purchasing behaviors, signaling opportunities for retention-focused marketing strategies.</a:t>
            </a:r>
          </a:p>
          <a:p>
            <a:pPr>
              <a:buClrTx/>
              <a:buFont typeface="Arial" panose="020B0604020202020204" pitchFamily="34" charset="0"/>
              <a:buChar char="•"/>
            </a:pPr>
            <a:r>
              <a:rPr lang="en-US" sz="1000" dirty="0"/>
              <a:t>Some histograms show right-skewed distributions (e.g., PRICEEACH and MSRP) indicating that most transactions involve lower-priced items, but occasional high-value orders skew the data.</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000" b="0" i="0" u="none" strike="noStrike" cap="none" normalizeH="0" baseline="0" dirty="0">
              <a:ln>
                <a:noFill/>
              </a:ln>
              <a:solidFill>
                <a:schemeClr val="tx1"/>
              </a:solidFill>
              <a:effectLst/>
            </a:endParaRPr>
          </a:p>
        </p:txBody>
      </p:sp>
      <p:pic>
        <p:nvPicPr>
          <p:cNvPr id="4" name="Picture 3">
            <a:extLst>
              <a:ext uri="{FF2B5EF4-FFF2-40B4-BE49-F238E27FC236}">
                <a16:creationId xmlns:a16="http://schemas.microsoft.com/office/drawing/2014/main" id="{B9FF6CD2-5EF3-90B4-2E43-A9EF2315C500}"/>
              </a:ext>
            </a:extLst>
          </p:cNvPr>
          <p:cNvPicPr>
            <a:picLocks noChangeAspect="1"/>
          </p:cNvPicPr>
          <p:nvPr/>
        </p:nvPicPr>
        <p:blipFill>
          <a:blip r:embed="rId2"/>
          <a:stretch>
            <a:fillRect/>
          </a:stretch>
        </p:blipFill>
        <p:spPr>
          <a:xfrm>
            <a:off x="5108841" y="1849448"/>
            <a:ext cx="6117632" cy="4253958"/>
          </a:xfrm>
          <a:prstGeom prst="rect">
            <a:avLst/>
          </a:prstGeom>
        </p:spPr>
      </p:pic>
      <p:sp>
        <p:nvSpPr>
          <p:cNvPr id="3" name="Slide Number Placeholder 2">
            <a:extLst>
              <a:ext uri="{FF2B5EF4-FFF2-40B4-BE49-F238E27FC236}">
                <a16:creationId xmlns:a16="http://schemas.microsoft.com/office/drawing/2014/main" id="{87D1F891-D48F-C133-23DE-351602BEE73F}"/>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2666858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EDA SUMMARY [INFERENCES]</a:t>
            </a:r>
          </a:p>
        </p:txBody>
      </p:sp>
      <p:sp>
        <p:nvSpPr>
          <p:cNvPr id="3" name="Content Placeholder 2"/>
          <p:cNvSpPr>
            <a:spLocks noGrp="1"/>
          </p:cNvSpPr>
          <p:nvPr>
            <p:ph idx="1"/>
          </p:nvPr>
        </p:nvSpPr>
        <p:spPr>
          <a:xfrm>
            <a:off x="1097280" y="1845734"/>
            <a:ext cx="10058400" cy="4519670"/>
          </a:xfrm>
        </p:spPr>
        <p:txBody>
          <a:bodyPr>
            <a:noAutofit/>
          </a:bodyPr>
          <a:lstStyle/>
          <a:p>
            <a:r>
              <a:rPr lang="en-US" sz="1000" b="1" dirty="0"/>
              <a:t>1. Order &amp; Purchase Behavior: </a:t>
            </a:r>
          </a:p>
          <a:p>
            <a:pPr lvl="1">
              <a:buClr>
                <a:schemeClr val="tx1"/>
              </a:buClr>
              <a:buFont typeface="Arial" panose="020B0604020202020204" pitchFamily="34" charset="0"/>
              <a:buChar char="•"/>
            </a:pPr>
            <a:r>
              <a:rPr lang="en-US" sz="800" dirty="0"/>
              <a:t>Majority of transactions include just </a:t>
            </a:r>
            <a:r>
              <a:rPr lang="en-US" sz="800" b="1" dirty="0"/>
              <a:t>1–5-line items</a:t>
            </a:r>
            <a:r>
              <a:rPr lang="en-US" sz="800" dirty="0"/>
              <a:t>, suggesting focused customer intent and a strong case for bundling core products. </a:t>
            </a:r>
          </a:p>
          <a:p>
            <a:pPr lvl="1">
              <a:buClr>
                <a:schemeClr val="tx1"/>
              </a:buClr>
              <a:buFont typeface="Arial" panose="020B0604020202020204" pitchFamily="34" charset="0"/>
              <a:buChar char="•"/>
            </a:pPr>
            <a:r>
              <a:rPr lang="en-US" sz="800" b="1" dirty="0"/>
              <a:t>Quantity Ordered</a:t>
            </a:r>
            <a:r>
              <a:rPr lang="en-US" sz="800" dirty="0"/>
              <a:t> centers around </a:t>
            </a:r>
            <a:r>
              <a:rPr lang="en-US" sz="800" b="1" dirty="0"/>
              <a:t>35 units</a:t>
            </a:r>
            <a:r>
              <a:rPr lang="en-US" sz="800" dirty="0"/>
              <a:t>, with occasional large orders—indicative of both routine buyers and high-volume clients.</a:t>
            </a:r>
          </a:p>
          <a:p>
            <a:r>
              <a:rPr lang="en-US" sz="1000" b="1" dirty="0"/>
              <a:t>2. Pricing &amp; Revenue Patterns</a:t>
            </a:r>
          </a:p>
          <a:p>
            <a:pPr lvl="1">
              <a:buClr>
                <a:schemeClr val="tx1"/>
              </a:buClr>
              <a:buFont typeface="Arial" panose="020B0604020202020204" pitchFamily="34" charset="0"/>
              <a:buChar char="•"/>
            </a:pPr>
            <a:r>
              <a:rPr lang="en-US" sz="800" dirty="0"/>
              <a:t>Both </a:t>
            </a:r>
            <a:r>
              <a:rPr lang="en-US" sz="800" b="1" dirty="0"/>
              <a:t>Price Each</a:t>
            </a:r>
            <a:r>
              <a:rPr lang="en-US" sz="800" dirty="0"/>
              <a:t> and </a:t>
            </a:r>
            <a:r>
              <a:rPr lang="en-US" sz="800" b="1" dirty="0"/>
              <a:t>MSRP</a:t>
            </a:r>
            <a:r>
              <a:rPr lang="en-US" sz="800" dirty="0"/>
              <a:t> cluster around </a:t>
            </a:r>
            <a:r>
              <a:rPr lang="en-US" sz="800" b="1" dirty="0"/>
              <a:t>₹100</a:t>
            </a:r>
            <a:r>
              <a:rPr lang="en-US" sz="800" dirty="0"/>
              <a:t>, reflecting pricing consistency, with a few premium items suitable for upselling.</a:t>
            </a:r>
          </a:p>
          <a:p>
            <a:pPr lvl="1">
              <a:buClr>
                <a:schemeClr val="tx1"/>
              </a:buClr>
              <a:buFont typeface="Arial" panose="020B0604020202020204" pitchFamily="34" charset="0"/>
              <a:buChar char="•"/>
            </a:pPr>
            <a:r>
              <a:rPr lang="en-US" sz="800" b="1" dirty="0"/>
              <a:t>Sales per line-item</a:t>
            </a:r>
            <a:r>
              <a:rPr lang="en-US" sz="800" dirty="0"/>
              <a:t> averages ₹3,500, with outliers suggesting </a:t>
            </a:r>
            <a:r>
              <a:rPr lang="en-US" sz="800" b="1" dirty="0"/>
              <a:t>high-value customers</a:t>
            </a:r>
            <a:r>
              <a:rPr lang="en-US" sz="800" dirty="0"/>
              <a:t> that could be nurtured through loyalty programs.</a:t>
            </a:r>
          </a:p>
          <a:p>
            <a:r>
              <a:rPr lang="en-US" sz="1000" b="1" dirty="0"/>
              <a:t>3. Temporal Trends</a:t>
            </a:r>
          </a:p>
          <a:p>
            <a:pPr lvl="1">
              <a:buClr>
                <a:schemeClr val="tx1"/>
              </a:buClr>
              <a:buFont typeface="Arial" panose="020B0604020202020204" pitchFamily="34" charset="0"/>
              <a:buChar char="•"/>
            </a:pPr>
            <a:r>
              <a:rPr lang="en-US" sz="800" dirty="0"/>
              <a:t>Orders span </a:t>
            </a:r>
            <a:r>
              <a:rPr lang="en-US" sz="800" b="1" dirty="0"/>
              <a:t>Jan 2018 to July 2020</a:t>
            </a:r>
            <a:r>
              <a:rPr lang="en-US" sz="800" dirty="0"/>
              <a:t>, peaking mid-2019—likely due to seasonal campaigns or demand surges.</a:t>
            </a:r>
          </a:p>
          <a:p>
            <a:pPr lvl="1">
              <a:buClr>
                <a:schemeClr val="tx1"/>
              </a:buClr>
              <a:buFont typeface="Arial" panose="020B0604020202020204" pitchFamily="34" charset="0"/>
              <a:buChar char="•"/>
            </a:pPr>
            <a:r>
              <a:rPr lang="en-US" sz="800" b="1" dirty="0"/>
              <a:t>DAYS_SINCE_LASTORDER</a:t>
            </a:r>
            <a:r>
              <a:rPr lang="en-US" sz="800" dirty="0"/>
              <a:t> is broadly spread, revealing an inconsistent customer return cycle—pointing to the need for </a:t>
            </a:r>
            <a:r>
              <a:rPr lang="en-US" sz="800" b="1" dirty="0"/>
              <a:t>re-engagement strategies</a:t>
            </a:r>
            <a:r>
              <a:rPr lang="en-US" sz="800" dirty="0"/>
              <a:t>.</a:t>
            </a:r>
          </a:p>
          <a:p>
            <a:r>
              <a:rPr lang="en-US" sz="1000" b="1" dirty="0"/>
              <a:t>4. Product &amp; Customer Segments</a:t>
            </a:r>
          </a:p>
          <a:p>
            <a:pPr lvl="1">
              <a:buClr>
                <a:schemeClr val="tx1"/>
              </a:buClr>
              <a:buFont typeface="Arial" panose="020B0604020202020204" pitchFamily="34" charset="0"/>
              <a:buChar char="•"/>
            </a:pPr>
            <a:r>
              <a:rPr lang="en-US" sz="800" i="1" dirty="0"/>
              <a:t>Classic Cars</a:t>
            </a:r>
            <a:r>
              <a:rPr lang="en-US" sz="800" dirty="0"/>
              <a:t> dominate product orders, while </a:t>
            </a:r>
            <a:r>
              <a:rPr lang="en-US" sz="800" i="1" dirty="0"/>
              <a:t>Trains</a:t>
            </a:r>
            <a:r>
              <a:rPr lang="en-US" sz="800" dirty="0"/>
              <a:t> and </a:t>
            </a:r>
            <a:r>
              <a:rPr lang="en-US" sz="800" i="1" dirty="0"/>
              <a:t>Ships</a:t>
            </a:r>
            <a:r>
              <a:rPr lang="en-US" sz="800" dirty="0"/>
              <a:t> lag—valuable input for targeted promotions and inventory prioritization.</a:t>
            </a:r>
          </a:p>
          <a:p>
            <a:pPr lvl="1">
              <a:buClr>
                <a:schemeClr val="tx1"/>
              </a:buClr>
              <a:buFont typeface="Arial" panose="020B0604020202020204" pitchFamily="34" charset="0"/>
              <a:buChar char="•"/>
            </a:pPr>
            <a:r>
              <a:rPr lang="en-US" sz="800" b="1" dirty="0"/>
              <a:t>USA leads</a:t>
            </a:r>
            <a:r>
              <a:rPr lang="en-US" sz="800" dirty="0"/>
              <a:t> customer count, followed by </a:t>
            </a:r>
            <a:r>
              <a:rPr lang="en-US" sz="800" i="1" dirty="0"/>
              <a:t>Spain</a:t>
            </a:r>
            <a:r>
              <a:rPr lang="en-US" sz="800" dirty="0"/>
              <a:t> and </a:t>
            </a:r>
            <a:r>
              <a:rPr lang="en-US" sz="800" i="1" dirty="0"/>
              <a:t>France</a:t>
            </a:r>
            <a:r>
              <a:rPr lang="en-US" sz="800" dirty="0"/>
              <a:t>—highlighting strong North American and Western European presence.</a:t>
            </a:r>
          </a:p>
          <a:p>
            <a:r>
              <a:rPr lang="en-US" sz="1000" b="1" dirty="0"/>
              <a:t>5. Deal Sizes &amp; Value Segmentation</a:t>
            </a:r>
          </a:p>
          <a:p>
            <a:pPr lvl="1">
              <a:buClrTx/>
              <a:buFont typeface="Arial" panose="020B0604020202020204" pitchFamily="34" charset="0"/>
              <a:buChar char="•"/>
            </a:pPr>
            <a:r>
              <a:rPr lang="en-US" sz="800" dirty="0"/>
              <a:t>Business is anchored by </a:t>
            </a:r>
            <a:r>
              <a:rPr lang="en-US" sz="800" b="1" dirty="0"/>
              <a:t>Medium and Small deals</a:t>
            </a:r>
            <a:r>
              <a:rPr lang="en-US" sz="800" dirty="0"/>
              <a:t> (97% combined), with </a:t>
            </a:r>
            <a:r>
              <a:rPr lang="en-US" sz="800" b="1" dirty="0"/>
              <a:t>Large deals</a:t>
            </a:r>
            <a:r>
              <a:rPr lang="en-US" sz="800" dirty="0"/>
              <a:t> offering strategic high-revenue potential.</a:t>
            </a:r>
          </a:p>
          <a:p>
            <a:pPr lvl="1">
              <a:buClrTx/>
              <a:buFont typeface="Arial" panose="020B0604020202020204" pitchFamily="34" charset="0"/>
              <a:buChar char="•"/>
            </a:pPr>
            <a:r>
              <a:rPr lang="en-US" sz="800" dirty="0"/>
              <a:t>Geographic and product insights can guide market-specific targeting and volume-based incentives.</a:t>
            </a:r>
          </a:p>
          <a:p>
            <a:r>
              <a:rPr lang="en-US" sz="1000" b="1" dirty="0"/>
              <a:t>6. Correlations &amp; Multivariate Patterns: </a:t>
            </a:r>
            <a:r>
              <a:rPr lang="en-US" sz="1000" dirty="0"/>
              <a:t>Strong positive correlations:</a:t>
            </a:r>
          </a:p>
          <a:p>
            <a:pPr lvl="1">
              <a:buClrTx/>
              <a:buFont typeface="Arial" panose="020B0604020202020204" pitchFamily="34" charset="0"/>
              <a:buChar char="•"/>
            </a:pPr>
            <a:r>
              <a:rPr lang="en-US" sz="1000" b="1" dirty="0"/>
              <a:t>Price Each ↔ Sales (0.81)</a:t>
            </a:r>
            <a:endParaRPr lang="en-US" sz="1000" dirty="0"/>
          </a:p>
          <a:p>
            <a:pPr lvl="1">
              <a:buClrTx/>
              <a:buFont typeface="Arial" panose="020B0604020202020204" pitchFamily="34" charset="0"/>
              <a:buChar char="•"/>
            </a:pPr>
            <a:r>
              <a:rPr lang="en-US" sz="1000" b="1" dirty="0"/>
              <a:t>Price Each ↔ MSRP (0.78)</a:t>
            </a:r>
            <a:r>
              <a:rPr lang="en-US" sz="1000" dirty="0"/>
              <a:t> → Pricing is a primary lever for revenue generation.</a:t>
            </a:r>
          </a:p>
          <a:p>
            <a:pPr lvl="1">
              <a:buClrTx/>
              <a:buFont typeface="Arial" panose="020B0604020202020204" pitchFamily="34" charset="0"/>
              <a:buChar char="•"/>
            </a:pPr>
            <a:r>
              <a:rPr lang="en-US" sz="800" b="1" dirty="0"/>
              <a:t>DAYS_SINCE_LASTORDER</a:t>
            </a:r>
            <a:r>
              <a:rPr lang="en-US" sz="800" dirty="0"/>
              <a:t> shows </a:t>
            </a:r>
            <a:r>
              <a:rPr lang="en-US" sz="800" b="1" dirty="0"/>
              <a:t>negative correlation with Sales</a:t>
            </a:r>
            <a:r>
              <a:rPr lang="en-US" sz="800" dirty="0"/>
              <a:t>—the longer customers go inactive, the less they spend.</a:t>
            </a:r>
          </a:p>
          <a:p>
            <a:endParaRPr lang="en-IN" sz="1000" dirty="0"/>
          </a:p>
        </p:txBody>
      </p:sp>
      <p:sp>
        <p:nvSpPr>
          <p:cNvPr id="4" name="Slide Number Placeholder 3">
            <a:extLst>
              <a:ext uri="{FF2B5EF4-FFF2-40B4-BE49-F238E27FC236}">
                <a16:creationId xmlns:a16="http://schemas.microsoft.com/office/drawing/2014/main" id="{46B3FBC4-5988-D86A-C22E-0EBBA8A42FE4}"/>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Tree>
    <p:extLst>
      <p:ext uri="{BB962C8B-B14F-4D97-AF65-F5344CB8AC3E}">
        <p14:creationId xmlns:p14="http://schemas.microsoft.com/office/powerpoint/2010/main" val="54104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RFM Starts</a:t>
            </a:r>
          </a:p>
        </p:txBody>
      </p:sp>
      <p:sp>
        <p:nvSpPr>
          <p:cNvPr id="3" name="Content Placeholder 2"/>
          <p:cNvSpPr>
            <a:spLocks noGrp="1"/>
          </p:cNvSpPr>
          <p:nvPr>
            <p:ph idx="1"/>
          </p:nvPr>
        </p:nvSpPr>
        <p:spPr>
          <a:xfrm>
            <a:off x="1097280" y="1845734"/>
            <a:ext cx="10058400" cy="4519670"/>
          </a:xfrm>
        </p:spPr>
        <p:txBody>
          <a:bodyPr>
            <a:normAutofit fontScale="40000" lnSpcReduction="20000"/>
          </a:bodyPr>
          <a:lstStyle/>
          <a:p>
            <a:pPr marL="0" indent="0">
              <a:buNone/>
            </a:pPr>
            <a:r>
              <a:rPr lang="en-US" sz="4800" b="1" dirty="0"/>
              <a:t>Customer Segmentation using RFM analysis: </a:t>
            </a:r>
          </a:p>
          <a:p>
            <a:pPr>
              <a:buFont typeface="Arial" panose="020B0604020202020204" pitchFamily="34" charset="0"/>
              <a:buChar char="•"/>
            </a:pPr>
            <a:r>
              <a:rPr lang="en-US" sz="3700" b="1" dirty="0"/>
              <a:t>Number of Segments: 3</a:t>
            </a:r>
          </a:p>
          <a:p>
            <a:pPr lvl="1">
              <a:buFont typeface="Arial" panose="020B0604020202020204" pitchFamily="34" charset="0"/>
              <a:buChar char="•"/>
            </a:pPr>
            <a:r>
              <a:rPr lang="en-US" sz="3500" b="1" dirty="0"/>
              <a:t>Justification:</a:t>
            </a:r>
            <a:r>
              <a:rPr lang="en-US" sz="3500" dirty="0"/>
              <a:t> Based on distinct RFM score groupings and customer behavior, the customers are segmented into </a:t>
            </a:r>
            <a:r>
              <a:rPr lang="en-US" sz="3500" b="1" dirty="0"/>
              <a:t>Active</a:t>
            </a:r>
            <a:r>
              <a:rPr lang="en-US" sz="3500" dirty="0"/>
              <a:t>, </a:t>
            </a:r>
            <a:r>
              <a:rPr lang="en-US" sz="3500" b="1" dirty="0"/>
              <a:t>At-Risk</a:t>
            </a:r>
            <a:r>
              <a:rPr lang="en-US" sz="3500" dirty="0"/>
              <a:t>, and </a:t>
            </a:r>
            <a:r>
              <a:rPr lang="en-US" sz="3500" b="1" dirty="0"/>
              <a:t>Inactive</a:t>
            </a:r>
            <a:r>
              <a:rPr lang="en-US" sz="3500" dirty="0"/>
              <a:t> categories. This trisection balances simplicity with strategic focus:</a:t>
            </a:r>
          </a:p>
          <a:p>
            <a:pPr lvl="1">
              <a:buFont typeface="Arial" panose="020B0604020202020204" pitchFamily="34" charset="0"/>
              <a:buChar char="•"/>
            </a:pPr>
            <a:r>
              <a:rPr lang="en-US" sz="3500" b="1" dirty="0"/>
              <a:t>Active</a:t>
            </a:r>
            <a:r>
              <a:rPr lang="en-US" sz="3500" dirty="0"/>
              <a:t>: High recency, frequency, and monetary value.</a:t>
            </a:r>
          </a:p>
          <a:p>
            <a:pPr lvl="1">
              <a:buFont typeface="Arial" panose="020B0604020202020204" pitchFamily="34" charset="0"/>
              <a:buChar char="•"/>
            </a:pPr>
            <a:r>
              <a:rPr lang="en-US" sz="3500" b="1" dirty="0"/>
              <a:t>At-Risk</a:t>
            </a:r>
            <a:r>
              <a:rPr lang="en-US" sz="3500" dirty="0"/>
              <a:t>: Moderate scores, with signs of potential churn.</a:t>
            </a:r>
          </a:p>
          <a:p>
            <a:pPr lvl="1">
              <a:buFont typeface="Arial" panose="020B0604020202020204" pitchFamily="34" charset="0"/>
              <a:buChar char="•"/>
            </a:pPr>
            <a:r>
              <a:rPr lang="en-US" sz="3500" b="1" dirty="0"/>
              <a:t>Inactive</a:t>
            </a:r>
            <a:r>
              <a:rPr lang="en-US" sz="3500" dirty="0"/>
              <a:t>: Low engagement across RFM dimensions.</a:t>
            </a:r>
          </a:p>
          <a:p>
            <a:pPr lvl="1">
              <a:buFont typeface="Arial" panose="020B0604020202020204" pitchFamily="34" charset="0"/>
              <a:buChar char="•"/>
            </a:pPr>
            <a:r>
              <a:rPr lang="en-US" sz="3500" dirty="0"/>
              <a:t>This segmentation helps in tailoring marketing strategies with precision—targeting loyalty initiatives, re-engagement efforts, and reactivation campaigns respectively.</a:t>
            </a:r>
          </a:p>
          <a:p>
            <a:pPr>
              <a:buFont typeface="Arial" panose="020B0604020202020204" pitchFamily="34" charset="0"/>
              <a:buChar char="•"/>
            </a:pPr>
            <a:r>
              <a:rPr lang="en-US" sz="3700" b="1" dirty="0"/>
              <a:t>Parameters Used: </a:t>
            </a:r>
            <a:r>
              <a:rPr lang="en-US" sz="3700" dirty="0"/>
              <a:t>RFM model considers:</a:t>
            </a:r>
          </a:p>
          <a:p>
            <a:pPr lvl="1">
              <a:buFont typeface="Arial" panose="020B0604020202020204" pitchFamily="34" charset="0"/>
              <a:buChar char="•"/>
            </a:pPr>
            <a:r>
              <a:rPr lang="en-US" sz="3500" b="1" dirty="0"/>
              <a:t>Recency (R):</a:t>
            </a:r>
            <a:r>
              <a:rPr lang="en-US" sz="3500" dirty="0"/>
              <a:t> Days since the customer's last purchase (lower is better).</a:t>
            </a:r>
          </a:p>
          <a:p>
            <a:pPr lvl="1">
              <a:buFont typeface="Arial" panose="020B0604020202020204" pitchFamily="34" charset="0"/>
              <a:buChar char="•"/>
            </a:pPr>
            <a:r>
              <a:rPr lang="en-US" sz="3500" b="1" dirty="0"/>
              <a:t>Frequency (F):</a:t>
            </a:r>
            <a:r>
              <a:rPr lang="en-US" sz="3500" dirty="0"/>
              <a:t> Total number of transactions by the customer.</a:t>
            </a:r>
          </a:p>
          <a:p>
            <a:pPr lvl="1">
              <a:buFont typeface="Arial" panose="020B0604020202020204" pitchFamily="34" charset="0"/>
              <a:buChar char="•"/>
            </a:pPr>
            <a:r>
              <a:rPr lang="en-US" sz="3500" b="1" dirty="0"/>
              <a:t>Monetary (M):</a:t>
            </a:r>
            <a:r>
              <a:rPr lang="en-US" sz="3500" dirty="0"/>
              <a:t> Total sales revenue generated by the customer.</a:t>
            </a:r>
          </a:p>
          <a:p>
            <a:pPr>
              <a:buFont typeface="Arial" panose="020B0604020202020204" pitchFamily="34" charset="0"/>
              <a:buChar char="•"/>
            </a:pPr>
            <a:r>
              <a:rPr lang="en-US" sz="3700" b="1" dirty="0"/>
              <a:t>Assumptions Made:</a:t>
            </a:r>
          </a:p>
          <a:p>
            <a:pPr lvl="1">
              <a:buFont typeface="Arial" panose="020B0604020202020204" pitchFamily="34" charset="0"/>
              <a:buChar char="•"/>
            </a:pPr>
            <a:r>
              <a:rPr lang="en-US" sz="3500" dirty="0"/>
              <a:t>Higher scores on Frequency and Monetary represent more loyal, profitable customers.</a:t>
            </a:r>
          </a:p>
          <a:p>
            <a:pPr lvl="1">
              <a:buFont typeface="Arial" panose="020B0604020202020204" pitchFamily="34" charset="0"/>
              <a:buChar char="•"/>
            </a:pPr>
            <a:r>
              <a:rPr lang="en-US" sz="3500" dirty="0"/>
              <a:t>Lower values on Recency indicate recent activity and thus, a higher likelihood of engagement.</a:t>
            </a:r>
          </a:p>
          <a:p>
            <a:pPr lvl="1">
              <a:buFont typeface="Arial" panose="020B0604020202020204" pitchFamily="34" charset="0"/>
              <a:buChar char="•"/>
            </a:pPr>
            <a:r>
              <a:rPr lang="en-US" sz="3500" dirty="0"/>
              <a:t>Scoring was done on a scale (e.g., 1–3) for each RFM component, and summed or clustered to assign segment labels.</a:t>
            </a:r>
          </a:p>
          <a:p>
            <a:pPr lvl="1">
              <a:buFont typeface="Arial" panose="020B0604020202020204" pitchFamily="34" charset="0"/>
              <a:buChar char="•"/>
            </a:pPr>
            <a:endParaRPr lang="en-US" sz="3500" dirty="0"/>
          </a:p>
          <a:p>
            <a:pPr marL="0" indent="0">
              <a:buNone/>
            </a:pPr>
            <a:endParaRPr lang="en-US" sz="1200" dirty="0"/>
          </a:p>
          <a:p>
            <a:endParaRPr lang="en-IN" dirty="0"/>
          </a:p>
        </p:txBody>
      </p:sp>
      <p:sp>
        <p:nvSpPr>
          <p:cNvPr id="4" name="Rectangle 1">
            <a:extLst>
              <a:ext uri="{FF2B5EF4-FFF2-40B4-BE49-F238E27FC236}">
                <a16:creationId xmlns:a16="http://schemas.microsoft.com/office/drawing/2014/main" id="{3DD70A5D-C3F8-7A42-EF12-79C36868C438}"/>
              </a:ext>
            </a:extLst>
          </p:cNvPr>
          <p:cNvSpPr>
            <a:spLocks noChangeArrowheads="1"/>
          </p:cNvSpPr>
          <p:nvPr/>
        </p:nvSpPr>
        <p:spPr bwMode="auto">
          <a:xfrm>
            <a:off x="8412480" y="3939526"/>
            <a:ext cx="297709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rPr>
              <a:t>Recency:</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1" u="none" strike="noStrike" cap="none" normalizeH="0" baseline="0" dirty="0">
                <a:ln>
                  <a:noFill/>
                </a:ln>
                <a:solidFill>
                  <a:schemeClr val="tx1"/>
                </a:solidFill>
                <a:effectLst/>
              </a:rPr>
              <a:t>High (H)</a:t>
            </a:r>
            <a:r>
              <a:rPr kumimoji="0" lang="en-US" altLang="en-US" sz="1000" b="0" i="0" u="none" strike="noStrike" cap="none" normalizeH="0" baseline="0" dirty="0">
                <a:ln>
                  <a:noFill/>
                </a:ln>
                <a:solidFill>
                  <a:schemeClr val="tx1"/>
                </a:solidFill>
                <a:effectLst/>
              </a:rPr>
              <a:t> → Customer purchased recently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1" u="none" strike="noStrike" cap="none" normalizeH="0" baseline="0" dirty="0">
                <a:ln>
                  <a:noFill/>
                </a:ln>
                <a:solidFill>
                  <a:schemeClr val="tx1"/>
                </a:solidFill>
                <a:effectLst/>
              </a:rPr>
              <a:t>Medium (M)</a:t>
            </a:r>
            <a:r>
              <a:rPr kumimoji="0" lang="en-US" altLang="en-US" sz="1000" b="0" i="0" u="none" strike="noStrike" cap="none" normalizeH="0" baseline="0" dirty="0">
                <a:ln>
                  <a:noFill/>
                </a:ln>
                <a:solidFill>
                  <a:schemeClr val="tx1"/>
                </a:solidFill>
                <a:effectLst/>
              </a:rPr>
              <a:t> → Moderate time since last purchase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1" u="none" strike="noStrike" cap="none" normalizeH="0" baseline="0" dirty="0">
                <a:ln>
                  <a:noFill/>
                </a:ln>
                <a:solidFill>
                  <a:schemeClr val="tx1"/>
                </a:solidFill>
                <a:effectLst/>
              </a:rPr>
              <a:t>Low (L)</a:t>
            </a:r>
            <a:r>
              <a:rPr kumimoji="0" lang="en-US" altLang="en-US" sz="1000" b="0" i="0" u="none" strike="noStrike" cap="none" normalizeH="0" baseline="0" dirty="0">
                <a:ln>
                  <a:noFill/>
                </a:ln>
                <a:solidFill>
                  <a:schemeClr val="tx1"/>
                </a:solidFill>
                <a:effectLst/>
              </a:rPr>
              <a:t> → Long time since last purchase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rPr>
              <a:t>Frequency &amp; Monetary:</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1" u="none" strike="noStrike" cap="none" normalizeH="0" baseline="0" dirty="0">
                <a:ln>
                  <a:noFill/>
                </a:ln>
                <a:solidFill>
                  <a:schemeClr val="tx1"/>
                </a:solidFill>
                <a:effectLst/>
              </a:rPr>
              <a:t>High (H)</a:t>
            </a:r>
            <a:r>
              <a:rPr kumimoji="0" lang="en-US" altLang="en-US" sz="1000" b="0" i="0" u="none" strike="noStrike" cap="none" normalizeH="0" baseline="0" dirty="0">
                <a:ln>
                  <a:noFill/>
                </a:ln>
                <a:solidFill>
                  <a:schemeClr val="tx1"/>
                </a:solidFill>
                <a:effectLst/>
              </a:rPr>
              <a:t> → Frequent and/or high-value spender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1" u="none" strike="noStrike" cap="none" normalizeH="0" baseline="0" dirty="0">
                <a:ln>
                  <a:noFill/>
                </a:ln>
                <a:solidFill>
                  <a:schemeClr val="tx1"/>
                </a:solidFill>
                <a:effectLst/>
              </a:rPr>
              <a:t>Medium (M)</a:t>
            </a:r>
            <a:r>
              <a:rPr kumimoji="0" lang="en-US" altLang="en-US" sz="1000" b="0" i="0" u="none" strike="noStrike" cap="none" normalizeH="0" baseline="0" dirty="0">
                <a:ln>
                  <a:noFill/>
                </a:ln>
                <a:solidFill>
                  <a:schemeClr val="tx1"/>
                </a:solidFill>
                <a:effectLst/>
              </a:rPr>
              <a:t> → Moderate purchase frequency/value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1" u="none" strike="noStrike" cap="none" normalizeH="0" baseline="0" dirty="0">
                <a:ln>
                  <a:noFill/>
                </a:ln>
                <a:solidFill>
                  <a:schemeClr val="tx1"/>
                </a:solidFill>
                <a:effectLst/>
              </a:rPr>
              <a:t>Low (L)</a:t>
            </a:r>
            <a:r>
              <a:rPr kumimoji="0" lang="en-US" altLang="en-US" sz="1000" b="0" i="0" u="none" strike="noStrike" cap="none" normalizeH="0" baseline="0" dirty="0">
                <a:ln>
                  <a:noFill/>
                </a:ln>
                <a:solidFill>
                  <a:schemeClr val="tx1"/>
                </a:solidFill>
                <a:effectLst/>
              </a:rPr>
              <a:t> → Infrequent or low-value purchases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endParaRPr>
          </a:p>
        </p:txBody>
      </p:sp>
      <p:sp>
        <p:nvSpPr>
          <p:cNvPr id="5" name="Slide Number Placeholder 4">
            <a:extLst>
              <a:ext uri="{FF2B5EF4-FFF2-40B4-BE49-F238E27FC236}">
                <a16:creationId xmlns:a16="http://schemas.microsoft.com/office/drawing/2014/main" id="{28687E52-75EE-4043-1A9C-C11D07E3E130}"/>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Tree>
    <p:extLst>
      <p:ext uri="{BB962C8B-B14F-4D97-AF65-F5344CB8AC3E}">
        <p14:creationId xmlns:p14="http://schemas.microsoft.com/office/powerpoint/2010/main" val="1211886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RFM (using KNIME)</a:t>
            </a:r>
          </a:p>
        </p:txBody>
      </p:sp>
      <p:sp>
        <p:nvSpPr>
          <p:cNvPr id="3" name="Content Placeholder 2"/>
          <p:cNvSpPr>
            <a:spLocks noGrp="1"/>
          </p:cNvSpPr>
          <p:nvPr>
            <p:ph idx="1"/>
          </p:nvPr>
        </p:nvSpPr>
        <p:spPr/>
        <p:txBody>
          <a:bodyPr/>
          <a:lstStyle/>
          <a:p>
            <a:pPr marL="1317120" lvl="7" indent="0">
              <a:buNone/>
            </a:pPr>
            <a:r>
              <a:rPr lang="en-IN" sz="1600" dirty="0"/>
              <a:t>						KNIME Workflow:</a:t>
            </a:r>
          </a:p>
          <a:p>
            <a:r>
              <a:rPr lang="en-IN" dirty="0"/>
              <a:t>Output table</a:t>
            </a:r>
          </a:p>
        </p:txBody>
      </p:sp>
      <p:pic>
        <p:nvPicPr>
          <p:cNvPr id="5" name="Picture 4">
            <a:extLst>
              <a:ext uri="{FF2B5EF4-FFF2-40B4-BE49-F238E27FC236}">
                <a16:creationId xmlns:a16="http://schemas.microsoft.com/office/drawing/2014/main" id="{B6600767-F183-8570-924A-5D64EC005489}"/>
              </a:ext>
            </a:extLst>
          </p:cNvPr>
          <p:cNvPicPr>
            <a:picLocks noChangeAspect="1"/>
          </p:cNvPicPr>
          <p:nvPr/>
        </p:nvPicPr>
        <p:blipFill>
          <a:blip r:embed="rId2"/>
          <a:stretch>
            <a:fillRect/>
          </a:stretch>
        </p:blipFill>
        <p:spPr>
          <a:xfrm>
            <a:off x="4683188" y="2542622"/>
            <a:ext cx="6472492" cy="3374731"/>
          </a:xfrm>
          <a:prstGeom prst="rect">
            <a:avLst/>
          </a:prstGeom>
        </p:spPr>
      </p:pic>
      <p:pic>
        <p:nvPicPr>
          <p:cNvPr id="6" name="Picture 5">
            <a:extLst>
              <a:ext uri="{FF2B5EF4-FFF2-40B4-BE49-F238E27FC236}">
                <a16:creationId xmlns:a16="http://schemas.microsoft.com/office/drawing/2014/main" id="{4776E6B1-2DD6-700E-E5C1-2CE0D0FD6006}"/>
              </a:ext>
            </a:extLst>
          </p:cNvPr>
          <p:cNvPicPr>
            <a:picLocks noChangeAspect="1"/>
          </p:cNvPicPr>
          <p:nvPr/>
        </p:nvPicPr>
        <p:blipFill>
          <a:blip r:embed="rId3"/>
          <a:stretch>
            <a:fillRect/>
          </a:stretch>
        </p:blipFill>
        <p:spPr>
          <a:xfrm>
            <a:off x="942820" y="2626847"/>
            <a:ext cx="4201590" cy="1604306"/>
          </a:xfrm>
          <a:prstGeom prst="rect">
            <a:avLst/>
          </a:prstGeom>
        </p:spPr>
      </p:pic>
      <p:pic>
        <p:nvPicPr>
          <p:cNvPr id="8" name="Picture 7">
            <a:extLst>
              <a:ext uri="{FF2B5EF4-FFF2-40B4-BE49-F238E27FC236}">
                <a16:creationId xmlns:a16="http://schemas.microsoft.com/office/drawing/2014/main" id="{9C868218-31E3-9333-B4F0-67963A003239}"/>
              </a:ext>
            </a:extLst>
          </p:cNvPr>
          <p:cNvPicPr>
            <a:picLocks noChangeAspect="1"/>
          </p:cNvPicPr>
          <p:nvPr/>
        </p:nvPicPr>
        <p:blipFill>
          <a:blip r:embed="rId4"/>
          <a:stretch>
            <a:fillRect/>
          </a:stretch>
        </p:blipFill>
        <p:spPr>
          <a:xfrm>
            <a:off x="942820" y="4409865"/>
            <a:ext cx="3791853" cy="1602533"/>
          </a:xfrm>
          <a:prstGeom prst="rect">
            <a:avLst/>
          </a:prstGeom>
        </p:spPr>
      </p:pic>
      <p:sp>
        <p:nvSpPr>
          <p:cNvPr id="4" name="Slide Number Placeholder 3">
            <a:extLst>
              <a:ext uri="{FF2B5EF4-FFF2-40B4-BE49-F238E27FC236}">
                <a16:creationId xmlns:a16="http://schemas.microsoft.com/office/drawing/2014/main" id="{47E13A60-A312-CA58-1D76-2B13979081F8}"/>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Tree>
    <p:extLst>
      <p:ext uri="{BB962C8B-B14F-4D97-AF65-F5344CB8AC3E}">
        <p14:creationId xmlns:p14="http://schemas.microsoft.com/office/powerpoint/2010/main" val="28587377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FA0BD-ED4F-3DB1-902C-AF8B484AFC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CA3177-FBFA-C83E-BA76-961E70F4B4F4}"/>
              </a:ext>
            </a:extLst>
          </p:cNvPr>
          <p:cNvSpPr>
            <a:spLocks noGrp="1"/>
          </p:cNvSpPr>
          <p:nvPr>
            <p:ph type="title"/>
          </p:nvPr>
        </p:nvSpPr>
        <p:spPr/>
        <p:txBody>
          <a:bodyPr/>
          <a:lstStyle/>
          <a:p>
            <a:r>
              <a:rPr lang="en-IN" dirty="0"/>
              <a:t>RFM (using KNIME) Inferences</a:t>
            </a:r>
          </a:p>
        </p:txBody>
      </p:sp>
      <p:pic>
        <p:nvPicPr>
          <p:cNvPr id="10" name="Content Placeholder 9">
            <a:extLst>
              <a:ext uri="{FF2B5EF4-FFF2-40B4-BE49-F238E27FC236}">
                <a16:creationId xmlns:a16="http://schemas.microsoft.com/office/drawing/2014/main" id="{B7C863F8-B32C-B2A9-EE47-5D4068C67F3D}"/>
              </a:ext>
            </a:extLst>
          </p:cNvPr>
          <p:cNvPicPr>
            <a:picLocks noGrp="1" noChangeAspect="1"/>
          </p:cNvPicPr>
          <p:nvPr>
            <p:ph idx="1"/>
          </p:nvPr>
        </p:nvPicPr>
        <p:blipFill>
          <a:blip r:embed="rId2"/>
          <a:stretch>
            <a:fillRect/>
          </a:stretch>
        </p:blipFill>
        <p:spPr>
          <a:xfrm>
            <a:off x="1190563" y="1750287"/>
            <a:ext cx="7882646" cy="1727272"/>
          </a:xfrm>
        </p:spPr>
      </p:pic>
      <p:pic>
        <p:nvPicPr>
          <p:cNvPr id="12" name="Picture 11">
            <a:extLst>
              <a:ext uri="{FF2B5EF4-FFF2-40B4-BE49-F238E27FC236}">
                <a16:creationId xmlns:a16="http://schemas.microsoft.com/office/drawing/2014/main" id="{ED04673C-CB89-4630-0BFD-40F3E07A1AD0}"/>
              </a:ext>
            </a:extLst>
          </p:cNvPr>
          <p:cNvPicPr>
            <a:picLocks noChangeAspect="1"/>
          </p:cNvPicPr>
          <p:nvPr/>
        </p:nvPicPr>
        <p:blipFill>
          <a:blip r:embed="rId3"/>
          <a:stretch>
            <a:fillRect/>
          </a:stretch>
        </p:blipFill>
        <p:spPr>
          <a:xfrm>
            <a:off x="7566846" y="3308110"/>
            <a:ext cx="4214165" cy="3006498"/>
          </a:xfrm>
          <a:prstGeom prst="rect">
            <a:avLst/>
          </a:prstGeom>
        </p:spPr>
      </p:pic>
      <p:sp>
        <p:nvSpPr>
          <p:cNvPr id="14" name="TextBox 13">
            <a:extLst>
              <a:ext uri="{FF2B5EF4-FFF2-40B4-BE49-F238E27FC236}">
                <a16:creationId xmlns:a16="http://schemas.microsoft.com/office/drawing/2014/main" id="{89DECB06-66B5-7292-E679-A606F1EEA1CC}"/>
              </a:ext>
            </a:extLst>
          </p:cNvPr>
          <p:cNvSpPr txBox="1"/>
          <p:nvPr/>
        </p:nvSpPr>
        <p:spPr>
          <a:xfrm>
            <a:off x="1144474" y="3477559"/>
            <a:ext cx="6259216" cy="2862322"/>
          </a:xfrm>
          <a:prstGeom prst="rect">
            <a:avLst/>
          </a:prstGeom>
          <a:noFill/>
        </p:spPr>
        <p:txBody>
          <a:bodyPr wrap="square" rtlCol="0">
            <a:spAutoFit/>
          </a:bodyPr>
          <a:lstStyle/>
          <a:p>
            <a:r>
              <a:rPr lang="en-US" sz="1200" b="1" dirty="0"/>
              <a:t>Insights</a:t>
            </a:r>
          </a:p>
          <a:p>
            <a:endParaRPr lang="en-US" sz="800" dirty="0"/>
          </a:p>
          <a:p>
            <a:pPr marL="228600" indent="-228600">
              <a:buFont typeface="Arial" panose="020B0604020202020204" pitchFamily="34" charset="0"/>
              <a:buChar char="•"/>
            </a:pPr>
            <a:r>
              <a:rPr lang="en-US" sz="800" b="1" dirty="0"/>
              <a:t>Active Customers (23 Total):</a:t>
            </a:r>
          </a:p>
          <a:p>
            <a:endParaRPr lang="en-US" sz="800" dirty="0"/>
          </a:p>
          <a:p>
            <a:pPr marL="628650" lvl="1" indent="-171450">
              <a:buFont typeface="Arial" panose="020B0604020202020204" pitchFamily="34" charset="0"/>
              <a:buChar char="•"/>
            </a:pPr>
            <a:r>
              <a:rPr lang="en-US" sz="800" dirty="0"/>
              <a:t>Gold Tier (9 customers): These are your most loyal and profitable segment. They've purchased recently, frequently, and in high amounts.</a:t>
            </a:r>
          </a:p>
          <a:p>
            <a:pPr marL="628650" lvl="1" indent="-171450">
              <a:buFont typeface="Arial" panose="020B0604020202020204" pitchFamily="34" charset="0"/>
              <a:buChar char="•"/>
            </a:pPr>
            <a:endParaRPr lang="en-US" sz="800" dirty="0"/>
          </a:p>
          <a:p>
            <a:pPr marL="628650" lvl="1" indent="-171450">
              <a:buFont typeface="Arial" panose="020B0604020202020204" pitchFamily="34" charset="0"/>
              <a:buChar char="•"/>
            </a:pPr>
            <a:r>
              <a:rPr lang="en-US" sz="800" dirty="0"/>
              <a:t>Silver Tier (12 customers): Still valuable—slightly lower on one or two RFM dimensions but show strong potential.</a:t>
            </a:r>
          </a:p>
          <a:p>
            <a:pPr marL="628650" lvl="1" indent="-171450">
              <a:buFont typeface="Arial" panose="020B0604020202020204" pitchFamily="34" charset="0"/>
              <a:buChar char="•"/>
            </a:pPr>
            <a:endParaRPr lang="en-US" sz="800" dirty="0"/>
          </a:p>
          <a:p>
            <a:pPr marL="628650" lvl="1" indent="-171450">
              <a:buFont typeface="Arial" panose="020B0604020202020204" pitchFamily="34" charset="0"/>
              <a:buChar char="•"/>
            </a:pPr>
            <a:r>
              <a:rPr lang="en-US" sz="800" dirty="0"/>
              <a:t>Bronze Tier (2 customers): Actively buying, but either less frequently or with smaller purchase values.</a:t>
            </a:r>
          </a:p>
          <a:p>
            <a:endParaRPr lang="en-US" sz="800" dirty="0"/>
          </a:p>
          <a:p>
            <a:pPr marL="171450" indent="-171450">
              <a:buFont typeface="Arial" panose="020B0604020202020204" pitchFamily="34" charset="0"/>
              <a:buChar char="•"/>
            </a:pPr>
            <a:r>
              <a:rPr lang="en-US" sz="800" b="1" dirty="0"/>
              <a:t>At-Risk Customers (44 Total)</a:t>
            </a:r>
          </a:p>
          <a:p>
            <a:pPr marL="628650" lvl="1" indent="-171450">
              <a:buFont typeface="Arial" panose="020B0604020202020204" pitchFamily="34" charset="0"/>
              <a:buChar char="•"/>
            </a:pPr>
            <a:endParaRPr lang="en-US" sz="800" dirty="0"/>
          </a:p>
          <a:p>
            <a:pPr marL="628650" lvl="1" indent="-171450">
              <a:buFont typeface="Arial" panose="020B0604020202020204" pitchFamily="34" charset="0"/>
              <a:buChar char="•"/>
            </a:pPr>
            <a:r>
              <a:rPr lang="en-US" sz="800" dirty="0"/>
              <a:t>Large concentration in Silver (24) and Bronze (14): These customers were previously engaged but haven't purchased recently.</a:t>
            </a:r>
          </a:p>
          <a:p>
            <a:pPr marL="628650" lvl="1" indent="-171450">
              <a:buFont typeface="Arial" panose="020B0604020202020204" pitchFamily="34" charset="0"/>
              <a:buChar char="•"/>
            </a:pPr>
            <a:endParaRPr lang="en-US" sz="800" dirty="0"/>
          </a:p>
          <a:p>
            <a:pPr marL="628650" lvl="1" indent="-171450">
              <a:buFont typeface="Arial" panose="020B0604020202020204" pitchFamily="34" charset="0"/>
              <a:buChar char="•"/>
            </a:pPr>
            <a:r>
              <a:rPr lang="en-US" sz="800" dirty="0"/>
              <a:t>Gold (6 customers): Once very valuable—if they’re starting to lapse, this is a red flag worth immediate attention.</a:t>
            </a:r>
          </a:p>
          <a:p>
            <a:endParaRPr lang="en-US" sz="800" dirty="0"/>
          </a:p>
          <a:p>
            <a:pPr marL="171450" indent="-171450">
              <a:buFont typeface="Arial" panose="020B0604020202020204" pitchFamily="34" charset="0"/>
              <a:buChar char="•"/>
            </a:pPr>
            <a:r>
              <a:rPr lang="en-US" sz="800" b="1" dirty="0"/>
              <a:t>Inactive Customers (22 Total)</a:t>
            </a:r>
          </a:p>
          <a:p>
            <a:endParaRPr lang="en-US" sz="800" dirty="0"/>
          </a:p>
          <a:p>
            <a:pPr marL="628650" lvl="1" indent="-171450">
              <a:buFont typeface="Arial" panose="020B0604020202020204" pitchFamily="34" charset="0"/>
              <a:buChar char="•"/>
            </a:pPr>
            <a:r>
              <a:rPr lang="en-US" sz="800" dirty="0"/>
              <a:t>Mostly Bronze (20 customers): These likely had infrequent, low-value transactions and have since disengaged.</a:t>
            </a:r>
          </a:p>
          <a:p>
            <a:pPr marL="628650" lvl="1" indent="-171450">
              <a:buFont typeface="Arial" panose="020B0604020202020204" pitchFamily="34" charset="0"/>
              <a:buChar char="•"/>
            </a:pPr>
            <a:endParaRPr lang="en-US" sz="800" dirty="0"/>
          </a:p>
          <a:p>
            <a:pPr marL="628650" lvl="1" indent="-171450">
              <a:buFont typeface="Arial" panose="020B0604020202020204" pitchFamily="34" charset="0"/>
              <a:buChar char="•"/>
            </a:pPr>
            <a:r>
              <a:rPr lang="en-US" sz="800" dirty="0"/>
              <a:t>Silver (2 customers), Gold (0): Indicates minimal high-potential customers have become completely inactive.</a:t>
            </a:r>
            <a:endParaRPr lang="en-IN" sz="800" dirty="0"/>
          </a:p>
        </p:txBody>
      </p:sp>
      <p:sp>
        <p:nvSpPr>
          <p:cNvPr id="3" name="Slide Number Placeholder 2">
            <a:extLst>
              <a:ext uri="{FF2B5EF4-FFF2-40B4-BE49-F238E27FC236}">
                <a16:creationId xmlns:a16="http://schemas.microsoft.com/office/drawing/2014/main" id="{BD70D61C-478E-A8D4-A940-11BABEF9594C}"/>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Tree>
    <p:extLst>
      <p:ext uri="{BB962C8B-B14F-4D97-AF65-F5344CB8AC3E}">
        <p14:creationId xmlns:p14="http://schemas.microsoft.com/office/powerpoint/2010/main" val="31540622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7AD9D-640E-F6A2-A67E-705322BF8C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DD70B0-373D-20EB-2B9F-BE2AD1837C84}"/>
              </a:ext>
            </a:extLst>
          </p:cNvPr>
          <p:cNvSpPr>
            <a:spLocks noGrp="1"/>
          </p:cNvSpPr>
          <p:nvPr>
            <p:ph type="title"/>
          </p:nvPr>
        </p:nvSpPr>
        <p:spPr/>
        <p:txBody>
          <a:bodyPr/>
          <a:lstStyle/>
          <a:p>
            <a:r>
              <a:rPr lang="en-IN" dirty="0"/>
              <a:t>RFM (using KNIME) Inferences</a:t>
            </a:r>
          </a:p>
        </p:txBody>
      </p:sp>
      <p:sp>
        <p:nvSpPr>
          <p:cNvPr id="3" name="Content Placeholder 2">
            <a:extLst>
              <a:ext uri="{FF2B5EF4-FFF2-40B4-BE49-F238E27FC236}">
                <a16:creationId xmlns:a16="http://schemas.microsoft.com/office/drawing/2014/main" id="{8D783201-8B79-DB9F-855E-AD48EA9911AA}"/>
              </a:ext>
            </a:extLst>
          </p:cNvPr>
          <p:cNvSpPr>
            <a:spLocks noGrp="1"/>
          </p:cNvSpPr>
          <p:nvPr>
            <p:ph idx="1"/>
          </p:nvPr>
        </p:nvSpPr>
        <p:spPr/>
        <p:txBody>
          <a:bodyPr>
            <a:normAutofit fontScale="40000" lnSpcReduction="20000"/>
          </a:bodyPr>
          <a:lstStyle/>
          <a:p>
            <a:r>
              <a:rPr lang="en-IN" sz="7200" dirty="0"/>
              <a:t>Recommendations:</a:t>
            </a:r>
          </a:p>
          <a:p>
            <a:pPr>
              <a:buClrTx/>
              <a:buFont typeface="Arial" panose="020B0604020202020204" pitchFamily="34" charset="0"/>
              <a:buChar char="•"/>
            </a:pPr>
            <a:r>
              <a:rPr lang="en-US" sz="4000" dirty="0"/>
              <a:t>Nurture Active Customers</a:t>
            </a:r>
          </a:p>
          <a:p>
            <a:pPr lvl="1">
              <a:buClr>
                <a:schemeClr val="tx1"/>
              </a:buClr>
              <a:buFont typeface="Arial" panose="020B0604020202020204" pitchFamily="34" charset="0"/>
              <a:buChar char="•"/>
            </a:pPr>
            <a:r>
              <a:rPr lang="en-US" sz="3800" dirty="0"/>
              <a:t>Gold Tier: Offer exclusive loyalty perks, sneak peeks at new products, or early-bird deals.</a:t>
            </a:r>
          </a:p>
          <a:p>
            <a:pPr lvl="1">
              <a:buClr>
                <a:schemeClr val="tx1"/>
              </a:buClr>
              <a:buFont typeface="Arial" panose="020B0604020202020204" pitchFamily="34" charset="0"/>
              <a:buChar char="•"/>
            </a:pPr>
            <a:r>
              <a:rPr lang="en-US" sz="3800" dirty="0"/>
              <a:t>Silver Tier: Encourage upselling and cross-selling with personalized product bundles.</a:t>
            </a:r>
          </a:p>
          <a:p>
            <a:pPr lvl="1">
              <a:buClr>
                <a:schemeClr val="tx1"/>
              </a:buClr>
              <a:buFont typeface="Arial" panose="020B0604020202020204" pitchFamily="34" charset="0"/>
              <a:buChar char="•"/>
            </a:pPr>
            <a:r>
              <a:rPr lang="en-US" sz="3800" dirty="0"/>
              <a:t>Bronze Tier: Use satisfaction surveys or onboarding-style communication to build stronger habits and move them up.</a:t>
            </a:r>
          </a:p>
          <a:p>
            <a:pPr>
              <a:buClr>
                <a:schemeClr val="tx1"/>
              </a:buClr>
              <a:buFont typeface="Arial" panose="020B0604020202020204" pitchFamily="34" charset="0"/>
              <a:buChar char="•"/>
            </a:pPr>
            <a:r>
              <a:rPr lang="en-US" sz="4000" dirty="0"/>
              <a:t>Win Back At-Risk Customers</a:t>
            </a:r>
          </a:p>
          <a:p>
            <a:pPr lvl="1">
              <a:buClr>
                <a:schemeClr val="tx1"/>
              </a:buClr>
              <a:buFont typeface="Arial" panose="020B0604020202020204" pitchFamily="34" charset="0"/>
              <a:buChar char="•"/>
            </a:pPr>
            <a:r>
              <a:rPr lang="en-US" sz="3800" dirty="0"/>
              <a:t>Send "We miss you" emails with time-sensitive promotions.</a:t>
            </a:r>
          </a:p>
          <a:p>
            <a:pPr lvl="1">
              <a:buClr>
                <a:schemeClr val="tx1"/>
              </a:buClr>
              <a:buFont typeface="Arial" panose="020B0604020202020204" pitchFamily="34" charset="0"/>
              <a:buChar char="•"/>
            </a:pPr>
            <a:r>
              <a:rPr lang="en-US" sz="3800" dirty="0"/>
              <a:t>Re-target them via ads showing products similar to past purchases.</a:t>
            </a:r>
          </a:p>
          <a:p>
            <a:pPr lvl="1">
              <a:buClr>
                <a:schemeClr val="tx1"/>
              </a:buClr>
              <a:buFont typeface="Arial" panose="020B0604020202020204" pitchFamily="34" charset="0"/>
              <a:buChar char="•"/>
            </a:pPr>
            <a:r>
              <a:rPr lang="en-US" sz="3800" dirty="0"/>
              <a:t>Offer tier-based incentives to encourage re-engagement—perhaps a one-time boost to reach Silver or Gold status.</a:t>
            </a:r>
          </a:p>
          <a:p>
            <a:pPr>
              <a:buClrTx/>
              <a:buFont typeface="Arial" panose="020B0604020202020204" pitchFamily="34" charset="0"/>
              <a:buChar char="•"/>
            </a:pPr>
            <a:r>
              <a:rPr lang="en-US" sz="4000" dirty="0"/>
              <a:t>Revive Inactive Customers</a:t>
            </a:r>
          </a:p>
          <a:p>
            <a:pPr lvl="1">
              <a:buClrTx/>
              <a:buFont typeface="Arial" panose="020B0604020202020204" pitchFamily="34" charset="0"/>
              <a:buChar char="•"/>
            </a:pPr>
            <a:r>
              <a:rPr lang="en-US" sz="3800" dirty="0"/>
              <a:t>Launch a reactivation campaign with bold offers (e.g., 25% off next order) or fresh messaging focused on new arrivals.</a:t>
            </a:r>
          </a:p>
          <a:p>
            <a:pPr lvl="1">
              <a:buClrTx/>
              <a:buFont typeface="Arial" panose="020B0604020202020204" pitchFamily="34" charset="0"/>
              <a:buChar char="•"/>
            </a:pPr>
            <a:r>
              <a:rPr lang="en-US" sz="3800" dirty="0"/>
              <a:t>Use feedback forms to identify pain points that may have caused disengagement.</a:t>
            </a:r>
          </a:p>
          <a:p>
            <a:pPr lvl="1">
              <a:buClrTx/>
              <a:buFont typeface="Arial" panose="020B0604020202020204" pitchFamily="34" charset="0"/>
              <a:buChar char="•"/>
            </a:pPr>
            <a:r>
              <a:rPr lang="en-US" sz="3800" dirty="0"/>
              <a:t>Focus retention resources on Bronze-level customers only if acquisition costs are lower than potential return.</a:t>
            </a:r>
          </a:p>
          <a:p>
            <a:endParaRPr lang="en-IN" sz="4000" dirty="0"/>
          </a:p>
          <a:p>
            <a:endParaRPr lang="en-IN" dirty="0"/>
          </a:p>
        </p:txBody>
      </p:sp>
      <p:sp>
        <p:nvSpPr>
          <p:cNvPr id="4" name="Slide Number Placeholder 3">
            <a:extLst>
              <a:ext uri="{FF2B5EF4-FFF2-40B4-BE49-F238E27FC236}">
                <a16:creationId xmlns:a16="http://schemas.microsoft.com/office/drawing/2014/main" id="{601CB10D-DDD6-D714-BAEC-30A31311C34E}"/>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Tree>
    <p:extLst>
      <p:ext uri="{BB962C8B-B14F-4D97-AF65-F5344CB8AC3E}">
        <p14:creationId xmlns:p14="http://schemas.microsoft.com/office/powerpoint/2010/main" val="5043221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231</TotalTime>
  <Words>2220</Words>
  <Application>Microsoft Office PowerPoint</Application>
  <PresentationFormat>Widescreen</PresentationFormat>
  <Paragraphs>214</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Arial Unicode MS</vt:lpstr>
      <vt:lpstr>Calibri</vt:lpstr>
      <vt:lpstr>Calibri Light</vt:lpstr>
      <vt:lpstr>Retrospect</vt:lpstr>
      <vt:lpstr>MRA Project Part A</vt:lpstr>
      <vt:lpstr>Agenda – Part A: Customer Behavior Analysis &amp; Segmentation Strategy</vt:lpstr>
      <vt:lpstr>Business Overview</vt:lpstr>
      <vt:lpstr>Problem Statement</vt:lpstr>
      <vt:lpstr>Data Description</vt:lpstr>
      <vt:lpstr>EDA STARTS</vt:lpstr>
      <vt:lpstr>EDA cont..</vt:lpstr>
      <vt:lpstr>EDA cont..</vt:lpstr>
      <vt:lpstr>EDA cont..</vt:lpstr>
      <vt:lpstr>EDA cont..</vt:lpstr>
      <vt:lpstr>EDA cont..</vt:lpstr>
      <vt:lpstr>EDA cont..</vt:lpstr>
      <vt:lpstr>EDA SUMMARY [INFERENCES]</vt:lpstr>
      <vt:lpstr>RFM Starts</vt:lpstr>
      <vt:lpstr>RFM (using KNIME)</vt:lpstr>
      <vt:lpstr>RFM (using KNIME) Inferences</vt:lpstr>
      <vt:lpstr>RFM (using KNIME) Inferences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MRA Project ML 1</dc:title>
  <dc:creator>Windows User</dc:creator>
  <cp:lastModifiedBy>Rajesh Mambulli</cp:lastModifiedBy>
  <cp:revision>7</cp:revision>
  <dcterms:created xsi:type="dcterms:W3CDTF">2021-05-25T13:38:16Z</dcterms:created>
  <dcterms:modified xsi:type="dcterms:W3CDTF">2025-06-15T13:30:59Z</dcterms:modified>
</cp:coreProperties>
</file>