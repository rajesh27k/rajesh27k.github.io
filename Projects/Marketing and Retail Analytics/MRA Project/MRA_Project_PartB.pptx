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19"/>
  </p:notesMasterIdLst>
  <p:sldIdLst>
    <p:sldId id="256" r:id="rId2"/>
    <p:sldId id="257" r:id="rId3"/>
    <p:sldId id="258" r:id="rId4"/>
    <p:sldId id="265" r:id="rId5"/>
    <p:sldId id="259" r:id="rId6"/>
    <p:sldId id="261" r:id="rId7"/>
    <p:sldId id="266" r:id="rId8"/>
    <p:sldId id="267" r:id="rId9"/>
    <p:sldId id="269" r:id="rId10"/>
    <p:sldId id="270" r:id="rId11"/>
    <p:sldId id="271" r:id="rId12"/>
    <p:sldId id="272" r:id="rId13"/>
    <p:sldId id="260" r:id="rId14"/>
    <p:sldId id="262" r:id="rId15"/>
    <p:sldId id="263" r:id="rId16"/>
    <p:sldId id="273"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62" d="100"/>
          <a:sy n="162" d="100"/>
        </p:scale>
        <p:origin x="26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4D0537-E5E5-4991-AC31-6B6CA72F82F8}" type="datetimeFigureOut">
              <a:rPr lang="en-IN" smtClean="0"/>
              <a:t>15-06-2025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723C38-0392-42CA-81D0-736B6389462C}" type="slidenum">
              <a:rPr lang="en-IN" smtClean="0"/>
              <a:t>‹#›</a:t>
            </a:fld>
            <a:endParaRPr lang="en-IN"/>
          </a:p>
        </p:txBody>
      </p:sp>
    </p:spTree>
    <p:extLst>
      <p:ext uri="{BB962C8B-B14F-4D97-AF65-F5344CB8AC3E}">
        <p14:creationId xmlns:p14="http://schemas.microsoft.com/office/powerpoint/2010/main" val="717414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423E8E-FC39-4963-B83B-F4C323B424FE}"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907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4EC98A-4DEA-4D1A-B5E4-853439C9B18B}"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6404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E465FA-57A7-4995-8760-5B42BDCB272A}"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3444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154331-E946-4A52-ACE7-4D36A7D7DBAF}" type="datetime1">
              <a:rPr lang="en-US" smtClean="0"/>
              <a:t>6/15/2025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0027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76AA81-1405-4E98-B5F6-6AE4B7312B5F}" type="datetime1">
              <a:rPr lang="en-US" smtClean="0"/>
              <a:t>6/15/2025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1121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BCE7F2-F5E9-4902-93CB-A76E8DF6225B}" type="datetime1">
              <a:rPr lang="en-US" smtClean="0"/>
              <a:t>6/15/2025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639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5B30F1C-D050-4706-A53B-80321CFA7B94}" type="datetime1">
              <a:rPr lang="en-US" smtClean="0"/>
              <a:t>6/15/2025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9441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05204-8CB3-4CF6-8389-CA25A078B16B}" type="datetime1">
              <a:rPr lang="en-US" smtClean="0"/>
              <a:t>6/15/2025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8493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26562-230A-465F-BB5D-EA547E3358F7}" type="datetime1">
              <a:rPr lang="en-US" smtClean="0"/>
              <a:t>6/15/2025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0534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3ACBFD-D54B-4141-BA81-1B60E055E6A9}"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40847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2DBF74-B1AE-46D5-9D2A-55DCCAEA32F3}" type="datetime1">
              <a:rPr lang="en-US" smtClean="0"/>
              <a:t>6/15/2025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9078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D13A96-267F-4B77-A15A-420352915D26}" type="datetime1">
              <a:rPr lang="en-US" smtClean="0"/>
              <a:t>6/15/2025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04971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MRA Project Part B</a:t>
            </a:r>
          </a:p>
        </p:txBody>
      </p:sp>
      <p:sp>
        <p:nvSpPr>
          <p:cNvPr id="3" name="Subtitle 2"/>
          <p:cNvSpPr>
            <a:spLocks noGrp="1"/>
          </p:cNvSpPr>
          <p:nvPr>
            <p:ph type="subTitle" idx="1"/>
          </p:nvPr>
        </p:nvSpPr>
        <p:spPr/>
        <p:txBody>
          <a:bodyPr>
            <a:normAutofit fontScale="85000" lnSpcReduction="20000"/>
          </a:bodyPr>
          <a:lstStyle/>
          <a:p>
            <a:r>
              <a:rPr lang="en-IN" dirty="0"/>
              <a:t>User name: Rajesh </a:t>
            </a:r>
            <a:r>
              <a:rPr lang="en-IN" dirty="0" err="1"/>
              <a:t>MAmbulli</a:t>
            </a:r>
            <a:endParaRPr lang="en-IN" dirty="0"/>
          </a:p>
          <a:p>
            <a:r>
              <a:rPr lang="en-IN" dirty="0"/>
              <a:t>batch: </a:t>
            </a:r>
            <a:r>
              <a:rPr lang="en-IN" b="1" dirty="0"/>
              <a:t>PGPDSBA.O.SEP24.A</a:t>
            </a:r>
            <a:endParaRPr lang="en-IN" dirty="0"/>
          </a:p>
          <a:p>
            <a:r>
              <a:rPr lang="en-IN" dirty="0"/>
              <a:t>Email: rajeshmambulli@icloud.com</a:t>
            </a:r>
          </a:p>
        </p:txBody>
      </p:sp>
      <p:sp>
        <p:nvSpPr>
          <p:cNvPr id="4" name="Slide Number Placeholder 3">
            <a:extLst>
              <a:ext uri="{FF2B5EF4-FFF2-40B4-BE49-F238E27FC236}">
                <a16:creationId xmlns:a16="http://schemas.microsoft.com/office/drawing/2014/main" id="{6CD5249D-8A2A-5D6A-16AE-C3EC9A19EB27}"/>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016520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 – Part B: Market Basket Analysis Using Association Rules</a:t>
            </a:r>
            <a:endParaRPr lang="en-IN" dirty="0"/>
          </a:p>
        </p:txBody>
      </p:sp>
      <p:sp>
        <p:nvSpPr>
          <p:cNvPr id="6" name="Rectangle 2">
            <a:extLst>
              <a:ext uri="{FF2B5EF4-FFF2-40B4-BE49-F238E27FC236}">
                <a16:creationId xmlns:a16="http://schemas.microsoft.com/office/drawing/2014/main" id="{D760A59B-9131-5B4D-2172-8BAC5BD2D08E}"/>
              </a:ext>
            </a:extLst>
          </p:cNvPr>
          <p:cNvSpPr>
            <a:spLocks noGrp="1" noChangeArrowheads="1"/>
          </p:cNvSpPr>
          <p:nvPr>
            <p:ph idx="1"/>
          </p:nvPr>
        </p:nvSpPr>
        <p:spPr bwMode="auto">
          <a:xfrm>
            <a:off x="1097280" y="1979978"/>
            <a:ext cx="1005840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Business Context</a:t>
            </a:r>
            <a:r>
              <a:rPr lang="en-US" altLang="en-US" sz="1400" dirty="0">
                <a:solidFill>
                  <a:schemeClr val="tx1"/>
                </a:solidFill>
              </a:rPr>
              <a:t>: </a:t>
            </a:r>
            <a:r>
              <a:rPr kumimoji="0" lang="en-US" altLang="en-US" sz="1400" b="0" i="0" u="none" strike="noStrike" cap="none" normalizeH="0" baseline="0" dirty="0">
                <a:ln>
                  <a:noFill/>
                </a:ln>
                <a:solidFill>
                  <a:schemeClr val="tx1"/>
                </a:solidFill>
                <a:effectLst/>
              </a:rPr>
              <a:t>Overview of the grocery retail environment and need for basket-level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Problem Statement &amp; Objectives</a:t>
            </a:r>
            <a:r>
              <a:rPr kumimoji="0" lang="en-US" altLang="en-US" sz="1400" b="0" i="0" u="none" strike="noStrike" cap="none" normalizeH="0" baseline="0" dirty="0">
                <a:ln>
                  <a:noFill/>
                </a:ln>
                <a:solidFill>
                  <a:schemeClr val="tx1"/>
                </a:solidFill>
                <a:effectLst/>
              </a:rPr>
              <a:t> Define the analytical challenge and goals—identifying item combinations to enhance sales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Data Understanding</a:t>
            </a:r>
            <a:r>
              <a:rPr kumimoji="0" lang="en-US" altLang="en-US" sz="1400" b="0" i="0" u="none" strike="noStrike" cap="none" normalizeH="0" baseline="0" dirty="0">
                <a:ln>
                  <a:noFill/>
                </a:ln>
                <a:solidFill>
                  <a:schemeClr val="tx1"/>
                </a:solidFill>
                <a:effectLst/>
              </a:rPr>
              <a:t> Structure and features of POS transactional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Methodology</a:t>
            </a:r>
            <a:r>
              <a:rPr kumimoji="0" lang="en-US" altLang="en-US" sz="1400" b="0" i="0" u="none" strike="noStrike" cap="none" normalizeH="0" baseline="0" dirty="0">
                <a:ln>
                  <a:noFill/>
                </a:ln>
                <a:solidFill>
                  <a:schemeClr val="tx1"/>
                </a:solidFill>
                <a:effectLst/>
              </a:rPr>
              <a:t> Approach for preprocessing, transaction grouping, and rule mining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4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Rule Mining Results</a:t>
            </a:r>
            <a:r>
              <a:rPr kumimoji="0" lang="en-US" altLang="en-US" sz="1400" b="0" i="0" u="none" strike="noStrike" cap="none" normalizeH="0" baseline="0" dirty="0">
                <a:ln>
                  <a:noFill/>
                </a:ln>
                <a:solidFill>
                  <a:schemeClr val="tx1"/>
                </a:solidFill>
                <a:effectLst/>
              </a:rPr>
              <a:t> Presentation of top frequent item sets and association rules with support, confidence, and lift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Insights from Item Combinations</a:t>
            </a:r>
            <a:r>
              <a:rPr kumimoji="0" lang="en-US" altLang="en-US" sz="1400" b="0" i="0" u="none" strike="noStrike" cap="none" normalizeH="0" baseline="0" dirty="0">
                <a:ln>
                  <a:noFill/>
                </a:ln>
                <a:solidFill>
                  <a:schemeClr val="tx1"/>
                </a:solidFill>
                <a:effectLst/>
              </a:rPr>
              <a:t> Interpretation of results—product affinities, complementary items, and strategic pairing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Marketing Strategy Recommendations</a:t>
            </a:r>
            <a:r>
              <a:rPr kumimoji="0" lang="en-US" altLang="en-US" sz="1400" b="0" i="0" u="none" strike="noStrike" cap="none" normalizeH="0" baseline="0" dirty="0">
                <a:ln>
                  <a:noFill/>
                </a:ln>
                <a:solidFill>
                  <a:schemeClr val="tx1"/>
                </a:solidFill>
                <a:effectLst/>
              </a:rPr>
              <a:t> Suggested combo offers, discount strategies, and placement tactics based on insights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KNIME Workflow Snapshot</a:t>
            </a:r>
            <a:r>
              <a:rPr kumimoji="0" lang="en-US" altLang="en-US" sz="1400" b="0" i="0" u="none" strike="noStrike" cap="none" normalizeH="0" baseline="0" dirty="0">
                <a:ln>
                  <a:noFill/>
                </a:ln>
                <a:solidFill>
                  <a:schemeClr val="tx1"/>
                </a:solidFill>
                <a:effectLst/>
              </a:rPr>
              <a:t> Overview of the workflow used for mining and visualization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Conclusion &amp; Business Impact</a:t>
            </a:r>
            <a:r>
              <a:rPr kumimoji="0" lang="en-US" altLang="en-US" sz="1400" b="0" i="0" u="none" strike="noStrike" cap="none" normalizeH="0" baseline="0" dirty="0">
                <a:ln>
                  <a:noFill/>
                </a:ln>
                <a:solidFill>
                  <a:schemeClr val="tx1"/>
                </a:solidFill>
                <a:effectLst/>
              </a:rPr>
              <a:t> Summary of findings and how they support profitability, loyalty, and operational efficiency</a:t>
            </a:r>
          </a:p>
        </p:txBody>
      </p:sp>
      <p:sp>
        <p:nvSpPr>
          <p:cNvPr id="7" name="Slide Number Placeholder 6">
            <a:extLst>
              <a:ext uri="{FF2B5EF4-FFF2-40B4-BE49-F238E27FC236}">
                <a16:creationId xmlns:a16="http://schemas.microsoft.com/office/drawing/2014/main" id="{342974B4-80E0-F5A2-3791-BA6CEE415A66}"/>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400977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22014"/>
            <a:ext cx="10058400" cy="1450757"/>
          </a:xfrm>
        </p:spPr>
        <p:txBody>
          <a:bodyPr/>
          <a:lstStyle/>
          <a:p>
            <a:r>
              <a:rPr lang="en-IN" dirty="0"/>
              <a:t>Business Overview</a:t>
            </a:r>
          </a:p>
        </p:txBody>
      </p:sp>
      <p:sp>
        <p:nvSpPr>
          <p:cNvPr id="3" name="Content Placeholder 2"/>
          <p:cNvSpPr>
            <a:spLocks noGrp="1"/>
          </p:cNvSpPr>
          <p:nvPr>
            <p:ph idx="1"/>
          </p:nvPr>
        </p:nvSpPr>
        <p:spPr>
          <a:xfrm>
            <a:off x="1173973" y="1772771"/>
            <a:ext cx="9905016" cy="4813300"/>
          </a:xfrm>
        </p:spPr>
        <p:txBody>
          <a:bodyPr>
            <a:noAutofit/>
          </a:bodyPr>
          <a:lstStyle/>
          <a:p>
            <a:pPr algn="just" fontAlgn="auto"/>
            <a:endParaRPr lang="en-US" dirty="0"/>
          </a:p>
          <a:p>
            <a:pPr algn="just" fontAlgn="auto"/>
            <a:endParaRPr lang="en-US" dirty="0"/>
          </a:p>
          <a:p>
            <a:pPr algn="just" fontAlgn="auto"/>
            <a:r>
              <a:rPr lang="en-US" dirty="0"/>
              <a:t>In the highly competitive grocery retail industry, understanding customer buying patterns is crucial for enhancing sales, increasing customer satisfaction, and improving profitability. By identifying frequently purchased item combinations, grocery stores can craft effective marketing strategies, optimize inventory management, and tailor promotions to meet customer needs. Leveraging Point of Sale (POS) data can unlock valuable insights that drive customer-centric offerings, such as combo packs, discounts, and targeted promotions, which can increase basket size and improve customer retention. This analysis aligns with business goals by maximizing revenue, reducing operational costs, and boosting customer loyalty.</a:t>
            </a:r>
            <a:endParaRPr lang="en-IN" sz="1200" dirty="0"/>
          </a:p>
        </p:txBody>
      </p:sp>
      <p:sp>
        <p:nvSpPr>
          <p:cNvPr id="4" name="Slide Number Placeholder 3">
            <a:extLst>
              <a:ext uri="{FF2B5EF4-FFF2-40B4-BE49-F238E27FC236}">
                <a16:creationId xmlns:a16="http://schemas.microsoft.com/office/drawing/2014/main" id="{8BCD6C64-174D-1B46-3D26-0AD99E8F0F3D}"/>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87461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27AC-8669-BEF6-2FEE-30463750E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79D8B-AEFA-89D1-EEDB-94D6FB3335FA}"/>
              </a:ext>
            </a:extLst>
          </p:cNvPr>
          <p:cNvSpPr>
            <a:spLocks noGrp="1"/>
          </p:cNvSpPr>
          <p:nvPr>
            <p:ph type="title"/>
          </p:nvPr>
        </p:nvSpPr>
        <p:spPr>
          <a:xfrm>
            <a:off x="1066800" y="322014"/>
            <a:ext cx="10058400" cy="1450757"/>
          </a:xfrm>
        </p:spPr>
        <p:txBody>
          <a:bodyPr/>
          <a:lstStyle/>
          <a:p>
            <a:r>
              <a:rPr lang="en-IN" dirty="0"/>
              <a:t>Problem Statement</a:t>
            </a:r>
          </a:p>
        </p:txBody>
      </p:sp>
      <p:sp>
        <p:nvSpPr>
          <p:cNvPr id="3" name="Content Placeholder 2">
            <a:extLst>
              <a:ext uri="{FF2B5EF4-FFF2-40B4-BE49-F238E27FC236}">
                <a16:creationId xmlns:a16="http://schemas.microsoft.com/office/drawing/2014/main" id="{53BB0564-9872-8085-1431-4991813265F1}"/>
              </a:ext>
            </a:extLst>
          </p:cNvPr>
          <p:cNvSpPr>
            <a:spLocks noGrp="1"/>
          </p:cNvSpPr>
          <p:nvPr>
            <p:ph idx="1"/>
          </p:nvPr>
        </p:nvSpPr>
        <p:spPr>
          <a:xfrm>
            <a:off x="1173973" y="1772771"/>
            <a:ext cx="9905016" cy="4813300"/>
          </a:xfrm>
        </p:spPr>
        <p:txBody>
          <a:bodyPr>
            <a:noAutofit/>
          </a:bodyPr>
          <a:lstStyle/>
          <a:p>
            <a:r>
              <a:rPr lang="en-US" b="1" dirty="0"/>
              <a:t>Objective:</a:t>
            </a:r>
            <a:endParaRPr lang="en-US" dirty="0"/>
          </a:p>
          <a:p>
            <a:pPr algn="just" fontAlgn="auto"/>
            <a:r>
              <a:rPr lang="en-US" dirty="0"/>
              <a:t>As a business analyst, the goal is to analyze the POS transactional data to identify frequently purchased item combinations. Using association rule mining or similar techniques, the aim is to uncover patterns that will help the store create targeted combo offers and discounts, ultimately driving revenue growth by increasing customer purchases and average basket size.</a:t>
            </a:r>
          </a:p>
          <a:p>
            <a:pPr marL="0" indent="0" algn="just" fontAlgn="auto">
              <a:buNone/>
            </a:pPr>
            <a:endParaRPr lang="en-US" dirty="0"/>
          </a:p>
        </p:txBody>
      </p:sp>
      <p:sp>
        <p:nvSpPr>
          <p:cNvPr id="4" name="Slide Number Placeholder 3">
            <a:extLst>
              <a:ext uri="{FF2B5EF4-FFF2-40B4-BE49-F238E27FC236}">
                <a16:creationId xmlns:a16="http://schemas.microsoft.com/office/drawing/2014/main" id="{043C4397-624C-BE70-943D-3F15F60DF14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002733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Description</a:t>
            </a:r>
          </a:p>
        </p:txBody>
      </p:sp>
      <p:sp>
        <p:nvSpPr>
          <p:cNvPr id="3" name="Content Placeholder 2"/>
          <p:cNvSpPr>
            <a:spLocks noGrp="1"/>
          </p:cNvSpPr>
          <p:nvPr>
            <p:ph idx="1"/>
          </p:nvPr>
        </p:nvSpPr>
        <p:spPr>
          <a:xfrm>
            <a:off x="1097280" y="1845734"/>
            <a:ext cx="10058400" cy="502209"/>
          </a:xfrm>
        </p:spPr>
        <p:txBody>
          <a:bodyPr>
            <a:noAutofit/>
          </a:bodyPr>
          <a:lstStyle/>
          <a:p>
            <a:pPr fontAlgn="auto"/>
            <a:r>
              <a:rPr lang="en-US" sz="1200" dirty="0"/>
              <a:t>The dataset provided contains three years of transactional data from the company, with each row representing a unique order. Below is an explanation of the key attributes:</a:t>
            </a:r>
          </a:p>
          <a:p>
            <a:endParaRPr lang="en-IN" sz="1200" dirty="0"/>
          </a:p>
        </p:txBody>
      </p:sp>
      <p:sp>
        <p:nvSpPr>
          <p:cNvPr id="4" name="TextBox 3">
            <a:extLst>
              <a:ext uri="{FF2B5EF4-FFF2-40B4-BE49-F238E27FC236}">
                <a16:creationId xmlns:a16="http://schemas.microsoft.com/office/drawing/2014/main" id="{4328382B-E211-C626-8C88-07229EE563C1}"/>
              </a:ext>
            </a:extLst>
          </p:cNvPr>
          <p:cNvSpPr txBox="1"/>
          <p:nvPr/>
        </p:nvSpPr>
        <p:spPr>
          <a:xfrm>
            <a:off x="1180408" y="2505670"/>
            <a:ext cx="6872748" cy="923330"/>
          </a:xfrm>
          <a:prstGeom prst="rect">
            <a:avLst/>
          </a:prstGeom>
          <a:noFill/>
        </p:spPr>
        <p:txBody>
          <a:bodyPr wrap="square" rtlCol="0">
            <a:spAutoFit/>
          </a:bodyPr>
          <a:lstStyle/>
          <a:p>
            <a:pPr fontAlgn="auto"/>
            <a:r>
              <a:rPr lang="en-US" b="1" dirty="0"/>
              <a:t>Date:</a:t>
            </a:r>
            <a:r>
              <a:rPr lang="en-US" dirty="0"/>
              <a:t> The date when the transaction took place.</a:t>
            </a:r>
          </a:p>
          <a:p>
            <a:pPr fontAlgn="auto"/>
            <a:r>
              <a:rPr lang="en-US" b="1" dirty="0" err="1"/>
              <a:t>Order_id</a:t>
            </a:r>
            <a:r>
              <a:rPr lang="en-US" b="1" dirty="0"/>
              <a:t>:</a:t>
            </a:r>
            <a:r>
              <a:rPr lang="en-US" dirty="0"/>
              <a:t> A unique identifier for each customer order.</a:t>
            </a:r>
          </a:p>
          <a:p>
            <a:pPr fontAlgn="auto"/>
            <a:r>
              <a:rPr lang="en-US" b="1" dirty="0"/>
              <a:t>Product:</a:t>
            </a:r>
            <a:r>
              <a:rPr lang="en-US" dirty="0"/>
              <a:t> The individual item purchased in the transaction.</a:t>
            </a:r>
          </a:p>
        </p:txBody>
      </p:sp>
      <p:sp>
        <p:nvSpPr>
          <p:cNvPr id="5" name="Slide Number Placeholder 4">
            <a:extLst>
              <a:ext uri="{FF2B5EF4-FFF2-40B4-BE49-F238E27FC236}">
                <a16:creationId xmlns:a16="http://schemas.microsoft.com/office/drawing/2014/main" id="{6F63770C-7983-5FC0-2C65-67B64611516E}"/>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762739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EDA STARTS</a:t>
            </a:r>
          </a:p>
        </p:txBody>
      </p:sp>
      <p:sp>
        <p:nvSpPr>
          <p:cNvPr id="8" name="TextBox 7">
            <a:extLst>
              <a:ext uri="{FF2B5EF4-FFF2-40B4-BE49-F238E27FC236}">
                <a16:creationId xmlns:a16="http://schemas.microsoft.com/office/drawing/2014/main" id="{7148F22A-8B50-DB42-BAFD-F0A04DC1D9C4}"/>
              </a:ext>
            </a:extLst>
          </p:cNvPr>
          <p:cNvSpPr txBox="1"/>
          <p:nvPr/>
        </p:nvSpPr>
        <p:spPr>
          <a:xfrm>
            <a:off x="1097280" y="5846261"/>
            <a:ext cx="7975928" cy="369332"/>
          </a:xfrm>
          <a:prstGeom prst="rect">
            <a:avLst/>
          </a:prstGeom>
          <a:noFill/>
        </p:spPr>
        <p:txBody>
          <a:bodyPr wrap="square" rtlCol="0">
            <a:spAutoFit/>
          </a:bodyPr>
          <a:lstStyle/>
          <a:p>
            <a:r>
              <a:rPr lang="en-IN" dirty="0"/>
              <a:t>This is Head and Tail of the provided Sales Data</a:t>
            </a:r>
          </a:p>
        </p:txBody>
      </p:sp>
      <p:pic>
        <p:nvPicPr>
          <p:cNvPr id="9" name="Content Placeholder 8">
            <a:extLst>
              <a:ext uri="{FF2B5EF4-FFF2-40B4-BE49-F238E27FC236}">
                <a16:creationId xmlns:a16="http://schemas.microsoft.com/office/drawing/2014/main" id="{D8602787-6EBC-D87F-005A-549DF4A10FA8}"/>
              </a:ext>
            </a:extLst>
          </p:cNvPr>
          <p:cNvPicPr>
            <a:picLocks noGrp="1" noChangeAspect="1"/>
          </p:cNvPicPr>
          <p:nvPr>
            <p:ph idx="1"/>
          </p:nvPr>
        </p:nvPicPr>
        <p:blipFill>
          <a:blip r:embed="rId2"/>
          <a:stretch>
            <a:fillRect/>
          </a:stretch>
        </p:blipFill>
        <p:spPr>
          <a:xfrm>
            <a:off x="2157573" y="2296177"/>
            <a:ext cx="2553056" cy="2991267"/>
          </a:xfrm>
        </p:spPr>
      </p:pic>
      <p:pic>
        <p:nvPicPr>
          <p:cNvPr id="11" name="Picture 10">
            <a:extLst>
              <a:ext uri="{FF2B5EF4-FFF2-40B4-BE49-F238E27FC236}">
                <a16:creationId xmlns:a16="http://schemas.microsoft.com/office/drawing/2014/main" id="{356785E2-31A9-CBB5-9BD4-3B7C4497D722}"/>
              </a:ext>
            </a:extLst>
          </p:cNvPr>
          <p:cNvPicPr>
            <a:picLocks noChangeAspect="1"/>
          </p:cNvPicPr>
          <p:nvPr/>
        </p:nvPicPr>
        <p:blipFill>
          <a:blip r:embed="rId3"/>
          <a:stretch>
            <a:fillRect/>
          </a:stretch>
        </p:blipFill>
        <p:spPr>
          <a:xfrm>
            <a:off x="7481372" y="2258071"/>
            <a:ext cx="2953162" cy="3029373"/>
          </a:xfrm>
          <a:prstGeom prst="rect">
            <a:avLst/>
          </a:prstGeom>
        </p:spPr>
      </p:pic>
      <p:sp>
        <p:nvSpPr>
          <p:cNvPr id="12" name="Slide Number Placeholder 11">
            <a:extLst>
              <a:ext uri="{FF2B5EF4-FFF2-40B4-BE49-F238E27FC236}">
                <a16:creationId xmlns:a16="http://schemas.microsoft.com/office/drawing/2014/main" id="{F73F568E-0400-0404-096B-0A298C507E55}"/>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48898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43CC-B8E3-2BB0-F1A4-776B84BDA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BAE5C-243C-82C1-C676-F4AEB6818841}"/>
              </a:ext>
            </a:extLst>
          </p:cNvPr>
          <p:cNvSpPr>
            <a:spLocks noGrp="1"/>
          </p:cNvSpPr>
          <p:nvPr>
            <p:ph type="title"/>
          </p:nvPr>
        </p:nvSpPr>
        <p:spPr/>
        <p:txBody>
          <a:bodyPr/>
          <a:lstStyle/>
          <a:p>
            <a:r>
              <a:rPr lang="en-IN" dirty="0"/>
              <a:t>EDA cont..</a:t>
            </a:r>
          </a:p>
        </p:txBody>
      </p:sp>
      <p:sp>
        <p:nvSpPr>
          <p:cNvPr id="8" name="TextBox 7">
            <a:extLst>
              <a:ext uri="{FF2B5EF4-FFF2-40B4-BE49-F238E27FC236}">
                <a16:creationId xmlns:a16="http://schemas.microsoft.com/office/drawing/2014/main" id="{92684217-081F-1FDB-FB3B-462F0058EBBC}"/>
              </a:ext>
            </a:extLst>
          </p:cNvPr>
          <p:cNvSpPr txBox="1"/>
          <p:nvPr/>
        </p:nvSpPr>
        <p:spPr>
          <a:xfrm>
            <a:off x="1097280" y="4776384"/>
            <a:ext cx="7975928" cy="738664"/>
          </a:xfrm>
          <a:prstGeom prst="rect">
            <a:avLst/>
          </a:prstGeom>
          <a:noFill/>
        </p:spPr>
        <p:txBody>
          <a:bodyPr wrap="square" rtlCol="0">
            <a:spAutoFit/>
          </a:bodyPr>
          <a:lstStyle/>
          <a:p>
            <a:pPr marL="285750" indent="-285750">
              <a:buFont typeface="Arial" panose="020B0604020202020204" pitchFamily="34" charset="0"/>
              <a:buChar char="•"/>
            </a:pPr>
            <a:r>
              <a:rPr lang="en-IN" sz="1400" dirty="0"/>
              <a:t>All the Datatypes are correct no intervention is required.</a:t>
            </a:r>
          </a:p>
          <a:p>
            <a:pPr marL="285750" indent="-285750">
              <a:buFont typeface="Arial" panose="020B0604020202020204" pitchFamily="34" charset="0"/>
              <a:buChar char="•"/>
            </a:pPr>
            <a:r>
              <a:rPr lang="en-IN" sz="1400" dirty="0"/>
              <a:t>Duplicates in the data, which need to be grouped</a:t>
            </a:r>
          </a:p>
          <a:p>
            <a:pPr marL="285750" indent="-285750">
              <a:buFont typeface="Arial" panose="020B0604020202020204" pitchFamily="34" charset="0"/>
              <a:buChar char="•"/>
            </a:pPr>
            <a:r>
              <a:rPr lang="en-IN" sz="1400" dirty="0"/>
              <a:t>No Missing values in the data</a:t>
            </a:r>
          </a:p>
        </p:txBody>
      </p:sp>
      <p:pic>
        <p:nvPicPr>
          <p:cNvPr id="4" name="Picture 3">
            <a:extLst>
              <a:ext uri="{FF2B5EF4-FFF2-40B4-BE49-F238E27FC236}">
                <a16:creationId xmlns:a16="http://schemas.microsoft.com/office/drawing/2014/main" id="{56B2D2DA-C2D1-47FA-ABF5-66932B884E32}"/>
              </a:ext>
            </a:extLst>
          </p:cNvPr>
          <p:cNvPicPr>
            <a:picLocks noChangeAspect="1"/>
          </p:cNvPicPr>
          <p:nvPr/>
        </p:nvPicPr>
        <p:blipFill>
          <a:blip r:embed="rId2"/>
          <a:stretch>
            <a:fillRect/>
          </a:stretch>
        </p:blipFill>
        <p:spPr>
          <a:xfrm>
            <a:off x="7980478" y="2994960"/>
            <a:ext cx="2610214" cy="1781424"/>
          </a:xfrm>
          <a:prstGeom prst="rect">
            <a:avLst/>
          </a:prstGeom>
        </p:spPr>
      </p:pic>
      <p:pic>
        <p:nvPicPr>
          <p:cNvPr id="10" name="Picture 9">
            <a:extLst>
              <a:ext uri="{FF2B5EF4-FFF2-40B4-BE49-F238E27FC236}">
                <a16:creationId xmlns:a16="http://schemas.microsoft.com/office/drawing/2014/main" id="{EA2C1432-004B-918C-E468-6564E55A9AC8}"/>
              </a:ext>
            </a:extLst>
          </p:cNvPr>
          <p:cNvPicPr>
            <a:picLocks noChangeAspect="1"/>
          </p:cNvPicPr>
          <p:nvPr/>
        </p:nvPicPr>
        <p:blipFill>
          <a:blip r:embed="rId3"/>
          <a:stretch>
            <a:fillRect/>
          </a:stretch>
        </p:blipFill>
        <p:spPr>
          <a:xfrm>
            <a:off x="1097280" y="1933579"/>
            <a:ext cx="3362794" cy="771633"/>
          </a:xfrm>
          <a:prstGeom prst="rect">
            <a:avLst/>
          </a:prstGeom>
        </p:spPr>
      </p:pic>
      <p:pic>
        <p:nvPicPr>
          <p:cNvPr id="17" name="Picture 16">
            <a:extLst>
              <a:ext uri="{FF2B5EF4-FFF2-40B4-BE49-F238E27FC236}">
                <a16:creationId xmlns:a16="http://schemas.microsoft.com/office/drawing/2014/main" id="{C985B26A-C489-19D7-2959-E3741CAC2726}"/>
              </a:ext>
            </a:extLst>
          </p:cNvPr>
          <p:cNvPicPr>
            <a:picLocks noChangeAspect="1"/>
          </p:cNvPicPr>
          <p:nvPr/>
        </p:nvPicPr>
        <p:blipFill>
          <a:blip r:embed="rId4"/>
          <a:stretch>
            <a:fillRect/>
          </a:stretch>
        </p:blipFill>
        <p:spPr>
          <a:xfrm>
            <a:off x="1097280" y="3211080"/>
            <a:ext cx="2610214" cy="1333686"/>
          </a:xfrm>
          <a:prstGeom prst="rect">
            <a:avLst/>
          </a:prstGeom>
        </p:spPr>
      </p:pic>
      <p:sp>
        <p:nvSpPr>
          <p:cNvPr id="18" name="Slide Number Placeholder 17">
            <a:extLst>
              <a:ext uri="{FF2B5EF4-FFF2-40B4-BE49-F238E27FC236}">
                <a16:creationId xmlns:a16="http://schemas.microsoft.com/office/drawing/2014/main" id="{34E14056-86B2-AB55-E7F2-4B020056A94F}"/>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44984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D69C9-1800-1995-E295-A76D3AE687B6}"/>
              </a:ext>
            </a:extLst>
          </p:cNvPr>
          <p:cNvSpPr>
            <a:spLocks noGrp="1"/>
          </p:cNvSpPr>
          <p:nvPr>
            <p:ph type="title"/>
          </p:nvPr>
        </p:nvSpPr>
        <p:spPr/>
        <p:txBody>
          <a:bodyPr/>
          <a:lstStyle/>
          <a:p>
            <a:r>
              <a:rPr lang="en-IN" dirty="0"/>
              <a:t>EDA cont..</a:t>
            </a:r>
          </a:p>
        </p:txBody>
      </p:sp>
      <p:pic>
        <p:nvPicPr>
          <p:cNvPr id="4" name="Picture 3">
            <a:extLst>
              <a:ext uri="{FF2B5EF4-FFF2-40B4-BE49-F238E27FC236}">
                <a16:creationId xmlns:a16="http://schemas.microsoft.com/office/drawing/2014/main" id="{FBC96D65-890B-E9EB-264B-BE49B47556A3}"/>
              </a:ext>
            </a:extLst>
          </p:cNvPr>
          <p:cNvPicPr>
            <a:picLocks noChangeAspect="1"/>
          </p:cNvPicPr>
          <p:nvPr/>
        </p:nvPicPr>
        <p:blipFill>
          <a:blip r:embed="rId2"/>
          <a:stretch>
            <a:fillRect/>
          </a:stretch>
        </p:blipFill>
        <p:spPr>
          <a:xfrm>
            <a:off x="5704676" y="2287755"/>
            <a:ext cx="5936568" cy="1450756"/>
          </a:xfrm>
          <a:prstGeom prst="rect">
            <a:avLst/>
          </a:prstGeom>
        </p:spPr>
      </p:pic>
      <p:sp>
        <p:nvSpPr>
          <p:cNvPr id="6" name="Rectangle 1">
            <a:extLst>
              <a:ext uri="{FF2B5EF4-FFF2-40B4-BE49-F238E27FC236}">
                <a16:creationId xmlns:a16="http://schemas.microsoft.com/office/drawing/2014/main" id="{2990E751-9118-9D5D-C529-5DE996D636AE}"/>
              </a:ext>
            </a:extLst>
          </p:cNvPr>
          <p:cNvSpPr>
            <a:spLocks noGrp="1" noChangeArrowheads="1"/>
          </p:cNvSpPr>
          <p:nvPr>
            <p:ph idx="1"/>
          </p:nvPr>
        </p:nvSpPr>
        <p:spPr bwMode="auto">
          <a:xfrm>
            <a:off x="990774" y="2395477"/>
            <a:ext cx="4607713"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Dataset Size: </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A total of </a:t>
            </a:r>
            <a:r>
              <a:rPr kumimoji="0" lang="en-US" altLang="en-US" sz="800" b="1" i="0" u="none" strike="noStrike" cap="none" normalizeH="0" baseline="0" dirty="0">
                <a:ln>
                  <a:noFill/>
                </a:ln>
                <a:solidFill>
                  <a:schemeClr val="tx1"/>
                </a:solidFill>
                <a:effectLst/>
              </a:rPr>
              <a:t>20,641 product-level transactions</a:t>
            </a:r>
            <a:r>
              <a:rPr kumimoji="0" lang="en-US" altLang="en-US" sz="800" b="0" i="0" u="none" strike="noStrike" cap="none" normalizeH="0" baseline="0" dirty="0">
                <a:ln>
                  <a:noFill/>
                </a:ln>
                <a:solidFill>
                  <a:schemeClr val="tx1"/>
                </a:solidFill>
                <a:effectLst/>
              </a:rPr>
              <a:t> across </a:t>
            </a:r>
            <a:r>
              <a:rPr kumimoji="0" lang="en-US" altLang="en-US" sz="800" b="1" i="0" u="none" strike="noStrike" cap="none" normalizeH="0" baseline="0" dirty="0">
                <a:ln>
                  <a:noFill/>
                </a:ln>
                <a:solidFill>
                  <a:schemeClr val="tx1"/>
                </a:solidFill>
                <a:effectLst/>
              </a:rPr>
              <a:t>603 unique dates</a:t>
            </a:r>
            <a:r>
              <a:rPr kumimoji="0" lang="en-US" altLang="en-US" sz="800" b="0" i="0" u="none" strike="noStrike" cap="none" normalizeH="0" baseline="0" dirty="0">
                <a:ln>
                  <a:noFill/>
                </a:ln>
                <a:solidFill>
                  <a:schemeClr val="tx1"/>
                </a:solidFill>
                <a:effectLst/>
              </a:rPr>
              <a:t> provides a substantial and well-spread foundation for basket analysis.</a:t>
            </a:r>
            <a:endParaRPr lang="en-US" altLang="en-US" sz="800" dirty="0">
              <a:solidFill>
                <a:schemeClr val="tx1"/>
              </a:solidFill>
            </a:endParaRP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Order-Level Insights</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There are approximately </a:t>
            </a:r>
            <a:r>
              <a:rPr kumimoji="0" lang="en-US" altLang="en-US" sz="800" b="1" i="0" u="none" strike="noStrike" cap="none" normalizeH="0" baseline="0" dirty="0">
                <a:ln>
                  <a:noFill/>
                </a:ln>
                <a:solidFill>
                  <a:schemeClr val="tx1"/>
                </a:solidFill>
                <a:effectLst/>
              </a:rPr>
              <a:t>1,139 unique orders</a:t>
            </a:r>
            <a:r>
              <a:rPr kumimoji="0" lang="en-US" altLang="en-US" sz="800" b="0" i="0" u="none" strike="noStrike" cap="none" normalizeH="0" baseline="0" dirty="0">
                <a:ln>
                  <a:noFill/>
                </a:ln>
                <a:solidFill>
                  <a:schemeClr val="tx1"/>
                </a:solidFill>
                <a:effectLst/>
              </a:rPr>
              <a:t>, with a fairly even distribution:</a:t>
            </a:r>
          </a:p>
          <a:p>
            <a:pPr marL="640080" lvl="2" indent="0" eaLnBrk="0" fontAlgn="base" hangingPunct="0">
              <a:lnSpc>
                <a:spcPct val="100000"/>
              </a:lnSpc>
              <a:spcBef>
                <a:spcPct val="0"/>
              </a:spcBef>
              <a:spcAft>
                <a:spcPct val="0"/>
              </a:spcAft>
              <a:buClrTx/>
              <a:buFontTx/>
              <a:buChar char="•"/>
            </a:pPr>
            <a:r>
              <a:rPr kumimoji="0" lang="en-US" altLang="en-US" sz="600" b="1" i="0" u="none" strike="noStrike" cap="none" normalizeH="0" baseline="0" dirty="0">
                <a:ln>
                  <a:noFill/>
                </a:ln>
                <a:solidFill>
                  <a:schemeClr val="tx1"/>
                </a:solidFill>
                <a:effectLst/>
              </a:rPr>
              <a:t>Median Order ID: 581</a:t>
            </a:r>
            <a:r>
              <a:rPr kumimoji="0" lang="en-US" altLang="en-US" sz="600" b="0" i="0" u="none" strike="noStrike" cap="none" normalizeH="0" baseline="0" dirty="0">
                <a:ln>
                  <a:noFill/>
                </a:ln>
                <a:solidFill>
                  <a:schemeClr val="tx1"/>
                </a:solidFill>
                <a:effectLst/>
              </a:rPr>
              <a:t>,</a:t>
            </a:r>
          </a:p>
          <a:p>
            <a:pPr marL="640080" lvl="2" indent="0" eaLnBrk="0" fontAlgn="base" hangingPunct="0">
              <a:lnSpc>
                <a:spcPct val="100000"/>
              </a:lnSpc>
              <a:spcBef>
                <a:spcPct val="0"/>
              </a:spcBef>
              <a:spcAft>
                <a:spcPct val="0"/>
              </a:spcAft>
              <a:buClrTx/>
              <a:buFontTx/>
              <a:buChar char="•"/>
            </a:pPr>
            <a:r>
              <a:rPr kumimoji="0" lang="en-US" altLang="en-US" sz="600" b="1" i="0" u="none" strike="noStrike" cap="none" normalizeH="0" baseline="0" dirty="0">
                <a:ln>
                  <a:noFill/>
                </a:ln>
                <a:solidFill>
                  <a:schemeClr val="tx1"/>
                </a:solidFill>
                <a:effectLst/>
              </a:rPr>
              <a:t>25% of orders below 292</a:t>
            </a:r>
            <a:r>
              <a:rPr kumimoji="0" lang="en-US" altLang="en-US" sz="600" b="0" i="0" u="none" strike="noStrike" cap="none" normalizeH="0" baseline="0" dirty="0">
                <a:ln>
                  <a:noFill/>
                </a:ln>
                <a:solidFill>
                  <a:schemeClr val="tx1"/>
                </a:solidFill>
                <a:effectLst/>
              </a:rPr>
              <a:t>, and</a:t>
            </a:r>
          </a:p>
          <a:p>
            <a:pPr marL="640080" lvl="2" indent="0" eaLnBrk="0" fontAlgn="base" hangingPunct="0">
              <a:lnSpc>
                <a:spcPct val="100000"/>
              </a:lnSpc>
              <a:spcBef>
                <a:spcPct val="0"/>
              </a:spcBef>
              <a:spcAft>
                <a:spcPct val="0"/>
              </a:spcAft>
              <a:buClrTx/>
              <a:buFontTx/>
              <a:buChar char="•"/>
            </a:pPr>
            <a:r>
              <a:rPr kumimoji="0" lang="en-US" altLang="en-US" sz="600" b="1" i="0" u="none" strike="noStrike" cap="none" normalizeH="0" baseline="0" dirty="0">
                <a:ln>
                  <a:noFill/>
                </a:ln>
                <a:solidFill>
                  <a:schemeClr val="tx1"/>
                </a:solidFill>
                <a:effectLst/>
              </a:rPr>
              <a:t>Top quartile above 862</a:t>
            </a:r>
            <a:r>
              <a:rPr kumimoji="0" lang="en-US" altLang="en-US" sz="600" b="0" i="0" u="none" strike="noStrike" cap="none" normalizeH="0" baseline="0" dirty="0">
                <a:ln>
                  <a:noFill/>
                </a:ln>
                <a:solidFill>
                  <a:schemeClr val="tx1"/>
                </a:solidFill>
                <a:effectLst/>
              </a:rPr>
              <a:t>.</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This range reflects a healthy mix of new and returning customers over time.</a:t>
            </a: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Temporal Demand Pattern</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The most active day is </a:t>
            </a:r>
            <a:r>
              <a:rPr kumimoji="0" lang="en-US" altLang="en-US" sz="800" b="1" i="0" u="none" strike="noStrike" cap="none" normalizeH="0" baseline="0" dirty="0">
                <a:ln>
                  <a:noFill/>
                </a:ln>
                <a:solidFill>
                  <a:schemeClr val="tx1"/>
                </a:solidFill>
                <a:effectLst/>
              </a:rPr>
              <a:t>08-02-2019</a:t>
            </a:r>
            <a:r>
              <a:rPr kumimoji="0" lang="en-US" altLang="en-US" sz="800" b="0" i="0" u="none" strike="noStrike" cap="none" normalizeH="0" baseline="0" dirty="0">
                <a:ln>
                  <a:noFill/>
                </a:ln>
                <a:solidFill>
                  <a:schemeClr val="tx1"/>
                </a:solidFill>
                <a:effectLst/>
              </a:rPr>
              <a:t>, with </a:t>
            </a:r>
            <a:r>
              <a:rPr kumimoji="0" lang="en-US" altLang="en-US" sz="800" b="1" i="0" u="none" strike="noStrike" cap="none" normalizeH="0" baseline="0" dirty="0">
                <a:ln>
                  <a:noFill/>
                </a:ln>
                <a:solidFill>
                  <a:schemeClr val="tx1"/>
                </a:solidFill>
                <a:effectLst/>
              </a:rPr>
              <a:t>183 items sold</a:t>
            </a:r>
            <a:r>
              <a:rPr kumimoji="0" lang="en-US" altLang="en-US" sz="800" b="0" i="0" u="none" strike="noStrike" cap="none" normalizeH="0" baseline="0" dirty="0">
                <a:ln>
                  <a:noFill/>
                </a:ln>
                <a:solidFill>
                  <a:schemeClr val="tx1"/>
                </a:solidFill>
                <a:effectLst/>
              </a:rPr>
              <a:t>—suggesting a spike worth further investigation (campaign, promotion, seasonality?).</a:t>
            </a:r>
            <a:endParaRPr lang="en-US" altLang="en-US" sz="800" dirty="0">
              <a:solidFill>
                <a:schemeClr val="tx1"/>
              </a:solidFill>
            </a:endParaRP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Product Popularity</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1" i="0" u="none" strike="noStrike" cap="none" normalizeH="0" baseline="0" dirty="0">
                <a:ln>
                  <a:noFill/>
                </a:ln>
                <a:solidFill>
                  <a:schemeClr val="tx1"/>
                </a:solidFill>
                <a:effectLst/>
              </a:rPr>
              <a:t>37 unique products</a:t>
            </a:r>
            <a:r>
              <a:rPr kumimoji="0" lang="en-US" altLang="en-US" sz="800" b="0" i="0" u="none" strike="noStrike" cap="none" normalizeH="0" baseline="0" dirty="0">
                <a:ln>
                  <a:noFill/>
                </a:ln>
                <a:solidFill>
                  <a:schemeClr val="tx1"/>
                </a:solidFill>
                <a:effectLst/>
              </a:rPr>
              <a:t> are sold, with </a:t>
            </a:r>
            <a:r>
              <a:rPr kumimoji="0" lang="en-US" altLang="en-US" sz="800" b="1" i="0" u="none" strike="noStrike" cap="none" normalizeH="0" baseline="0" dirty="0">
                <a:ln>
                  <a:noFill/>
                </a:ln>
                <a:solidFill>
                  <a:schemeClr val="tx1"/>
                </a:solidFill>
                <a:effectLst/>
              </a:rPr>
              <a:t>poultry</a:t>
            </a:r>
            <a:r>
              <a:rPr kumimoji="0" lang="en-US" altLang="en-US" sz="800" b="0" i="0" u="none" strike="noStrike" cap="none" normalizeH="0" baseline="0" dirty="0">
                <a:ln>
                  <a:noFill/>
                </a:ln>
                <a:solidFill>
                  <a:schemeClr val="tx1"/>
                </a:solidFill>
                <a:effectLst/>
              </a:rPr>
              <a:t> being the most frequent, appearing </a:t>
            </a:r>
            <a:r>
              <a:rPr kumimoji="0" lang="en-US" altLang="en-US" sz="800" b="1" i="0" u="none" strike="noStrike" cap="none" normalizeH="0" baseline="0" dirty="0">
                <a:ln>
                  <a:noFill/>
                </a:ln>
                <a:solidFill>
                  <a:schemeClr val="tx1"/>
                </a:solidFill>
                <a:effectLst/>
              </a:rPr>
              <a:t>640 times</a:t>
            </a:r>
            <a:r>
              <a:rPr kumimoji="0" lang="en-US" altLang="en-US" sz="800" b="0" i="0" u="none" strike="noStrike" cap="none" normalizeH="0" baseline="0" dirty="0">
                <a:ln>
                  <a:noFill/>
                </a:ln>
                <a:solidFill>
                  <a:schemeClr val="tx1"/>
                </a:solidFill>
                <a:effectLst/>
              </a:rPr>
              <a:t>—making it a strong candidate for combo deals or feature placement in promotions.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p:txBody>
      </p:sp>
      <p:sp>
        <p:nvSpPr>
          <p:cNvPr id="7" name="Slide Number Placeholder 6">
            <a:extLst>
              <a:ext uri="{FF2B5EF4-FFF2-40B4-BE49-F238E27FC236}">
                <a16:creationId xmlns:a16="http://schemas.microsoft.com/office/drawing/2014/main" id="{E6BF1D38-C239-CF48-4DD3-9CC00E59ADB3}"/>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246163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21AA-8433-081E-53B5-941D83131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9A2DB-1676-4774-4D1D-F2ED13B0257E}"/>
              </a:ext>
            </a:extLst>
          </p:cNvPr>
          <p:cNvSpPr>
            <a:spLocks noGrp="1"/>
          </p:cNvSpPr>
          <p:nvPr>
            <p:ph type="title"/>
          </p:nvPr>
        </p:nvSpPr>
        <p:spPr/>
        <p:txBody>
          <a:bodyPr/>
          <a:lstStyle/>
          <a:p>
            <a:r>
              <a:rPr lang="en-IN" dirty="0"/>
              <a:t>EDA cont..</a:t>
            </a:r>
          </a:p>
        </p:txBody>
      </p:sp>
      <p:sp>
        <p:nvSpPr>
          <p:cNvPr id="3" name="Slide Number Placeholder 2">
            <a:extLst>
              <a:ext uri="{FF2B5EF4-FFF2-40B4-BE49-F238E27FC236}">
                <a16:creationId xmlns:a16="http://schemas.microsoft.com/office/drawing/2014/main" id="{AC59FDCD-FE62-B9F7-D46F-4FC83699F7E5}"/>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6" name="Picture 5">
            <a:extLst>
              <a:ext uri="{FF2B5EF4-FFF2-40B4-BE49-F238E27FC236}">
                <a16:creationId xmlns:a16="http://schemas.microsoft.com/office/drawing/2014/main" id="{E445D9E4-3242-1567-A480-88021CE7A2F2}"/>
              </a:ext>
            </a:extLst>
          </p:cNvPr>
          <p:cNvPicPr>
            <a:picLocks noChangeAspect="1"/>
          </p:cNvPicPr>
          <p:nvPr/>
        </p:nvPicPr>
        <p:blipFill>
          <a:blip r:embed="rId2"/>
          <a:stretch>
            <a:fillRect/>
          </a:stretch>
        </p:blipFill>
        <p:spPr>
          <a:xfrm>
            <a:off x="5112551" y="1849996"/>
            <a:ext cx="6099932" cy="4013596"/>
          </a:xfrm>
          <a:prstGeom prst="rect">
            <a:avLst/>
          </a:prstGeom>
        </p:spPr>
      </p:pic>
      <p:sp>
        <p:nvSpPr>
          <p:cNvPr id="9" name="Rectangle 2">
            <a:extLst>
              <a:ext uri="{FF2B5EF4-FFF2-40B4-BE49-F238E27FC236}">
                <a16:creationId xmlns:a16="http://schemas.microsoft.com/office/drawing/2014/main" id="{AFDE521C-5E44-EBB2-B197-99DB6219C1E6}"/>
              </a:ext>
            </a:extLst>
          </p:cNvPr>
          <p:cNvSpPr>
            <a:spLocks noGrp="1" noChangeArrowheads="1"/>
          </p:cNvSpPr>
          <p:nvPr>
            <p:ph idx="1"/>
          </p:nvPr>
        </p:nvSpPr>
        <p:spPr bwMode="auto">
          <a:xfrm>
            <a:off x="1144588" y="2421652"/>
            <a:ext cx="3740078"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Top-Selling Item</a:t>
            </a:r>
            <a:r>
              <a:rPr kumimoji="0" lang="en-US" altLang="en-US" sz="1000" b="0" i="0" u="none" strike="noStrike" cap="none" normalizeH="0" baseline="0" dirty="0">
                <a:ln>
                  <a:noFill/>
                </a:ln>
                <a:solidFill>
                  <a:schemeClr val="tx1"/>
                </a:solidFill>
                <a:effectLst/>
              </a:rPr>
              <a:t>: </a:t>
            </a:r>
            <a:r>
              <a:rPr kumimoji="0" lang="en-US" altLang="en-US" sz="1000" b="0" i="1" u="none" strike="noStrike" cap="none" normalizeH="0" baseline="0" dirty="0">
                <a:ln>
                  <a:noFill/>
                </a:ln>
                <a:solidFill>
                  <a:schemeClr val="tx1"/>
                </a:solidFill>
                <a:effectLst/>
              </a:rPr>
              <a:t>Poultry</a:t>
            </a:r>
            <a:r>
              <a:rPr kumimoji="0" lang="en-US" altLang="en-US" sz="1000" b="0" i="0" u="none" strike="noStrike" cap="none" normalizeH="0" baseline="0" dirty="0">
                <a:ln>
                  <a:noFill/>
                </a:ln>
                <a:solidFill>
                  <a:schemeClr val="tx1"/>
                </a:solidFill>
                <a:effectLst/>
              </a:rPr>
              <a:t> leads significantly with over </a:t>
            </a:r>
            <a:r>
              <a:rPr kumimoji="0" lang="en-US" altLang="en-US" sz="1000" b="1" i="0" u="none" strike="noStrike" cap="none" normalizeH="0" baseline="0" dirty="0">
                <a:ln>
                  <a:noFill/>
                </a:ln>
                <a:solidFill>
                  <a:schemeClr val="tx1"/>
                </a:solidFill>
                <a:effectLst/>
              </a:rPr>
              <a:t>640 units sold</a:t>
            </a:r>
            <a:r>
              <a:rPr kumimoji="0" lang="en-US" altLang="en-US" sz="1000" b="0" i="0" u="none" strike="noStrike" cap="none" normalizeH="0" baseline="0" dirty="0">
                <a:ln>
                  <a:noFill/>
                </a:ln>
                <a:solidFill>
                  <a:schemeClr val="tx1"/>
                </a:solidFill>
                <a:effectLst/>
              </a:rPr>
              <a:t>, establishing it as the most frequently purchased product—an excellent candidate for promotional combos or feature placement.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High-Demand Staples</a:t>
            </a:r>
            <a:r>
              <a:rPr kumimoji="0" lang="en-US" altLang="en-US" sz="1000" b="0" i="0" u="none" strike="noStrike" cap="none" normalizeH="0" baseline="0" dirty="0">
                <a:ln>
                  <a:noFill/>
                </a:ln>
                <a:solidFill>
                  <a:schemeClr val="tx1"/>
                </a:solidFill>
                <a:effectLst/>
              </a:rPr>
              <a:t>: Products like </a:t>
            </a:r>
            <a:r>
              <a:rPr kumimoji="0" lang="en-US" altLang="en-US" sz="1000" b="0" i="1" u="none" strike="noStrike" cap="none" normalizeH="0" baseline="0" dirty="0">
                <a:ln>
                  <a:noFill/>
                </a:ln>
                <a:solidFill>
                  <a:schemeClr val="tx1"/>
                </a:solidFill>
                <a:effectLst/>
              </a:rPr>
              <a:t>soda, cereals, ice cream, cheeses,</a:t>
            </a:r>
            <a:r>
              <a:rPr kumimoji="0" lang="en-US" altLang="en-US" sz="1000" b="0" i="0" u="none" strike="noStrike" cap="none" normalizeH="0" baseline="0" dirty="0">
                <a:ln>
                  <a:noFill/>
                </a:ln>
                <a:solidFill>
                  <a:schemeClr val="tx1"/>
                </a:solidFill>
                <a:effectLst/>
              </a:rPr>
              <a:t> and </a:t>
            </a:r>
            <a:r>
              <a:rPr kumimoji="0" lang="en-US" altLang="en-US" sz="1000" b="0" i="1" u="none" strike="noStrike" cap="none" normalizeH="0" baseline="0" dirty="0">
                <a:ln>
                  <a:noFill/>
                </a:ln>
                <a:solidFill>
                  <a:schemeClr val="tx1"/>
                </a:solidFill>
                <a:effectLst/>
              </a:rPr>
              <a:t>waffles</a:t>
            </a:r>
            <a:r>
              <a:rPr kumimoji="0" lang="en-US" altLang="en-US" sz="1000" b="0" i="0" u="none" strike="noStrike" cap="none" normalizeH="0" baseline="0" dirty="0">
                <a:ln>
                  <a:noFill/>
                </a:ln>
                <a:solidFill>
                  <a:schemeClr val="tx1"/>
                </a:solidFill>
                <a:effectLst/>
              </a:rPr>
              <a:t> also show strong sales volumes (</a:t>
            </a:r>
            <a:r>
              <a:rPr kumimoji="0" lang="en-US" altLang="en-US" sz="1000" b="1" i="0" u="none" strike="noStrike" cap="none" normalizeH="0" baseline="0" dirty="0">
                <a:ln>
                  <a:noFill/>
                </a:ln>
                <a:solidFill>
                  <a:schemeClr val="tx1"/>
                </a:solidFill>
                <a:effectLst/>
              </a:rPr>
              <a:t>500–600 units</a:t>
            </a:r>
            <a:r>
              <a:rPr kumimoji="0" lang="en-US" altLang="en-US" sz="1000" b="0" i="0" u="none" strike="noStrike" cap="none" normalizeH="0" baseline="0" dirty="0">
                <a:ln>
                  <a:noFill/>
                </a:ln>
                <a:solidFill>
                  <a:schemeClr val="tx1"/>
                </a:solidFill>
                <a:effectLst/>
              </a:rPr>
              <a:t>), suggesting they form the core of recurring shopping baskets.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Diverse Basket Composition</a:t>
            </a:r>
            <a:r>
              <a:rPr kumimoji="0" lang="en-US" altLang="en-US" sz="1000" b="0" i="0" u="none" strike="noStrike" cap="none" normalizeH="0" baseline="0" dirty="0">
                <a:ln>
                  <a:noFill/>
                </a:ln>
                <a:solidFill>
                  <a:schemeClr val="tx1"/>
                </a:solidFill>
                <a:effectLst/>
              </a:rPr>
              <a:t>: A wide range of items—spanning </a:t>
            </a:r>
            <a:r>
              <a:rPr kumimoji="0" lang="en-US" altLang="en-US" sz="1000" b="1" i="0" u="none" strike="noStrike" cap="none" normalizeH="0" baseline="0" dirty="0">
                <a:ln>
                  <a:noFill/>
                </a:ln>
                <a:solidFill>
                  <a:schemeClr val="tx1"/>
                </a:solidFill>
                <a:effectLst/>
              </a:rPr>
              <a:t>breakfast (bagels, eggs), beverages (juice, coffee/tea), and hygiene (soap, toilet paper, shampoo)</a:t>
            </a:r>
            <a:r>
              <a:rPr kumimoji="0" lang="en-US" altLang="en-US" sz="1000" b="0" i="0" u="none" strike="noStrike" cap="none" normalizeH="0" baseline="0" dirty="0">
                <a:ln>
                  <a:noFill/>
                </a:ln>
                <a:solidFill>
                  <a:schemeClr val="tx1"/>
                </a:solidFill>
                <a:effectLst/>
              </a:rPr>
              <a:t>—indicates broad category engagement and cross-selling potential.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Marketing Opportunity</a:t>
            </a:r>
            <a:r>
              <a:rPr kumimoji="0" lang="en-US" altLang="en-US" sz="1000" b="0" i="0" u="none" strike="noStrike" cap="none" normalizeH="0" baseline="0" dirty="0">
                <a:ln>
                  <a:noFill/>
                </a:ln>
                <a:solidFill>
                  <a:schemeClr val="tx1"/>
                </a:solidFill>
                <a:effectLst/>
              </a:rPr>
              <a:t>: Frequent co-occurrence of staple goods and household items opens the door for </a:t>
            </a:r>
            <a:r>
              <a:rPr kumimoji="0" lang="en-US" altLang="en-US" sz="1000" b="1" i="0" u="none" strike="noStrike" cap="none" normalizeH="0" baseline="0" dirty="0">
                <a:ln>
                  <a:noFill/>
                </a:ln>
                <a:solidFill>
                  <a:schemeClr val="tx1"/>
                </a:solidFill>
                <a:effectLst/>
              </a:rPr>
              <a:t>multi-category combo deals</a:t>
            </a:r>
            <a:r>
              <a:rPr kumimoji="0" lang="en-US" altLang="en-US" sz="1000" b="0" i="0" u="none" strike="noStrike" cap="none" normalizeH="0" baseline="0" dirty="0">
                <a:ln>
                  <a:noFill/>
                </a:ln>
                <a:solidFill>
                  <a:schemeClr val="tx1"/>
                </a:solidFill>
                <a:effectLst/>
              </a:rPr>
              <a:t> (e.g., pairing beverages with breakfast items or hygiene products with pantry staples).</a:t>
            </a:r>
          </a:p>
        </p:txBody>
      </p:sp>
    </p:spTree>
    <p:extLst>
      <p:ext uri="{BB962C8B-B14F-4D97-AF65-F5344CB8AC3E}">
        <p14:creationId xmlns:p14="http://schemas.microsoft.com/office/powerpoint/2010/main" val="705203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DFB0-41BE-2F05-E9E2-1DF8E88A1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856E1-B535-66B7-C60A-689E722DDBB7}"/>
              </a:ext>
            </a:extLst>
          </p:cNvPr>
          <p:cNvSpPr>
            <a:spLocks noGrp="1"/>
          </p:cNvSpPr>
          <p:nvPr>
            <p:ph type="title"/>
          </p:nvPr>
        </p:nvSpPr>
        <p:spPr/>
        <p:txBody>
          <a:bodyPr/>
          <a:lstStyle/>
          <a:p>
            <a:r>
              <a:rPr lang="en-IN" dirty="0"/>
              <a:t>EDA cont..</a:t>
            </a:r>
          </a:p>
        </p:txBody>
      </p:sp>
      <p:sp>
        <p:nvSpPr>
          <p:cNvPr id="16" name="Rectangle 4">
            <a:extLst>
              <a:ext uri="{FF2B5EF4-FFF2-40B4-BE49-F238E27FC236}">
                <a16:creationId xmlns:a16="http://schemas.microsoft.com/office/drawing/2014/main" id="{C5630F2D-9EA4-64AB-A2EE-35FF99F95A44}"/>
              </a:ext>
            </a:extLst>
          </p:cNvPr>
          <p:cNvSpPr>
            <a:spLocks noGrp="1" noChangeArrowheads="1"/>
          </p:cNvSpPr>
          <p:nvPr>
            <p:ph idx="1"/>
          </p:nvPr>
        </p:nvSpPr>
        <p:spPr bwMode="auto">
          <a:xfrm>
            <a:off x="1144117" y="3600664"/>
            <a:ext cx="2980381" cy="349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01168" lvl="1" indent="0" algn="just">
              <a:buClrTx/>
              <a:buNone/>
            </a:pPr>
            <a:endParaRPr lang="en-US" altLang="en-US" sz="600" dirty="0">
              <a:solidFill>
                <a:schemeClr val="tx1"/>
              </a:solidFill>
            </a:endParaRPr>
          </a:p>
          <a:p>
            <a:pPr marL="292608" lvl="1" indent="0" algn="just" eaLnBrk="0" fontAlgn="base" hangingPunct="0">
              <a:lnSpc>
                <a:spcPct val="100000"/>
              </a:lnSpc>
              <a:spcBef>
                <a:spcPct val="0"/>
              </a:spcBef>
              <a:spcAft>
                <a:spcPct val="0"/>
              </a:spcAft>
              <a:buClrTx/>
              <a:buFontTx/>
              <a:buChar char="•"/>
            </a:pPr>
            <a:endParaRPr lang="en-US" altLang="en-US" sz="800" dirty="0">
              <a:solidFill>
                <a:schemeClr val="tx1"/>
              </a:solidFill>
            </a:endParaRPr>
          </a:p>
        </p:txBody>
      </p:sp>
      <p:sp>
        <p:nvSpPr>
          <p:cNvPr id="3" name="Slide Number Placeholder 2">
            <a:extLst>
              <a:ext uri="{FF2B5EF4-FFF2-40B4-BE49-F238E27FC236}">
                <a16:creationId xmlns:a16="http://schemas.microsoft.com/office/drawing/2014/main" id="{244CAB1D-3B78-12A5-6A77-59311E46580D}"/>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6" name="Picture 5">
            <a:extLst>
              <a:ext uri="{FF2B5EF4-FFF2-40B4-BE49-F238E27FC236}">
                <a16:creationId xmlns:a16="http://schemas.microsoft.com/office/drawing/2014/main" id="{89B94E35-4DC4-9E4A-B107-8556D5BD157C}"/>
              </a:ext>
            </a:extLst>
          </p:cNvPr>
          <p:cNvPicPr>
            <a:picLocks noChangeAspect="1"/>
          </p:cNvPicPr>
          <p:nvPr/>
        </p:nvPicPr>
        <p:blipFill>
          <a:blip r:embed="rId2"/>
          <a:stretch>
            <a:fillRect/>
          </a:stretch>
        </p:blipFill>
        <p:spPr>
          <a:xfrm>
            <a:off x="5681078" y="2605979"/>
            <a:ext cx="5586689" cy="2200582"/>
          </a:xfrm>
          <a:prstGeom prst="rect">
            <a:avLst/>
          </a:prstGeom>
        </p:spPr>
      </p:pic>
      <p:sp>
        <p:nvSpPr>
          <p:cNvPr id="9" name="Rectangle 1">
            <a:extLst>
              <a:ext uri="{FF2B5EF4-FFF2-40B4-BE49-F238E27FC236}">
                <a16:creationId xmlns:a16="http://schemas.microsoft.com/office/drawing/2014/main" id="{34226A57-E7A9-CE75-835E-77392529779F}"/>
              </a:ext>
            </a:extLst>
          </p:cNvPr>
          <p:cNvSpPr>
            <a:spLocks noChangeArrowheads="1"/>
          </p:cNvSpPr>
          <p:nvPr/>
        </p:nvSpPr>
        <p:spPr bwMode="auto">
          <a:xfrm>
            <a:off x="1144117" y="2113590"/>
            <a:ext cx="4265234"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Frequent Co-occurrences Across Orders</a:t>
            </a:r>
            <a:endParaRPr kumimoji="0" lang="en-US" altLang="en-US" sz="1000" b="0" i="0" u="none" strike="noStrike" cap="none" normalizeH="0" baseline="0" dirty="0">
              <a:ln>
                <a:noFill/>
              </a:ln>
              <a:solidFill>
                <a:schemeClr val="tx1"/>
              </a:solidFill>
              <a:effectLst/>
            </a:endParaRPr>
          </a:p>
          <a:p>
            <a:pPr lvl="1" defTabSz="914400"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rPr>
              <a:t>Core staples like </a:t>
            </a:r>
            <a:r>
              <a:rPr kumimoji="0" lang="en-US" altLang="en-US" sz="1000" b="0" i="1" u="none" strike="noStrike" cap="none" normalizeH="0" baseline="0" dirty="0">
                <a:ln>
                  <a:noFill/>
                </a:ln>
                <a:solidFill>
                  <a:schemeClr val="tx1"/>
                </a:solidFill>
                <a:effectLst/>
              </a:rPr>
              <a:t>bagels, beef, butter, shampoo, soap, soda,</a:t>
            </a:r>
            <a:r>
              <a:rPr kumimoji="0" lang="en-US" altLang="en-US" sz="1000" b="0" i="0" u="none" strike="noStrike" cap="none" normalizeH="0" baseline="0" dirty="0">
                <a:ln>
                  <a:noFill/>
                </a:ln>
                <a:solidFill>
                  <a:schemeClr val="tx1"/>
                </a:solidFill>
                <a:effectLst/>
              </a:rPr>
              <a:t> and </a:t>
            </a:r>
            <a:r>
              <a:rPr kumimoji="0" lang="en-US" altLang="en-US" sz="1000" b="0" i="1" u="none" strike="noStrike" cap="none" normalizeH="0" baseline="0" dirty="0">
                <a:ln>
                  <a:noFill/>
                </a:ln>
                <a:solidFill>
                  <a:schemeClr val="tx1"/>
                </a:solidFill>
                <a:effectLst/>
              </a:rPr>
              <a:t>toilet paper</a:t>
            </a:r>
            <a:r>
              <a:rPr kumimoji="0" lang="en-US" altLang="en-US" sz="1000" b="0" i="0" u="none" strike="noStrike" cap="none" normalizeH="0" baseline="0" dirty="0">
                <a:ln>
                  <a:noFill/>
                </a:ln>
                <a:solidFill>
                  <a:schemeClr val="tx1"/>
                </a:solidFill>
                <a:effectLst/>
              </a:rPr>
              <a:t> appear consistently across multiple orders, indicating they are </a:t>
            </a:r>
            <a:r>
              <a:rPr kumimoji="0" lang="en-US" altLang="en-US" sz="1000" b="1" i="0" u="none" strike="noStrike" cap="none" normalizeH="0" baseline="0" dirty="0">
                <a:ln>
                  <a:noFill/>
                </a:ln>
                <a:solidFill>
                  <a:schemeClr val="tx1"/>
                </a:solidFill>
                <a:effectLst/>
              </a:rPr>
              <a:t>commonly bundled</a:t>
            </a:r>
            <a:r>
              <a:rPr kumimoji="0" lang="en-US" altLang="en-US" sz="1000" b="0" i="0" u="none" strike="noStrike" cap="none" normalizeH="0" baseline="0" dirty="0">
                <a:ln>
                  <a:noFill/>
                </a:ln>
                <a:solidFill>
                  <a:schemeClr val="tx1"/>
                </a:solidFill>
                <a:effectLst/>
              </a:rPr>
              <a:t>.</a:t>
            </a:r>
          </a:p>
          <a:p>
            <a:pPr lvl="1" defTabSz="91440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Strong Pairing Candidates</a:t>
            </a:r>
            <a:endParaRPr kumimoji="0" lang="en-US" altLang="en-US" sz="1000" b="0" i="0" u="none" strike="noStrike" cap="none" normalizeH="0" baseline="0" dirty="0">
              <a:ln>
                <a:noFill/>
              </a:ln>
              <a:solidFill>
                <a:schemeClr val="tx1"/>
              </a:solidFill>
              <a:effectLst/>
            </a:endParaRPr>
          </a:p>
          <a:p>
            <a:pPr lvl="1" defTabSz="914400"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rPr>
              <a:t>Items such as </a:t>
            </a:r>
            <a:r>
              <a:rPr kumimoji="0" lang="en-US" altLang="en-US" sz="1000" b="0" i="1" u="none" strike="noStrike" cap="none" normalizeH="0" baseline="0" dirty="0">
                <a:ln>
                  <a:noFill/>
                </a:ln>
                <a:solidFill>
                  <a:schemeClr val="tx1"/>
                </a:solidFill>
                <a:effectLst/>
              </a:rPr>
              <a:t>dishwashing liquid</a:t>
            </a:r>
            <a:r>
              <a:rPr kumimoji="0" lang="en-US" altLang="en-US" sz="1000" b="0" i="0" u="none" strike="noStrike" cap="none" normalizeH="0" baseline="0" dirty="0">
                <a:ln>
                  <a:noFill/>
                </a:ln>
                <a:solidFill>
                  <a:schemeClr val="tx1"/>
                </a:solidFill>
                <a:effectLst/>
              </a:rPr>
              <a:t>, </a:t>
            </a:r>
            <a:r>
              <a:rPr kumimoji="0" lang="en-US" altLang="en-US" sz="1000" b="0" i="1" u="none" strike="noStrike" cap="none" normalizeH="0" baseline="0" dirty="0">
                <a:ln>
                  <a:noFill/>
                </a:ln>
                <a:solidFill>
                  <a:schemeClr val="tx1"/>
                </a:solidFill>
                <a:effectLst/>
              </a:rPr>
              <a:t>spaghetti sauce</a:t>
            </a:r>
            <a:r>
              <a:rPr kumimoji="0" lang="en-US" altLang="en-US" sz="1000" b="0" i="0" u="none" strike="noStrike" cap="none" normalizeH="0" baseline="0" dirty="0">
                <a:ln>
                  <a:noFill/>
                </a:ln>
                <a:solidFill>
                  <a:schemeClr val="tx1"/>
                </a:solidFill>
                <a:effectLst/>
              </a:rPr>
              <a:t>, </a:t>
            </a:r>
            <a:r>
              <a:rPr kumimoji="0" lang="en-US" altLang="en-US" sz="1000" b="0" i="1" u="none" strike="noStrike" cap="none" normalizeH="0" baseline="0" dirty="0">
                <a:ln>
                  <a:noFill/>
                </a:ln>
                <a:solidFill>
                  <a:schemeClr val="tx1"/>
                </a:solidFill>
                <a:effectLst/>
              </a:rPr>
              <a:t>sugar</a:t>
            </a:r>
            <a:r>
              <a:rPr kumimoji="0" lang="en-US" altLang="en-US" sz="1000" b="0" i="0" u="none" strike="noStrike" cap="none" normalizeH="0" baseline="0" dirty="0">
                <a:ln>
                  <a:noFill/>
                </a:ln>
                <a:solidFill>
                  <a:schemeClr val="tx1"/>
                </a:solidFill>
                <a:effectLst/>
              </a:rPr>
              <a:t>, and </a:t>
            </a:r>
            <a:r>
              <a:rPr kumimoji="0" lang="en-US" altLang="en-US" sz="1000" b="0" i="1" u="none" strike="noStrike" cap="none" normalizeH="0" baseline="0" dirty="0">
                <a:ln>
                  <a:noFill/>
                </a:ln>
                <a:solidFill>
                  <a:schemeClr val="tx1"/>
                </a:solidFill>
                <a:effectLst/>
              </a:rPr>
              <a:t>shampoo</a:t>
            </a:r>
            <a:r>
              <a:rPr kumimoji="0" lang="en-US" altLang="en-US" sz="1000" b="0" i="0" u="none" strike="noStrike" cap="none" normalizeH="0" baseline="0" dirty="0">
                <a:ln>
                  <a:noFill/>
                </a:ln>
                <a:solidFill>
                  <a:schemeClr val="tx1"/>
                </a:solidFill>
                <a:effectLst/>
              </a:rPr>
              <a:t> are often purchased together in orders with </a:t>
            </a:r>
            <a:r>
              <a:rPr kumimoji="0" lang="en-US" altLang="en-US" sz="1000" b="0" i="1" u="none" strike="noStrike" cap="none" normalizeH="0" baseline="0" dirty="0">
                <a:ln>
                  <a:noFill/>
                </a:ln>
                <a:solidFill>
                  <a:schemeClr val="tx1"/>
                </a:solidFill>
                <a:effectLst/>
              </a:rPr>
              <a:t>dinner rolls</a:t>
            </a:r>
            <a:r>
              <a:rPr kumimoji="0" lang="en-US" altLang="en-US" sz="1000" b="0" i="0" u="none" strike="noStrike" cap="none" normalizeH="0" baseline="0" dirty="0">
                <a:ln>
                  <a:noFill/>
                </a:ln>
                <a:solidFill>
                  <a:schemeClr val="tx1"/>
                </a:solidFill>
                <a:effectLst/>
              </a:rPr>
              <a:t> or </a:t>
            </a:r>
            <a:r>
              <a:rPr kumimoji="0" lang="en-US" altLang="en-US" sz="1000" b="0" i="1" u="none" strike="noStrike" cap="none" normalizeH="0" baseline="0" dirty="0">
                <a:ln>
                  <a:noFill/>
                </a:ln>
                <a:solidFill>
                  <a:schemeClr val="tx1"/>
                </a:solidFill>
                <a:effectLst/>
              </a:rPr>
              <a:t>all-purpose flour</a:t>
            </a:r>
            <a:r>
              <a:rPr kumimoji="0" lang="en-US" altLang="en-US" sz="1000" b="0" i="0" u="none" strike="noStrike" cap="none" normalizeH="0" baseline="0" dirty="0">
                <a:ln>
                  <a:noFill/>
                </a:ln>
                <a:solidFill>
                  <a:schemeClr val="tx1"/>
                </a:solidFill>
                <a:effectLst/>
              </a:rPr>
              <a:t>. These suggest </a:t>
            </a:r>
            <a:r>
              <a:rPr kumimoji="0" lang="en-US" altLang="en-US" sz="1000" b="1" i="0" u="none" strike="noStrike" cap="none" normalizeH="0" baseline="0" dirty="0">
                <a:ln>
                  <a:noFill/>
                </a:ln>
                <a:solidFill>
                  <a:schemeClr val="tx1"/>
                </a:solidFill>
                <a:effectLst/>
              </a:rPr>
              <a:t>natural household or pantry groupings</a:t>
            </a:r>
            <a:r>
              <a:rPr kumimoji="0" lang="en-US" altLang="en-US" sz="1000" b="0" i="0" u="none" strike="noStrike" cap="none" normalizeH="0" baseline="0" dirty="0">
                <a:ln>
                  <a:noFill/>
                </a:ln>
                <a:solidFill>
                  <a:schemeClr val="tx1"/>
                </a:solidFill>
                <a:effectLst/>
              </a:rPr>
              <a:t> for combo offers.</a:t>
            </a:r>
          </a:p>
          <a:p>
            <a:pPr lvl="1" defTabSz="91440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Core Convenience Items</a:t>
            </a:r>
            <a:endParaRPr kumimoji="0" lang="en-US" altLang="en-US" sz="1000" b="0" i="0" u="none" strike="noStrike" cap="none" normalizeH="0" baseline="0" dirty="0">
              <a:ln>
                <a:noFill/>
              </a:ln>
              <a:solidFill>
                <a:schemeClr val="tx1"/>
              </a:solidFill>
              <a:effectLst/>
            </a:endParaRPr>
          </a:p>
          <a:p>
            <a:pPr lvl="1" defTabSz="914400"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rPr>
              <a:t>Products like </a:t>
            </a:r>
            <a:r>
              <a:rPr kumimoji="0" lang="en-US" altLang="en-US" sz="1000" b="0" i="1" u="none" strike="noStrike" cap="none" normalizeH="0" baseline="0" dirty="0">
                <a:ln>
                  <a:noFill/>
                </a:ln>
                <a:solidFill>
                  <a:schemeClr val="tx1"/>
                </a:solidFill>
                <a:effectLst/>
              </a:rPr>
              <a:t>aluminum foil</a:t>
            </a:r>
            <a:r>
              <a:rPr kumimoji="0" lang="en-US" altLang="en-US" sz="1000" b="0" i="0" u="none" strike="noStrike" cap="none" normalizeH="0" baseline="0" dirty="0">
                <a:ln>
                  <a:noFill/>
                </a:ln>
                <a:solidFill>
                  <a:schemeClr val="tx1"/>
                </a:solidFill>
                <a:effectLst/>
              </a:rPr>
              <a:t> and </a:t>
            </a:r>
            <a:r>
              <a:rPr kumimoji="0" lang="en-US" altLang="en-US" sz="1000" b="0" i="1" u="none" strike="noStrike" cap="none" normalizeH="0" baseline="0" dirty="0">
                <a:ln>
                  <a:noFill/>
                </a:ln>
                <a:solidFill>
                  <a:schemeClr val="tx1"/>
                </a:solidFill>
                <a:effectLst/>
              </a:rPr>
              <a:t>coffee/tea</a:t>
            </a:r>
            <a:r>
              <a:rPr kumimoji="0" lang="en-US" altLang="en-US" sz="1000" b="0" i="0" u="none" strike="noStrike" cap="none" normalizeH="0" baseline="0" dirty="0">
                <a:ln>
                  <a:noFill/>
                </a:ln>
                <a:solidFill>
                  <a:schemeClr val="tx1"/>
                </a:solidFill>
                <a:effectLst/>
              </a:rPr>
              <a:t> tend to appear with a wide variety of other items, implying their </a:t>
            </a:r>
            <a:r>
              <a:rPr kumimoji="0" lang="en-US" altLang="en-US" sz="1000" b="1" i="0" u="none" strike="noStrike" cap="none" normalizeH="0" baseline="0" dirty="0">
                <a:ln>
                  <a:noFill/>
                </a:ln>
                <a:solidFill>
                  <a:schemeClr val="tx1"/>
                </a:solidFill>
                <a:effectLst/>
              </a:rPr>
              <a:t>versatility across baskets</a:t>
            </a:r>
            <a:r>
              <a:rPr kumimoji="0" lang="en-US" altLang="en-US" sz="1000" b="0" i="0" u="none" strike="noStrike" cap="none" normalizeH="0" baseline="0" dirty="0">
                <a:ln>
                  <a:noFill/>
                </a:ln>
                <a:solidFill>
                  <a:schemeClr val="tx1"/>
                </a:solidFill>
                <a:effectLst/>
              </a:rPr>
              <a:t>—ideal for promotional anchoring.</a:t>
            </a:r>
          </a:p>
          <a:p>
            <a:pPr lvl="1" defTabSz="91440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Cross-Category Basket Behavior</a:t>
            </a:r>
            <a:endParaRPr kumimoji="0" lang="en-US" altLang="en-US" sz="1000" b="0" i="0" u="none" strike="noStrike" cap="none" normalizeH="0" baseline="0" dirty="0">
              <a:ln>
                <a:noFill/>
              </a:ln>
              <a:solidFill>
                <a:schemeClr val="tx1"/>
              </a:solidFill>
              <a:effectLst/>
            </a:endParaRPr>
          </a:p>
          <a:p>
            <a:pPr lvl="1" defTabSz="914400"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rPr>
              <a:t>Presence of hygiene items (</a:t>
            </a:r>
            <a:r>
              <a:rPr kumimoji="0" lang="en-US" altLang="en-US" sz="1000" b="0" i="1" u="none" strike="noStrike" cap="none" normalizeH="0" baseline="0" dirty="0">
                <a:ln>
                  <a:noFill/>
                </a:ln>
                <a:solidFill>
                  <a:schemeClr val="tx1"/>
                </a:solidFill>
                <a:effectLst/>
              </a:rPr>
              <a:t>shampoo, soap</a:t>
            </a:r>
            <a:r>
              <a:rPr kumimoji="0" lang="en-US" altLang="en-US" sz="1000" b="0" i="0" u="none" strike="noStrike" cap="none" normalizeH="0" baseline="0" dirty="0">
                <a:ln>
                  <a:noFill/>
                </a:ln>
                <a:solidFill>
                  <a:schemeClr val="tx1"/>
                </a:solidFill>
                <a:effectLst/>
              </a:rPr>
              <a:t>) with grocery goods points to </a:t>
            </a:r>
            <a:r>
              <a:rPr kumimoji="0" lang="en-US" altLang="en-US" sz="1000" b="1" i="0" u="none" strike="noStrike" cap="none" normalizeH="0" baseline="0" dirty="0">
                <a:ln>
                  <a:noFill/>
                </a:ln>
                <a:solidFill>
                  <a:schemeClr val="tx1"/>
                </a:solidFill>
                <a:effectLst/>
              </a:rPr>
              <a:t>multi-category purchasing behavior</a:t>
            </a:r>
            <a:r>
              <a:rPr kumimoji="0" lang="en-US" altLang="en-US" sz="1000" b="0" i="0" u="none" strike="noStrike" cap="none" normalizeH="0" baseline="0" dirty="0">
                <a:ln>
                  <a:noFill/>
                </a:ln>
                <a:solidFill>
                  <a:schemeClr val="tx1"/>
                </a:solidFill>
                <a:effectLst/>
              </a:rPr>
              <a:t>, making them prime candidates for cross-category bundling (e.g., “meal &amp; hygiene” kits).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608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D129-6E1E-5BD8-9CA6-BAA0D5409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FEA8B-F1D5-393C-FBE8-F592283B8677}"/>
              </a:ext>
            </a:extLst>
          </p:cNvPr>
          <p:cNvSpPr>
            <a:spLocks noGrp="1"/>
          </p:cNvSpPr>
          <p:nvPr>
            <p:ph type="title"/>
          </p:nvPr>
        </p:nvSpPr>
        <p:spPr/>
        <p:txBody>
          <a:bodyPr/>
          <a:lstStyle/>
          <a:p>
            <a:r>
              <a:rPr lang="en-IN" dirty="0"/>
              <a:t>EDA cont..</a:t>
            </a:r>
          </a:p>
        </p:txBody>
      </p:sp>
      <p:sp>
        <p:nvSpPr>
          <p:cNvPr id="3" name="Slide Number Placeholder 2">
            <a:extLst>
              <a:ext uri="{FF2B5EF4-FFF2-40B4-BE49-F238E27FC236}">
                <a16:creationId xmlns:a16="http://schemas.microsoft.com/office/drawing/2014/main" id="{0485B523-B890-F9DF-87AC-6666FFA5FF4E}"/>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Picture 5">
            <a:extLst>
              <a:ext uri="{FF2B5EF4-FFF2-40B4-BE49-F238E27FC236}">
                <a16:creationId xmlns:a16="http://schemas.microsoft.com/office/drawing/2014/main" id="{7F1B2015-CABE-5769-DD1A-B55EB08BB665}"/>
              </a:ext>
            </a:extLst>
          </p:cNvPr>
          <p:cNvPicPr>
            <a:picLocks noChangeAspect="1"/>
          </p:cNvPicPr>
          <p:nvPr/>
        </p:nvPicPr>
        <p:blipFill>
          <a:blip r:embed="rId2"/>
          <a:stretch>
            <a:fillRect/>
          </a:stretch>
        </p:blipFill>
        <p:spPr>
          <a:xfrm>
            <a:off x="4582770" y="1950981"/>
            <a:ext cx="6969467" cy="3458728"/>
          </a:xfrm>
          <a:prstGeom prst="rect">
            <a:avLst/>
          </a:prstGeom>
        </p:spPr>
      </p:pic>
      <p:sp>
        <p:nvSpPr>
          <p:cNvPr id="10" name="Rectangle 2">
            <a:extLst>
              <a:ext uri="{FF2B5EF4-FFF2-40B4-BE49-F238E27FC236}">
                <a16:creationId xmlns:a16="http://schemas.microsoft.com/office/drawing/2014/main" id="{1E2A1B0E-2AC5-4B33-03B6-EE329E70F731}"/>
              </a:ext>
            </a:extLst>
          </p:cNvPr>
          <p:cNvSpPr>
            <a:spLocks noGrp="1" noChangeArrowheads="1"/>
          </p:cNvSpPr>
          <p:nvPr>
            <p:ph idx="1"/>
          </p:nvPr>
        </p:nvSpPr>
        <p:spPr bwMode="auto">
          <a:xfrm>
            <a:off x="1066800" y="3290312"/>
            <a:ext cx="360145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High Frequency Core Products</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Most products appear in </a:t>
            </a:r>
            <a:r>
              <a:rPr kumimoji="0" lang="en-US" altLang="en-US" sz="800" b="1" i="0" u="none" strike="noStrike" cap="none" normalizeH="0" baseline="0" dirty="0">
                <a:ln>
                  <a:noFill/>
                </a:ln>
                <a:solidFill>
                  <a:schemeClr val="tx1"/>
                </a:solidFill>
                <a:effectLst/>
              </a:rPr>
              <a:t>380 to 450 unique orders</a:t>
            </a:r>
            <a:r>
              <a:rPr kumimoji="0" lang="en-US" altLang="en-US" sz="800" b="0" i="0" u="none" strike="noStrike" cap="none" normalizeH="0" baseline="0" dirty="0">
                <a:ln>
                  <a:noFill/>
                </a:ln>
                <a:solidFill>
                  <a:schemeClr val="tx1"/>
                </a:solidFill>
                <a:effectLst/>
              </a:rPr>
              <a:t>, suggesting a strong backbone of consistently purchased items.</a:t>
            </a: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Balanced Distribution</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The histogram shows a relatively tight spread, meaning most products have </a:t>
            </a:r>
            <a:r>
              <a:rPr kumimoji="0" lang="en-US" altLang="en-US" sz="800" b="1" i="0" u="none" strike="noStrike" cap="none" normalizeH="0" baseline="0" dirty="0">
                <a:ln>
                  <a:noFill/>
                </a:ln>
                <a:solidFill>
                  <a:schemeClr val="tx1"/>
                </a:solidFill>
                <a:effectLst/>
              </a:rPr>
              <a:t>comparable exposure across the order base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842370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0F65-82F0-A28E-6C40-7A851C63F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22B92-5D35-E75F-F47A-325659F35422}"/>
              </a:ext>
            </a:extLst>
          </p:cNvPr>
          <p:cNvSpPr>
            <a:spLocks noGrp="1"/>
          </p:cNvSpPr>
          <p:nvPr>
            <p:ph type="title"/>
          </p:nvPr>
        </p:nvSpPr>
        <p:spPr/>
        <p:txBody>
          <a:bodyPr/>
          <a:lstStyle/>
          <a:p>
            <a:r>
              <a:rPr lang="en-IN" dirty="0"/>
              <a:t>EDA cont..</a:t>
            </a:r>
          </a:p>
        </p:txBody>
      </p:sp>
      <p:sp>
        <p:nvSpPr>
          <p:cNvPr id="3" name="Slide Number Placeholder 2">
            <a:extLst>
              <a:ext uri="{FF2B5EF4-FFF2-40B4-BE49-F238E27FC236}">
                <a16:creationId xmlns:a16="http://schemas.microsoft.com/office/drawing/2014/main" id="{71D113EC-48AE-9F78-B5AF-F12934AA5FF9}"/>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6" name="Picture 5">
            <a:extLst>
              <a:ext uri="{FF2B5EF4-FFF2-40B4-BE49-F238E27FC236}">
                <a16:creationId xmlns:a16="http://schemas.microsoft.com/office/drawing/2014/main" id="{EEA74E25-6B7F-E4DF-2CA7-6A4DEF8C5292}"/>
              </a:ext>
            </a:extLst>
          </p:cNvPr>
          <p:cNvPicPr>
            <a:picLocks noChangeAspect="1"/>
          </p:cNvPicPr>
          <p:nvPr/>
        </p:nvPicPr>
        <p:blipFill>
          <a:blip r:embed="rId2"/>
          <a:stretch>
            <a:fillRect/>
          </a:stretch>
        </p:blipFill>
        <p:spPr>
          <a:xfrm>
            <a:off x="4488140" y="1942110"/>
            <a:ext cx="7032278" cy="3809762"/>
          </a:xfrm>
          <a:prstGeom prst="rect">
            <a:avLst/>
          </a:prstGeom>
        </p:spPr>
      </p:pic>
      <p:sp>
        <p:nvSpPr>
          <p:cNvPr id="9" name="Rectangle 2">
            <a:extLst>
              <a:ext uri="{FF2B5EF4-FFF2-40B4-BE49-F238E27FC236}">
                <a16:creationId xmlns:a16="http://schemas.microsoft.com/office/drawing/2014/main" id="{41BEC964-45FB-0EFB-30EA-F88FC0611829}"/>
              </a:ext>
            </a:extLst>
          </p:cNvPr>
          <p:cNvSpPr>
            <a:spLocks noGrp="1" noChangeArrowheads="1"/>
          </p:cNvSpPr>
          <p:nvPr>
            <p:ph idx="1"/>
          </p:nvPr>
        </p:nvSpPr>
        <p:spPr bwMode="auto">
          <a:xfrm>
            <a:off x="1097280" y="2826363"/>
            <a:ext cx="339086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Stable Variety with Seasonal Peaks</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Most days show a steady flow of </a:t>
            </a:r>
            <a:r>
              <a:rPr kumimoji="0" lang="en-US" altLang="en-US" sz="800" b="1" i="0" u="none" strike="noStrike" cap="none" normalizeH="0" baseline="0" dirty="0">
                <a:ln>
                  <a:noFill/>
                </a:ln>
                <a:solidFill>
                  <a:schemeClr val="tx1"/>
                </a:solidFill>
                <a:effectLst/>
              </a:rPr>
              <a:t>10 to 25 unique products</a:t>
            </a:r>
            <a:r>
              <a:rPr kumimoji="0" lang="en-US" altLang="en-US" sz="800" b="0" i="0" u="none" strike="noStrike" cap="none" normalizeH="0" baseline="0" dirty="0">
                <a:ln>
                  <a:noFill/>
                </a:ln>
                <a:solidFill>
                  <a:schemeClr val="tx1"/>
                </a:solidFill>
                <a:effectLst/>
              </a:rPr>
              <a:t>, indicating consistent diversity in daily shopping baskets.</a:t>
            </a:r>
          </a:p>
          <a:p>
            <a:pPr marL="292608" lvl="1" indent="0" eaLnBrk="0" fontAlgn="base" hangingPunct="0">
              <a:lnSpc>
                <a:spcPct val="100000"/>
              </a:lnSpc>
              <a:spcBef>
                <a:spcPct val="0"/>
              </a:spcBef>
              <a:spcAft>
                <a:spcPct val="0"/>
              </a:spcAft>
              <a:buClrTx/>
              <a:buFontTx/>
              <a:buChar char="•"/>
            </a:pPr>
            <a:r>
              <a:rPr kumimoji="0" lang="en-US" altLang="en-US" sz="800" b="1" i="0" u="none" strike="noStrike" cap="none" normalizeH="0" baseline="0" dirty="0">
                <a:ln>
                  <a:noFill/>
                </a:ln>
                <a:solidFill>
                  <a:schemeClr val="tx1"/>
                </a:solidFill>
                <a:effectLst/>
              </a:rPr>
              <a:t>Spikes nearing 30+ products</a:t>
            </a:r>
            <a:r>
              <a:rPr kumimoji="0" lang="en-US" altLang="en-US" sz="800" b="0" i="0" u="none" strike="noStrike" cap="none" normalizeH="0" baseline="0" dirty="0">
                <a:ln>
                  <a:noFill/>
                </a:ln>
                <a:solidFill>
                  <a:schemeClr val="tx1"/>
                </a:solidFill>
                <a:effectLst/>
              </a:rPr>
              <a:t> suggest promotional campaigns, holidays, or restocking events driving broader basket composition.</a:t>
            </a:r>
          </a:p>
          <a:p>
            <a:pPr marL="292608" lvl="1" indent="0" eaLnBrk="0" fontAlgn="base" hangingPunct="0">
              <a:lnSpc>
                <a:spcPct val="100000"/>
              </a:lnSpc>
              <a:spcBef>
                <a:spcPct val="0"/>
              </a:spcBef>
              <a:spcAft>
                <a:spcPct val="0"/>
              </a:spcAft>
              <a:buClrTx/>
              <a:buFontTx/>
              <a:buChar char="•"/>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Operational Consistency</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There's no prolonged dip or outage in variety, which indicates strong </a:t>
            </a:r>
            <a:r>
              <a:rPr kumimoji="0" lang="en-US" altLang="en-US" sz="800" b="1" i="0" u="none" strike="noStrike" cap="none" normalizeH="0" baseline="0" dirty="0">
                <a:ln>
                  <a:noFill/>
                </a:ln>
                <a:solidFill>
                  <a:schemeClr val="tx1"/>
                </a:solidFill>
                <a:effectLst/>
              </a:rPr>
              <a:t>supply chain consistency</a:t>
            </a:r>
            <a:r>
              <a:rPr kumimoji="0" lang="en-US" altLang="en-US" sz="800" b="0" i="0" u="none" strike="noStrike" cap="none" normalizeH="0" baseline="0" dirty="0">
                <a:ln>
                  <a:noFill/>
                </a:ln>
                <a:solidFill>
                  <a:schemeClr val="tx1"/>
                </a:solidFill>
                <a:effectLst/>
              </a:rPr>
              <a:t> and </a:t>
            </a:r>
            <a:r>
              <a:rPr kumimoji="0" lang="en-US" altLang="en-US" sz="800" b="1" i="0" u="none" strike="noStrike" cap="none" normalizeH="0" baseline="0" dirty="0">
                <a:ln>
                  <a:noFill/>
                </a:ln>
                <a:solidFill>
                  <a:schemeClr val="tx1"/>
                </a:solidFill>
                <a:effectLst/>
              </a:rPr>
              <a:t>steady customer engagement</a:t>
            </a:r>
            <a:r>
              <a:rPr kumimoji="0" lang="en-US" altLang="en-US" sz="800" b="0" i="0" u="none" strike="noStrike" cap="none" normalizeH="0" baseline="0" dirty="0">
                <a:ln>
                  <a:noFill/>
                </a:ln>
                <a:solidFill>
                  <a:schemeClr val="tx1"/>
                </a:solidFill>
                <a:effectLst/>
              </a:rPr>
              <a:t> across the timeframe.</a:t>
            </a:r>
          </a:p>
          <a:p>
            <a:pPr marL="292608" lvl="1" indent="0" eaLnBrk="0" fontAlgn="base" hangingPunct="0">
              <a:lnSpc>
                <a:spcPct val="100000"/>
              </a:lnSpc>
              <a:spcBef>
                <a:spcPct val="0"/>
              </a:spcBef>
              <a:spcAft>
                <a:spcPct val="0"/>
              </a:spcAft>
              <a:buClrTx/>
              <a:buFontTx/>
              <a:buChar char="•"/>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rPr>
              <a:t>Trend Opportunity</a:t>
            </a:r>
            <a:endParaRPr kumimoji="0" lang="en-US" altLang="en-US" sz="1000" b="0" i="0" u="none" strike="noStrike" cap="none" normalizeH="0" baseline="0" dirty="0">
              <a:ln>
                <a:noFill/>
              </a:ln>
              <a:solidFill>
                <a:schemeClr val="tx1"/>
              </a:solidFill>
              <a:effectLst/>
            </a:endParaRP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Sharp one-day peaks could be mined to identify </a:t>
            </a:r>
            <a:r>
              <a:rPr kumimoji="0" lang="en-US" altLang="en-US" sz="800" b="1" i="0" u="none" strike="noStrike" cap="none" normalizeH="0" baseline="0" dirty="0">
                <a:ln>
                  <a:noFill/>
                </a:ln>
                <a:solidFill>
                  <a:schemeClr val="tx1"/>
                </a:solidFill>
                <a:effectLst/>
              </a:rPr>
              <a:t>what drove the variety</a:t>
            </a:r>
            <a:r>
              <a:rPr kumimoji="0" lang="en-US" altLang="en-US" sz="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666858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EDA SUMMARY [INFERENCES]</a:t>
            </a:r>
          </a:p>
        </p:txBody>
      </p:sp>
      <p:sp>
        <p:nvSpPr>
          <p:cNvPr id="3" name="Content Placeholder 2"/>
          <p:cNvSpPr>
            <a:spLocks noGrp="1"/>
          </p:cNvSpPr>
          <p:nvPr>
            <p:ph idx="1"/>
          </p:nvPr>
        </p:nvSpPr>
        <p:spPr>
          <a:xfrm>
            <a:off x="1097280" y="1845734"/>
            <a:ext cx="9656064" cy="3864841"/>
          </a:xfrm>
        </p:spPr>
        <p:txBody>
          <a:bodyPr>
            <a:noAutofit/>
          </a:bodyPr>
          <a:lstStyle/>
          <a:p>
            <a:pPr>
              <a:buClrTx/>
              <a:buFont typeface="Arial" panose="020B0604020202020204" pitchFamily="34" charset="0"/>
              <a:buChar char="•"/>
            </a:pPr>
            <a:r>
              <a:rPr lang="en-IN" sz="1000" b="1" dirty="0">
                <a:solidFill>
                  <a:schemeClr val="tx1"/>
                </a:solidFill>
              </a:rPr>
              <a:t>Dataset Overview:</a:t>
            </a:r>
          </a:p>
          <a:p>
            <a:pPr lvl="1">
              <a:buClrTx/>
              <a:buFont typeface="Arial" panose="020B0604020202020204" pitchFamily="34" charset="0"/>
              <a:buChar char="•"/>
            </a:pPr>
            <a:r>
              <a:rPr lang="en-IN" sz="800" b="1" dirty="0"/>
              <a:t>Transactions</a:t>
            </a:r>
            <a:r>
              <a:rPr lang="en-IN" sz="800" dirty="0"/>
              <a:t>: 20,641 rows across 603 unique dates</a:t>
            </a:r>
          </a:p>
          <a:p>
            <a:pPr lvl="1">
              <a:buClrTx/>
              <a:buFont typeface="Arial" panose="020B0604020202020204" pitchFamily="34" charset="0"/>
              <a:buChar char="•"/>
            </a:pPr>
            <a:r>
              <a:rPr lang="en-IN" sz="800" b="1" dirty="0"/>
              <a:t>Orders</a:t>
            </a:r>
            <a:r>
              <a:rPr lang="en-IN" sz="800" dirty="0"/>
              <a:t>: 1,139 unique Order IDs</a:t>
            </a:r>
          </a:p>
          <a:p>
            <a:pPr lvl="1">
              <a:buClrTx/>
              <a:buFont typeface="Arial" panose="020B0604020202020204" pitchFamily="34" charset="0"/>
              <a:buChar char="•"/>
            </a:pPr>
            <a:r>
              <a:rPr lang="en-IN" sz="800" b="1" dirty="0"/>
              <a:t>Product Assortment</a:t>
            </a:r>
            <a:r>
              <a:rPr lang="en-IN" sz="800" dirty="0"/>
              <a:t>: 37 distinct products spanning groceries, beverages, hygiene, and household items</a:t>
            </a:r>
          </a:p>
          <a:p>
            <a:pPr marL="0" lvl="0" indent="0" eaLnBrk="0" fontAlgn="base" hangingPunct="0">
              <a:lnSpc>
                <a:spcPct val="100000"/>
              </a:lnSpc>
              <a:spcBef>
                <a:spcPct val="0"/>
              </a:spcBef>
              <a:spcAft>
                <a:spcPct val="0"/>
              </a:spcAft>
              <a:buClrTx/>
              <a:buSzTx/>
              <a:buFontTx/>
              <a:buChar char="•"/>
            </a:pPr>
            <a:r>
              <a:rPr lang="en-US" altLang="en-US" sz="1000" b="1" dirty="0">
                <a:solidFill>
                  <a:schemeClr val="tx1"/>
                </a:solidFill>
              </a:rPr>
              <a:t>Top-Selling Products</a:t>
            </a:r>
            <a:endParaRPr lang="en-US" altLang="en-US" sz="10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Poultry, Soda, Ice Cream, Toilet Paper, and Shampoo dominate unit sales—each surpassing 500 units</a:t>
            </a:r>
          </a:p>
          <a:p>
            <a:pPr marL="292608" lvl="1" indent="0" eaLnBrk="0" fontAlgn="base" hangingPunct="0">
              <a:lnSpc>
                <a:spcPct val="100000"/>
              </a:lnSpc>
              <a:spcBef>
                <a:spcPct val="0"/>
              </a:spcBef>
              <a:spcAft>
                <a:spcPct val="0"/>
              </a:spcAft>
              <a:buClrTx/>
              <a:buNone/>
            </a:pPr>
            <a:endParaRPr lang="en-US" altLang="en-US" sz="8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These are the core basket drivers and ideal anchor items for combo promotions</a:t>
            </a:r>
          </a:p>
          <a:p>
            <a:pPr marL="292608" lvl="1" indent="0" eaLnBrk="0" fontAlgn="base" hangingPunct="0">
              <a:lnSpc>
                <a:spcPct val="100000"/>
              </a:lnSpc>
              <a:spcBef>
                <a:spcPct val="0"/>
              </a:spcBef>
              <a:spcAft>
                <a:spcPct val="0"/>
              </a:spcAft>
              <a:buClrTx/>
              <a:buNone/>
            </a:pPr>
            <a:endParaRPr lang="en-US" altLang="en-US" sz="800" dirty="0">
              <a:solidFill>
                <a:schemeClr val="tx1"/>
              </a:solidFill>
            </a:endParaRPr>
          </a:p>
          <a:p>
            <a:pPr marL="0" lvl="0" indent="0" eaLnBrk="0" fontAlgn="base" hangingPunct="0">
              <a:lnSpc>
                <a:spcPct val="100000"/>
              </a:lnSpc>
              <a:spcBef>
                <a:spcPct val="0"/>
              </a:spcBef>
              <a:spcAft>
                <a:spcPct val="0"/>
              </a:spcAft>
              <a:buClrTx/>
              <a:buSzTx/>
              <a:buFontTx/>
              <a:buChar char="•"/>
            </a:pPr>
            <a:r>
              <a:rPr lang="en-US" altLang="en-US" sz="1000" b="1" dirty="0">
                <a:solidFill>
                  <a:schemeClr val="tx1"/>
                </a:solidFill>
              </a:rPr>
              <a:t>Product Penetration</a:t>
            </a:r>
            <a:endParaRPr lang="en-US" altLang="en-US" sz="10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Most products appear in 380–450 unique orders, indicating balanced, high-penetration inventory.</a:t>
            </a:r>
          </a:p>
          <a:p>
            <a:pPr marL="292608" lvl="1" indent="0" eaLnBrk="0" fontAlgn="base" hangingPunct="0">
              <a:lnSpc>
                <a:spcPct val="100000"/>
              </a:lnSpc>
              <a:spcBef>
                <a:spcPct val="0"/>
              </a:spcBef>
              <a:spcAft>
                <a:spcPct val="0"/>
              </a:spcAft>
              <a:buClrTx/>
              <a:buNone/>
            </a:pPr>
            <a:endParaRPr lang="en-US" altLang="en-US" sz="8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Histogram shows tight distribution with minimal deadweight—inventory strategy appears optimized</a:t>
            </a:r>
          </a:p>
          <a:p>
            <a:pPr marL="292608" lvl="1" indent="0" eaLnBrk="0" fontAlgn="base" hangingPunct="0">
              <a:lnSpc>
                <a:spcPct val="100000"/>
              </a:lnSpc>
              <a:spcBef>
                <a:spcPct val="0"/>
              </a:spcBef>
              <a:spcAft>
                <a:spcPct val="0"/>
              </a:spcAft>
              <a:buClrTx/>
              <a:buNone/>
            </a:pPr>
            <a:endParaRPr lang="en-US" altLang="en-US" sz="800" dirty="0">
              <a:solidFill>
                <a:schemeClr val="tx1"/>
              </a:solidFill>
            </a:endParaRPr>
          </a:p>
          <a:p>
            <a:pPr marL="292608" lvl="1" indent="0" eaLnBrk="0" fontAlgn="base" hangingPunct="0">
              <a:lnSpc>
                <a:spcPct val="100000"/>
              </a:lnSpc>
              <a:spcBef>
                <a:spcPct val="0"/>
              </a:spcBef>
              <a:spcAft>
                <a:spcPct val="0"/>
              </a:spcAft>
              <a:buClrTx/>
              <a:buNone/>
            </a:pPr>
            <a:endParaRPr lang="en-US" altLang="en-US" sz="800" dirty="0">
              <a:solidFill>
                <a:schemeClr val="tx1"/>
              </a:solidFill>
            </a:endParaRPr>
          </a:p>
          <a:p>
            <a:pPr marL="0" lvl="0" indent="0" eaLnBrk="0" fontAlgn="base" hangingPunct="0">
              <a:lnSpc>
                <a:spcPct val="100000"/>
              </a:lnSpc>
              <a:spcBef>
                <a:spcPct val="0"/>
              </a:spcBef>
              <a:spcAft>
                <a:spcPct val="0"/>
              </a:spcAft>
              <a:buClrTx/>
              <a:buSzTx/>
              <a:buFontTx/>
              <a:buChar char="•"/>
            </a:pPr>
            <a:r>
              <a:rPr lang="en-US" altLang="en-US" sz="1000" b="1" dirty="0">
                <a:solidFill>
                  <a:schemeClr val="tx1"/>
                </a:solidFill>
              </a:rPr>
              <a:t>Daily product variety</a:t>
            </a:r>
            <a:r>
              <a:rPr lang="en-US" altLang="en-US" sz="1000" dirty="0">
                <a:solidFill>
                  <a:schemeClr val="tx1"/>
                </a:solidFill>
              </a:rPr>
              <a:t> ranges from 10–30 items, showing consistent customer engagement</a:t>
            </a:r>
          </a:p>
          <a:p>
            <a:pPr marL="0" lvl="0" indent="0" eaLnBrk="0" fontAlgn="base" hangingPunct="0">
              <a:lnSpc>
                <a:spcPct val="100000"/>
              </a:lnSpc>
              <a:spcBef>
                <a:spcPct val="0"/>
              </a:spcBef>
              <a:spcAft>
                <a:spcPct val="0"/>
              </a:spcAft>
              <a:buClrTx/>
              <a:buSzTx/>
              <a:buNone/>
            </a:pPr>
            <a:endParaRPr lang="en-US" altLang="en-US" sz="10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Peak sales day (08-Feb-2019) saw 183 units sold—an event/campaign worth replicating</a:t>
            </a:r>
          </a:p>
          <a:p>
            <a:pPr marL="292608" lvl="1" indent="0" eaLnBrk="0" fontAlgn="base" hangingPunct="0">
              <a:lnSpc>
                <a:spcPct val="100000"/>
              </a:lnSpc>
              <a:spcBef>
                <a:spcPct val="0"/>
              </a:spcBef>
              <a:spcAft>
                <a:spcPct val="0"/>
              </a:spcAft>
              <a:buClrTx/>
              <a:buFontTx/>
              <a:buChar char="•"/>
            </a:pPr>
            <a:endParaRPr lang="en-US" altLang="en-US" sz="800" dirty="0">
              <a:solidFill>
                <a:schemeClr val="tx1"/>
              </a:solidFill>
            </a:endParaRPr>
          </a:p>
          <a:p>
            <a:pPr marL="0" lvl="0" indent="0" eaLnBrk="0" fontAlgn="base" hangingPunct="0">
              <a:lnSpc>
                <a:spcPct val="100000"/>
              </a:lnSpc>
              <a:spcBef>
                <a:spcPct val="0"/>
              </a:spcBef>
              <a:spcAft>
                <a:spcPct val="0"/>
              </a:spcAft>
              <a:buClrTx/>
              <a:buSzTx/>
              <a:buFontTx/>
              <a:buChar char="•"/>
            </a:pPr>
            <a:r>
              <a:rPr lang="en-US" altLang="en-US" sz="1000" b="1" dirty="0">
                <a:solidFill>
                  <a:schemeClr val="tx1"/>
                </a:solidFill>
              </a:rPr>
              <a:t>Item-Level Transaction Patterns</a:t>
            </a:r>
            <a:endParaRPr lang="en-US" altLang="en-US" sz="10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Heatmap reveals frequent co-occurrence of pantry and hygiene items (e.g., Butter + Soap, Toilet Paper + Shampoo)</a:t>
            </a:r>
          </a:p>
          <a:p>
            <a:pPr marL="292608" lvl="1" indent="0" eaLnBrk="0" fontAlgn="base" hangingPunct="0">
              <a:lnSpc>
                <a:spcPct val="100000"/>
              </a:lnSpc>
              <a:spcBef>
                <a:spcPct val="0"/>
              </a:spcBef>
              <a:spcAft>
                <a:spcPct val="0"/>
              </a:spcAft>
              <a:buClrTx/>
              <a:buFontTx/>
              <a:buChar char="•"/>
            </a:pPr>
            <a:endParaRPr lang="en-US" altLang="en-US" sz="800" dirty="0">
              <a:solidFill>
                <a:schemeClr val="tx1"/>
              </a:solidFill>
            </a:endParaRPr>
          </a:p>
          <a:p>
            <a:pPr marL="292608" lvl="1" indent="0" eaLnBrk="0" fontAlgn="base" hangingPunct="0">
              <a:lnSpc>
                <a:spcPct val="100000"/>
              </a:lnSpc>
              <a:spcBef>
                <a:spcPct val="0"/>
              </a:spcBef>
              <a:spcAft>
                <a:spcPct val="0"/>
              </a:spcAft>
              <a:buClrTx/>
              <a:buFontTx/>
              <a:buChar char="•"/>
            </a:pPr>
            <a:r>
              <a:rPr lang="en-US" altLang="en-US" sz="800" dirty="0">
                <a:solidFill>
                  <a:schemeClr val="tx1"/>
                </a:solidFill>
              </a:rPr>
              <a:t>Clear signs of multi-category basket building behavior</a:t>
            </a:r>
          </a:p>
          <a:p>
            <a:pPr marL="0" lvl="0" indent="0" eaLnBrk="0" fontAlgn="base" hangingPunct="0">
              <a:lnSpc>
                <a:spcPct val="100000"/>
              </a:lnSpc>
              <a:spcBef>
                <a:spcPct val="0"/>
              </a:spcBef>
              <a:spcAft>
                <a:spcPct val="0"/>
              </a:spcAft>
              <a:buClrTx/>
              <a:buSzTx/>
              <a:buNone/>
            </a:pPr>
            <a:endParaRPr lang="en-US" altLang="en-US" sz="1000" dirty="0">
              <a:solidFill>
                <a:schemeClr val="tx1"/>
              </a:solidFill>
            </a:endParaRPr>
          </a:p>
          <a:p>
            <a:endParaRPr lang="en-IN" sz="1000" dirty="0"/>
          </a:p>
        </p:txBody>
      </p:sp>
      <p:sp>
        <p:nvSpPr>
          <p:cNvPr id="4" name="Slide Number Placeholder 3">
            <a:extLst>
              <a:ext uri="{FF2B5EF4-FFF2-40B4-BE49-F238E27FC236}">
                <a16:creationId xmlns:a16="http://schemas.microsoft.com/office/drawing/2014/main" id="{FFA1B272-088D-2AA6-98CF-43F317E5859C}"/>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54104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MBA Starts</a:t>
            </a:r>
          </a:p>
        </p:txBody>
      </p:sp>
      <p:sp>
        <p:nvSpPr>
          <p:cNvPr id="5" name="Slide Number Placeholder 4">
            <a:extLst>
              <a:ext uri="{FF2B5EF4-FFF2-40B4-BE49-F238E27FC236}">
                <a16:creationId xmlns:a16="http://schemas.microsoft.com/office/drawing/2014/main" id="{15752958-3400-4B3B-DF37-43AB931B6448}"/>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6" name="Rectangle 1">
            <a:extLst>
              <a:ext uri="{FF2B5EF4-FFF2-40B4-BE49-F238E27FC236}">
                <a16:creationId xmlns:a16="http://schemas.microsoft.com/office/drawing/2014/main" id="{4E6C6B85-15EB-06E0-016C-63283ABF2E0A}"/>
              </a:ext>
            </a:extLst>
          </p:cNvPr>
          <p:cNvSpPr>
            <a:spLocks noChangeArrowheads="1"/>
          </p:cNvSpPr>
          <p:nvPr/>
        </p:nvSpPr>
        <p:spPr bwMode="auto">
          <a:xfrm>
            <a:off x="1097280" y="1807854"/>
            <a:ext cx="5672385"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Process Overview: Association Rules in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b="1" dirty="0"/>
              <a:t>1. </a:t>
            </a:r>
            <a:r>
              <a:rPr kumimoji="0" lang="en-US" altLang="en-US" sz="1000" b="1" i="0" u="none" strike="noStrike" cap="none" normalizeH="0" baseline="0" dirty="0">
                <a:ln>
                  <a:noFill/>
                </a:ln>
                <a:solidFill>
                  <a:schemeClr val="tx1"/>
                </a:solidFill>
                <a:effectLst/>
              </a:rPr>
              <a:t>Data Preparation</a:t>
            </a:r>
            <a:endParaRPr kumimoji="0" lang="en-US" altLang="en-US" sz="10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Cleaned transaction-level POS data containing Order ID and Product Name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Transformed into basket format where each row represents one transaction's itemset</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000" b="1" i="0" u="none" strike="noStrike" cap="none" normalizeH="0" baseline="0" dirty="0">
                <a:ln>
                  <a:noFill/>
                </a:ln>
                <a:solidFill>
                  <a:schemeClr val="tx1"/>
                </a:solidFill>
                <a:effectLst/>
              </a:rPr>
              <a:t> Rule Mining Technique</a:t>
            </a:r>
            <a:endParaRPr kumimoji="0" lang="en-US" altLang="en-US" sz="10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Metrics used for evaluating rules: </a:t>
            </a:r>
            <a:r>
              <a:rPr kumimoji="0" lang="en-US" altLang="en-US" sz="1000" b="1" i="0" u="none" strike="noStrike" cap="none" normalizeH="0" baseline="0" dirty="0">
                <a:ln>
                  <a:noFill/>
                </a:ln>
                <a:solidFill>
                  <a:schemeClr val="tx1"/>
                </a:solidFill>
                <a:effectLst/>
              </a:rPr>
              <a:t>Support, Confidence, and Lift.</a:t>
            </a:r>
          </a:p>
          <a:p>
            <a:pPr marL="457200" marR="0" lvl="1" indent="0" algn="l" defTabSz="914400" rtl="0" eaLnBrk="0" fontAlgn="base" latinLnBrk="0" hangingPunct="0">
              <a:lnSpc>
                <a:spcPct val="100000"/>
              </a:lnSpc>
              <a:spcBef>
                <a:spcPct val="0"/>
              </a:spcBef>
              <a:spcAft>
                <a:spcPct val="0"/>
              </a:spcAft>
              <a:buClrTx/>
              <a:buSzTx/>
              <a:buFontTx/>
              <a:buChar char="•"/>
              <a:tabLst/>
            </a:pPr>
            <a:endParaRPr lang="en-US" altLang="en-US" sz="1000" b="1"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a:p>
            <a:r>
              <a:rPr lang="en-US" sz="1000" b="1" dirty="0"/>
              <a:t>3. Association Rule Mining Parameters (KNIME)</a:t>
            </a:r>
          </a:p>
          <a:p>
            <a:r>
              <a:rPr lang="en-US" sz="1000" b="1" dirty="0"/>
              <a:t>	Minimum Support</a:t>
            </a:r>
            <a:r>
              <a:rPr lang="en-US" sz="1000" dirty="0"/>
              <a:t>: </a:t>
            </a:r>
            <a:r>
              <a:rPr lang="en-US" sz="1000" b="1" dirty="0"/>
              <a:t>0.05</a:t>
            </a:r>
            <a:r>
              <a:rPr lang="en-US" sz="1000" dirty="0"/>
              <a:t> → Only includes item combinations that appear in at least 5% of all 	transactions (i.e., sufficiently frequent to be business-relevant)</a:t>
            </a:r>
          </a:p>
          <a:p>
            <a:r>
              <a:rPr lang="en-US" sz="1000" b="1" dirty="0"/>
              <a:t>	Minimum Confidence</a:t>
            </a:r>
            <a:r>
              <a:rPr lang="en-US" sz="1000" dirty="0"/>
              <a:t>: </a:t>
            </a:r>
            <a:r>
              <a:rPr lang="en-US" sz="1000" b="1" dirty="0"/>
              <a:t>0.4</a:t>
            </a:r>
            <a:r>
              <a:rPr lang="en-US" sz="1000" dirty="0"/>
              <a:t> → Rules are retained only if there's at least a 40% chance that the 	consequent is purchased when the antecedent is present.</a:t>
            </a:r>
          </a:p>
          <a:p>
            <a:pPr lvl="1" defTabSz="914400" eaLnBrk="0" fontAlgn="base" hangingPunct="0">
              <a:spcBef>
                <a:spcPct val="0"/>
              </a:spcBef>
              <a:spcAft>
                <a:spcPct val="0"/>
              </a:spcAft>
              <a:buFontTx/>
              <a:buChar char="•"/>
            </a:pPr>
            <a:r>
              <a:rPr lang="en-US" altLang="en-US" sz="1000" b="1" dirty="0"/>
              <a:t>Maximal Itemset Length</a:t>
            </a:r>
            <a:r>
              <a:rPr lang="en-US" altLang="en-US" sz="1000" dirty="0"/>
              <a:t>: </a:t>
            </a:r>
            <a:r>
              <a:rPr lang="en-US" altLang="en-US" sz="1000" b="1" dirty="0"/>
              <a:t>10</a:t>
            </a:r>
            <a:r>
              <a:rPr lang="en-US" altLang="en-US" sz="1000" dirty="0"/>
              <a:t> → Allows mining of both short and long rules to capture complex combinations</a:t>
            </a:r>
          </a:p>
          <a:p>
            <a:pPr lvl="1" defTabSz="914400" eaLnBrk="0" fontAlgn="base" hangingPunct="0">
              <a:spcBef>
                <a:spcPct val="0"/>
              </a:spcBef>
              <a:spcAft>
                <a:spcPct val="0"/>
              </a:spcAft>
              <a:buFontTx/>
              <a:buChar char="•"/>
            </a:pPr>
            <a:r>
              <a:rPr lang="en-US" altLang="en-US" sz="1000" b="1" dirty="0"/>
              <a:t>Underlying Structure</a:t>
            </a:r>
            <a:r>
              <a:rPr lang="en-US" altLang="en-US" sz="1000" dirty="0"/>
              <a:t>: </a:t>
            </a:r>
            <a:r>
              <a:rPr lang="en-US" altLang="en-US" sz="1000" b="1" dirty="0"/>
              <a:t>ARRAY</a:t>
            </a:r>
            <a:r>
              <a:rPr lang="en-US" altLang="en-US" sz="1000" dirty="0"/>
              <a:t>, optimized for basket-format datasets</a:t>
            </a:r>
          </a:p>
          <a:p>
            <a:pPr lvl="1" defTabSz="914400" eaLnBrk="0" fontAlgn="base" hangingPunct="0">
              <a:spcBef>
                <a:spcPct val="0"/>
              </a:spcBef>
              <a:spcAft>
                <a:spcPct val="0"/>
              </a:spcAft>
              <a:buFontTx/>
              <a:buChar char="•"/>
            </a:pPr>
            <a:r>
              <a:rPr lang="en-US" altLang="en-US" sz="1000" b="1" dirty="0"/>
              <a:t>Transaction Column</a:t>
            </a:r>
            <a:r>
              <a:rPr lang="en-US" altLang="en-US" sz="1000" dirty="0"/>
              <a:t>: </a:t>
            </a:r>
            <a:r>
              <a:rPr lang="en-US" altLang="en-US" sz="1000" dirty="0" err="1"/>
              <a:t>Product_SplitResultSet</a:t>
            </a:r>
            <a:r>
              <a:rPr lang="en-US" altLang="en-US" sz="1000" dirty="0"/>
              <a:t>, identifying items grouped per order</a:t>
            </a:r>
          </a:p>
          <a:p>
            <a:endParaRPr lang="en-US" sz="1000" dirty="0"/>
          </a:p>
          <a:p>
            <a:endParaRPr lang="en-US" sz="1000" dirty="0"/>
          </a:p>
          <a:p>
            <a:endParaRPr lang="en-US" sz="1000" dirty="0"/>
          </a:p>
          <a:p>
            <a:endParaRPr lang="en-US" sz="1000" dirty="0"/>
          </a:p>
          <a:p>
            <a:endParaRPr lang="en-US" sz="1000" dirty="0"/>
          </a:p>
          <a:p>
            <a:endParaRPr lang="en-US" sz="10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11886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MBA (using KNIME)</a:t>
            </a:r>
          </a:p>
        </p:txBody>
      </p:sp>
      <p:sp>
        <p:nvSpPr>
          <p:cNvPr id="3" name="Content Placeholder 2"/>
          <p:cNvSpPr>
            <a:spLocks noGrp="1"/>
          </p:cNvSpPr>
          <p:nvPr>
            <p:ph idx="1"/>
          </p:nvPr>
        </p:nvSpPr>
        <p:spPr/>
        <p:txBody>
          <a:bodyPr/>
          <a:lstStyle/>
          <a:p>
            <a:pPr marL="1317120" lvl="7" indent="0">
              <a:buNone/>
            </a:pPr>
            <a:r>
              <a:rPr lang="en-IN" sz="1600" dirty="0"/>
              <a:t>						KNIME Workflow:</a:t>
            </a:r>
          </a:p>
          <a:p>
            <a:r>
              <a:rPr lang="en-IN" dirty="0"/>
              <a:t>Output table</a:t>
            </a:r>
          </a:p>
        </p:txBody>
      </p:sp>
      <p:sp>
        <p:nvSpPr>
          <p:cNvPr id="4" name="Slide Number Placeholder 3">
            <a:extLst>
              <a:ext uri="{FF2B5EF4-FFF2-40B4-BE49-F238E27FC236}">
                <a16:creationId xmlns:a16="http://schemas.microsoft.com/office/drawing/2014/main" id="{3F82DFB4-C822-8A5F-BEC9-D9A67C666816}"/>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9" name="Picture 8">
            <a:extLst>
              <a:ext uri="{FF2B5EF4-FFF2-40B4-BE49-F238E27FC236}">
                <a16:creationId xmlns:a16="http://schemas.microsoft.com/office/drawing/2014/main" id="{899B03B9-56F0-DA77-E039-E36716F12414}"/>
              </a:ext>
            </a:extLst>
          </p:cNvPr>
          <p:cNvPicPr>
            <a:picLocks noChangeAspect="1"/>
          </p:cNvPicPr>
          <p:nvPr/>
        </p:nvPicPr>
        <p:blipFill>
          <a:blip r:embed="rId2"/>
          <a:stretch>
            <a:fillRect/>
          </a:stretch>
        </p:blipFill>
        <p:spPr>
          <a:xfrm>
            <a:off x="5663381" y="2577322"/>
            <a:ext cx="5911153" cy="3307661"/>
          </a:xfrm>
          <a:prstGeom prst="rect">
            <a:avLst/>
          </a:prstGeom>
        </p:spPr>
      </p:pic>
      <p:pic>
        <p:nvPicPr>
          <p:cNvPr id="11" name="Picture 10">
            <a:extLst>
              <a:ext uri="{FF2B5EF4-FFF2-40B4-BE49-F238E27FC236}">
                <a16:creationId xmlns:a16="http://schemas.microsoft.com/office/drawing/2014/main" id="{ECD073AA-5CFB-BBA1-0256-71296F568B45}"/>
              </a:ext>
            </a:extLst>
          </p:cNvPr>
          <p:cNvPicPr>
            <a:picLocks noChangeAspect="1"/>
          </p:cNvPicPr>
          <p:nvPr/>
        </p:nvPicPr>
        <p:blipFill>
          <a:blip r:embed="rId3"/>
          <a:stretch>
            <a:fillRect/>
          </a:stretch>
        </p:blipFill>
        <p:spPr>
          <a:xfrm>
            <a:off x="1097280" y="3100360"/>
            <a:ext cx="4395020" cy="2261584"/>
          </a:xfrm>
          <a:prstGeom prst="rect">
            <a:avLst/>
          </a:prstGeom>
        </p:spPr>
      </p:pic>
    </p:spTree>
    <p:extLst>
      <p:ext uri="{BB962C8B-B14F-4D97-AF65-F5344CB8AC3E}">
        <p14:creationId xmlns:p14="http://schemas.microsoft.com/office/powerpoint/2010/main" val="2858737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FA0BD-ED4F-3DB1-902C-AF8B484AF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A3177-FBFA-C83E-BA76-961E70F4B4F4}"/>
              </a:ext>
            </a:extLst>
          </p:cNvPr>
          <p:cNvSpPr>
            <a:spLocks noGrp="1"/>
          </p:cNvSpPr>
          <p:nvPr>
            <p:ph type="title"/>
          </p:nvPr>
        </p:nvSpPr>
        <p:spPr>
          <a:xfrm>
            <a:off x="1156275" y="280704"/>
            <a:ext cx="10058400" cy="1450757"/>
          </a:xfrm>
        </p:spPr>
        <p:txBody>
          <a:bodyPr/>
          <a:lstStyle/>
          <a:p>
            <a:r>
              <a:rPr lang="en-IN" dirty="0"/>
              <a:t>MBA (using KNIME) Inferences</a:t>
            </a:r>
          </a:p>
        </p:txBody>
      </p:sp>
      <p:sp>
        <p:nvSpPr>
          <p:cNvPr id="3" name="Slide Number Placeholder 2">
            <a:extLst>
              <a:ext uri="{FF2B5EF4-FFF2-40B4-BE49-F238E27FC236}">
                <a16:creationId xmlns:a16="http://schemas.microsoft.com/office/drawing/2014/main" id="{6E89FCA4-A76A-B030-F5D3-F4476833F9B2}"/>
              </a:ext>
            </a:extLst>
          </p:cNvPr>
          <p:cNvSpPr>
            <a:spLocks noGrp="1"/>
          </p:cNvSpPr>
          <p:nvPr>
            <p:ph type="sldNum" sz="quarter" idx="12"/>
          </p:nvPr>
        </p:nvSpPr>
        <p:spPr>
          <a:xfrm>
            <a:off x="9705780" y="6766551"/>
            <a:ext cx="1312025" cy="365125"/>
          </a:xfrm>
        </p:spPr>
        <p:txBody>
          <a:bodyPr/>
          <a:lstStyle/>
          <a:p>
            <a:fld id="{D57F1E4F-1CFF-5643-939E-217C01CDF565}" type="slidenum">
              <a:rPr lang="en-US" smtClean="0"/>
              <a:pPr/>
              <a:t>16</a:t>
            </a:fld>
            <a:endParaRPr lang="en-US" dirty="0"/>
          </a:p>
        </p:txBody>
      </p:sp>
      <p:sp>
        <p:nvSpPr>
          <p:cNvPr id="6" name="Rectangle 1">
            <a:extLst>
              <a:ext uri="{FF2B5EF4-FFF2-40B4-BE49-F238E27FC236}">
                <a16:creationId xmlns:a16="http://schemas.microsoft.com/office/drawing/2014/main" id="{0E6DA860-4585-457F-3AF1-6A56BC2A2786}"/>
              </a:ext>
            </a:extLst>
          </p:cNvPr>
          <p:cNvSpPr>
            <a:spLocks noGrp="1" noChangeArrowheads="1"/>
          </p:cNvSpPr>
          <p:nvPr>
            <p:ph idx="1"/>
          </p:nvPr>
        </p:nvSpPr>
        <p:spPr bwMode="auto">
          <a:xfrm>
            <a:off x="1014690" y="2157463"/>
            <a:ext cx="7742825" cy="3470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rPr>
              <a:t>In-Depth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rPr>
              <a:t>1: Core Basket Drivers Involve Common Household Essentials:</a:t>
            </a:r>
            <a:r>
              <a:rPr lang="en-US" altLang="en-US" sz="1000" b="1" dirty="0">
                <a:solidFill>
                  <a:schemeClr val="tx1"/>
                </a:solidFill>
              </a:rPr>
              <a:t> </a:t>
            </a:r>
            <a:r>
              <a:rPr kumimoji="0" lang="en-US" altLang="en-US" sz="1000" b="0" i="0" u="none" strike="noStrike" cap="none" normalizeH="0" baseline="0" dirty="0">
                <a:ln>
                  <a:noFill/>
                </a:ln>
                <a:solidFill>
                  <a:schemeClr val="tx1"/>
                </a:solidFill>
                <a:effectLst/>
              </a:rPr>
              <a:t>From your dataset, many of the frequently occurring items in the baskets include:</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all-purpose cleaner</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aluminum foil</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coffee/tea</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Cereals</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bagels</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beef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rPr>
              <a:t>These products are essential or staple items that are </a:t>
            </a:r>
            <a:r>
              <a:rPr kumimoji="0" lang="en-US" altLang="en-US" sz="1000" b="1" i="0" u="none" strike="noStrike" cap="none" normalizeH="0" baseline="0" dirty="0">
                <a:ln>
                  <a:noFill/>
                </a:ln>
                <a:solidFill>
                  <a:schemeClr val="tx1"/>
                </a:solidFill>
                <a:effectLst/>
              </a:rPr>
              <a:t>frequently bought</a:t>
            </a:r>
            <a:r>
              <a:rPr kumimoji="0" lang="en-US" altLang="en-US" sz="1000" b="0" i="0" u="none" strike="noStrike" cap="none" normalizeH="0" baseline="0" dirty="0">
                <a:ln>
                  <a:noFill/>
                </a:ln>
                <a:solidFill>
                  <a:schemeClr val="tx1"/>
                </a:solidFill>
                <a:effectLst/>
              </a:rPr>
              <a:t> and likely form the </a:t>
            </a:r>
            <a:r>
              <a:rPr kumimoji="0" lang="en-US" altLang="en-US" sz="1000" b="1" i="0" u="none" strike="noStrike" cap="none" normalizeH="0" baseline="0" dirty="0">
                <a:ln>
                  <a:noFill/>
                </a:ln>
                <a:solidFill>
                  <a:schemeClr val="tx1"/>
                </a:solidFill>
                <a:effectLst/>
              </a:rPr>
              <a:t>base of shopping baskets</a:t>
            </a:r>
            <a:r>
              <a:rPr kumimoji="0" lang="en-US" altLang="en-US" sz="1000" b="0" i="0" u="none" strike="noStrike" cap="none" normalizeH="0" baseline="0" dirty="0">
                <a:ln>
                  <a:noFill/>
                </a:ln>
                <a:solidFill>
                  <a:schemeClr val="tx1"/>
                </a:solidFill>
                <a:effectLst/>
              </a:rPr>
              <a:t>. This suggests:</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Customers tend to stock up on </a:t>
            </a:r>
            <a:r>
              <a:rPr kumimoji="0" lang="en-US" altLang="en-US" sz="800" b="1" i="0" u="none" strike="noStrike" cap="none" normalizeH="0" baseline="0" dirty="0">
                <a:ln>
                  <a:noFill/>
                </a:ln>
                <a:solidFill>
                  <a:schemeClr val="tx1"/>
                </a:solidFill>
                <a:effectLst/>
              </a:rPr>
              <a:t>both food and non-food essentials</a:t>
            </a:r>
            <a:r>
              <a:rPr kumimoji="0" lang="en-US" altLang="en-US" sz="800" b="0" i="0" u="none" strike="noStrike" cap="none" normalizeH="0" baseline="0" dirty="0">
                <a:ln>
                  <a:noFill/>
                </a:ln>
                <a:solidFill>
                  <a:schemeClr val="tx1"/>
                </a:solidFill>
                <a:effectLst/>
              </a:rPr>
              <a:t> in the same trip.</a:t>
            </a:r>
          </a:p>
          <a:p>
            <a:pPr marL="292608" lvl="1" indent="0" eaLnBrk="0" fontAlgn="base" hangingPunct="0">
              <a:lnSpc>
                <a:spcPct val="100000"/>
              </a:lnSpc>
              <a:spcBef>
                <a:spcPct val="0"/>
              </a:spcBef>
              <a:spcAft>
                <a:spcPct val="0"/>
              </a:spcAft>
              <a:buClrTx/>
              <a:buFontTx/>
              <a:buChar char="•"/>
            </a:pPr>
            <a:r>
              <a:rPr kumimoji="0" lang="en-US" altLang="en-US" sz="800" b="0" i="0" u="none" strike="noStrike" cap="none" normalizeH="0" baseline="0" dirty="0">
                <a:ln>
                  <a:noFill/>
                </a:ln>
                <a:solidFill>
                  <a:schemeClr val="tx1"/>
                </a:solidFill>
                <a:effectLst/>
              </a:rPr>
              <a:t>These staple items act as </a:t>
            </a:r>
            <a:r>
              <a:rPr kumimoji="0" lang="en-US" altLang="en-US" sz="800" b="1" i="0" u="none" strike="noStrike" cap="none" normalizeH="0" baseline="0" dirty="0">
                <a:ln>
                  <a:noFill/>
                </a:ln>
                <a:solidFill>
                  <a:schemeClr val="tx1"/>
                </a:solidFill>
                <a:effectLst/>
              </a:rPr>
              <a:t>"basket anchors"</a:t>
            </a:r>
            <a:r>
              <a:rPr kumimoji="0" lang="en-US" altLang="en-US" sz="800" b="0" i="0" u="none" strike="noStrike" cap="none" normalizeH="0" baseline="0" dirty="0">
                <a:ln>
                  <a:noFill/>
                </a:ln>
                <a:solidFill>
                  <a:schemeClr val="tx1"/>
                </a:solidFill>
                <a:effectLst/>
              </a:rPr>
              <a:t>, influencing purchase of secondary items.</a:t>
            </a:r>
          </a:p>
          <a:p>
            <a:pPr marL="292608" lvl="1" indent="0" eaLnBrk="0" fontAlgn="base" hangingPunct="0">
              <a:lnSpc>
                <a:spcPct val="100000"/>
              </a:lnSpc>
              <a:spcBef>
                <a:spcPct val="0"/>
              </a:spcBef>
              <a:spcAft>
                <a:spcPct val="0"/>
              </a:spcAft>
              <a:buClrTx/>
              <a:buNone/>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rPr>
              <a:t>Implication:</a:t>
            </a:r>
            <a:r>
              <a:rPr kumimoji="0" lang="en-US" altLang="en-US" sz="1000" b="0" i="0" u="none" strike="noStrike" cap="none" normalizeH="0" baseline="0" dirty="0">
                <a:ln>
                  <a:noFill/>
                </a:ln>
                <a:solidFill>
                  <a:schemeClr val="tx1"/>
                </a:solidFill>
                <a:effectLst/>
              </a:rPr>
              <a:t> These items can be used as “hooks” to trigger upselling via paired promotions.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chemeClr val="tx1"/>
              </a:solidFill>
            </a:endParaRPr>
          </a:p>
          <a:p>
            <a:pPr marL="0" indent="0">
              <a:buNone/>
            </a:pPr>
            <a:r>
              <a:rPr lang="en-US" sz="1000" b="1" dirty="0">
                <a:solidFill>
                  <a:schemeClr val="tx1"/>
                </a:solidFill>
              </a:rPr>
              <a:t>2: Cheeses, Pork, and Laundry Detergent Are High-Influence Association Targets:</a:t>
            </a:r>
          </a:p>
          <a:p>
            <a:pPr marL="0" indent="0">
              <a:buNone/>
            </a:pPr>
            <a:r>
              <a:rPr lang="en-US" sz="1000" dirty="0">
                <a:solidFill>
                  <a:schemeClr val="tx1"/>
                </a:solidFill>
              </a:rPr>
              <a:t>The following items were frequently purchased alongside large baskets of mixed goods, with:</a:t>
            </a:r>
          </a:p>
          <a:p>
            <a:pPr lvl="1">
              <a:buClrTx/>
              <a:buFont typeface="Arial" panose="020B0604020202020204" pitchFamily="34" charset="0"/>
              <a:buChar char="•"/>
            </a:pPr>
            <a:r>
              <a:rPr lang="en-US" sz="800" b="1" dirty="0">
                <a:solidFill>
                  <a:schemeClr val="tx1"/>
                </a:solidFill>
              </a:rPr>
              <a:t>High confidence (~45%)</a:t>
            </a:r>
            <a:r>
              <a:rPr lang="en-US" sz="800" dirty="0">
                <a:solidFill>
                  <a:schemeClr val="tx1"/>
                </a:solidFill>
              </a:rPr>
              <a:t>: Customers who purchase certain baskets have a ~45% chance of also purchasing these.</a:t>
            </a:r>
          </a:p>
          <a:p>
            <a:pPr lvl="1">
              <a:buClrTx/>
              <a:buFont typeface="Arial" panose="020B0604020202020204" pitchFamily="34" charset="0"/>
              <a:buChar char="•"/>
            </a:pPr>
            <a:r>
              <a:rPr lang="en-US" sz="800" b="1" dirty="0">
                <a:solidFill>
                  <a:schemeClr val="tx1"/>
                </a:solidFill>
              </a:rPr>
              <a:t>Lift &gt; 1.17</a:t>
            </a:r>
            <a:r>
              <a:rPr lang="en-US" sz="800" dirty="0">
                <a:solidFill>
                  <a:schemeClr val="tx1"/>
                </a:solidFill>
              </a:rPr>
              <a:t>: Strong positive association beyond random chance.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p:txBody>
      </p:sp>
      <p:graphicFrame>
        <p:nvGraphicFramePr>
          <p:cNvPr id="7" name="Table 6">
            <a:extLst>
              <a:ext uri="{FF2B5EF4-FFF2-40B4-BE49-F238E27FC236}">
                <a16:creationId xmlns:a16="http://schemas.microsoft.com/office/drawing/2014/main" id="{6E50BC35-6E6B-BE56-4909-FB921FCB41C8}"/>
              </a:ext>
            </a:extLst>
          </p:cNvPr>
          <p:cNvGraphicFramePr>
            <a:graphicFrameLocks noGrp="1"/>
          </p:cNvGraphicFramePr>
          <p:nvPr>
            <p:extLst>
              <p:ext uri="{D42A27DB-BD31-4B8C-83A1-F6EECF244321}">
                <p14:modId xmlns:p14="http://schemas.microsoft.com/office/powerpoint/2010/main" val="842831439"/>
              </p:ext>
            </p:extLst>
          </p:nvPr>
        </p:nvGraphicFramePr>
        <p:xfrm>
          <a:off x="6796057" y="4278454"/>
          <a:ext cx="4636576" cy="1463040"/>
        </p:xfrm>
        <a:graphic>
          <a:graphicData uri="http://schemas.openxmlformats.org/drawingml/2006/table">
            <a:tbl>
              <a:tblPr/>
              <a:tblGrid>
                <a:gridCol w="1159144">
                  <a:extLst>
                    <a:ext uri="{9D8B030D-6E8A-4147-A177-3AD203B41FA5}">
                      <a16:colId xmlns:a16="http://schemas.microsoft.com/office/drawing/2014/main" val="2087299359"/>
                    </a:ext>
                  </a:extLst>
                </a:gridCol>
                <a:gridCol w="1159144">
                  <a:extLst>
                    <a:ext uri="{9D8B030D-6E8A-4147-A177-3AD203B41FA5}">
                      <a16:colId xmlns:a16="http://schemas.microsoft.com/office/drawing/2014/main" val="3631501106"/>
                    </a:ext>
                  </a:extLst>
                </a:gridCol>
                <a:gridCol w="1159144">
                  <a:extLst>
                    <a:ext uri="{9D8B030D-6E8A-4147-A177-3AD203B41FA5}">
                      <a16:colId xmlns:a16="http://schemas.microsoft.com/office/drawing/2014/main" val="3688708416"/>
                    </a:ext>
                  </a:extLst>
                </a:gridCol>
                <a:gridCol w="1159144">
                  <a:extLst>
                    <a:ext uri="{9D8B030D-6E8A-4147-A177-3AD203B41FA5}">
                      <a16:colId xmlns:a16="http://schemas.microsoft.com/office/drawing/2014/main" val="2638287398"/>
                    </a:ext>
                  </a:extLst>
                </a:gridCol>
              </a:tblGrid>
              <a:tr h="220596">
                <a:tc>
                  <a:txBody>
                    <a:bodyPr/>
                    <a:lstStyle/>
                    <a:p>
                      <a:r>
                        <a:rPr lang="en-IN" sz="800"/>
                        <a:t>Recommended Product</a:t>
                      </a:r>
                    </a:p>
                  </a:txBody>
                  <a:tcPr anchor="ctr">
                    <a:lnL>
                      <a:noFill/>
                    </a:lnL>
                    <a:lnR>
                      <a:noFill/>
                    </a:lnR>
                    <a:lnT>
                      <a:noFill/>
                    </a:lnT>
                    <a:lnB>
                      <a:noFill/>
                    </a:lnB>
                    <a:noFill/>
                  </a:tcPr>
                </a:tc>
                <a:tc>
                  <a:txBody>
                    <a:bodyPr/>
                    <a:lstStyle/>
                    <a:p>
                      <a:r>
                        <a:rPr lang="en-IN" sz="800"/>
                        <a:t>Average Confidence</a:t>
                      </a:r>
                    </a:p>
                  </a:txBody>
                  <a:tcPr anchor="ctr">
                    <a:lnL>
                      <a:noFill/>
                    </a:lnL>
                    <a:lnR>
                      <a:noFill/>
                    </a:lnR>
                    <a:lnT>
                      <a:noFill/>
                    </a:lnT>
                    <a:lnB>
                      <a:noFill/>
                    </a:lnB>
                    <a:noFill/>
                  </a:tcPr>
                </a:tc>
                <a:tc>
                  <a:txBody>
                    <a:bodyPr/>
                    <a:lstStyle/>
                    <a:p>
                      <a:r>
                        <a:rPr lang="en-IN" sz="800"/>
                        <a:t>Average Lift</a:t>
                      </a:r>
                    </a:p>
                  </a:txBody>
                  <a:tcPr anchor="ctr">
                    <a:lnL>
                      <a:noFill/>
                    </a:lnL>
                    <a:lnR>
                      <a:noFill/>
                    </a:lnR>
                    <a:lnT>
                      <a:noFill/>
                    </a:lnT>
                    <a:lnB>
                      <a:noFill/>
                    </a:lnB>
                    <a:noFill/>
                  </a:tcPr>
                </a:tc>
                <a:tc>
                  <a:txBody>
                    <a:bodyPr/>
                    <a:lstStyle/>
                    <a:p>
                      <a:r>
                        <a:rPr lang="en-IN" sz="800" dirty="0"/>
                        <a:t>Implication</a:t>
                      </a:r>
                    </a:p>
                  </a:txBody>
                  <a:tcPr anchor="ctr">
                    <a:lnL>
                      <a:noFill/>
                    </a:lnL>
                    <a:lnR>
                      <a:noFill/>
                    </a:lnR>
                    <a:lnT>
                      <a:noFill/>
                    </a:lnT>
                    <a:lnB>
                      <a:noFill/>
                    </a:lnB>
                    <a:noFill/>
                  </a:tcPr>
                </a:tc>
                <a:extLst>
                  <a:ext uri="{0D108BD9-81ED-4DB2-BD59-A6C34878D82A}">
                    <a16:rowId xmlns:a16="http://schemas.microsoft.com/office/drawing/2014/main" val="473301283"/>
                  </a:ext>
                </a:extLst>
              </a:tr>
              <a:tr h="220596">
                <a:tc>
                  <a:txBody>
                    <a:bodyPr/>
                    <a:lstStyle/>
                    <a:p>
                      <a:r>
                        <a:rPr lang="en-IN" sz="800" b="1"/>
                        <a:t>Cheeses</a:t>
                      </a:r>
                      <a:endParaRPr lang="en-IN" sz="800"/>
                    </a:p>
                  </a:txBody>
                  <a:tcPr anchor="ctr">
                    <a:lnL>
                      <a:noFill/>
                    </a:lnL>
                    <a:lnR>
                      <a:noFill/>
                    </a:lnR>
                    <a:lnT>
                      <a:noFill/>
                    </a:lnT>
                    <a:lnB>
                      <a:noFill/>
                    </a:lnB>
                    <a:noFill/>
                  </a:tcPr>
                </a:tc>
                <a:tc>
                  <a:txBody>
                    <a:bodyPr/>
                    <a:lstStyle/>
                    <a:p>
                      <a:r>
                        <a:rPr lang="en-IN" sz="800"/>
                        <a:t>44.8%</a:t>
                      </a:r>
                    </a:p>
                  </a:txBody>
                  <a:tcPr anchor="ctr">
                    <a:lnL>
                      <a:noFill/>
                    </a:lnL>
                    <a:lnR>
                      <a:noFill/>
                    </a:lnR>
                    <a:lnT>
                      <a:noFill/>
                    </a:lnT>
                    <a:lnB>
                      <a:noFill/>
                    </a:lnB>
                    <a:noFill/>
                  </a:tcPr>
                </a:tc>
                <a:tc>
                  <a:txBody>
                    <a:bodyPr/>
                    <a:lstStyle/>
                    <a:p>
                      <a:r>
                        <a:rPr lang="en-IN" sz="800"/>
                        <a:t>1.18</a:t>
                      </a:r>
                    </a:p>
                  </a:txBody>
                  <a:tcPr anchor="ctr">
                    <a:lnL>
                      <a:noFill/>
                    </a:lnL>
                    <a:lnR>
                      <a:noFill/>
                    </a:lnR>
                    <a:lnT>
                      <a:noFill/>
                    </a:lnT>
                    <a:lnB>
                      <a:noFill/>
                    </a:lnB>
                    <a:noFill/>
                  </a:tcPr>
                </a:tc>
                <a:tc>
                  <a:txBody>
                    <a:bodyPr/>
                    <a:lstStyle/>
                    <a:p>
                      <a:r>
                        <a:rPr lang="en-IN" sz="800" dirty="0"/>
                        <a:t>Strong complementary item</a:t>
                      </a:r>
                    </a:p>
                  </a:txBody>
                  <a:tcPr anchor="ctr">
                    <a:lnL>
                      <a:noFill/>
                    </a:lnL>
                    <a:lnR>
                      <a:noFill/>
                    </a:lnR>
                    <a:lnT>
                      <a:noFill/>
                    </a:lnT>
                    <a:lnB>
                      <a:noFill/>
                    </a:lnB>
                    <a:noFill/>
                  </a:tcPr>
                </a:tc>
                <a:extLst>
                  <a:ext uri="{0D108BD9-81ED-4DB2-BD59-A6C34878D82A}">
                    <a16:rowId xmlns:a16="http://schemas.microsoft.com/office/drawing/2014/main" val="997203361"/>
                  </a:ext>
                </a:extLst>
              </a:tr>
              <a:tr h="220596">
                <a:tc>
                  <a:txBody>
                    <a:bodyPr/>
                    <a:lstStyle/>
                    <a:p>
                      <a:r>
                        <a:rPr lang="en-IN" sz="800" b="1"/>
                        <a:t>Pork</a:t>
                      </a:r>
                      <a:endParaRPr lang="en-IN" sz="800"/>
                    </a:p>
                  </a:txBody>
                  <a:tcPr anchor="ctr">
                    <a:lnL>
                      <a:noFill/>
                    </a:lnL>
                    <a:lnR>
                      <a:noFill/>
                    </a:lnR>
                    <a:lnT>
                      <a:noFill/>
                    </a:lnT>
                    <a:lnB>
                      <a:noFill/>
                    </a:lnB>
                    <a:noFill/>
                  </a:tcPr>
                </a:tc>
                <a:tc>
                  <a:txBody>
                    <a:bodyPr/>
                    <a:lstStyle/>
                    <a:p>
                      <a:r>
                        <a:rPr lang="en-IN" sz="800"/>
                        <a:t>44.6%</a:t>
                      </a:r>
                    </a:p>
                  </a:txBody>
                  <a:tcPr anchor="ctr">
                    <a:lnL>
                      <a:noFill/>
                    </a:lnL>
                    <a:lnR>
                      <a:noFill/>
                    </a:lnR>
                    <a:lnT>
                      <a:noFill/>
                    </a:lnT>
                    <a:lnB>
                      <a:noFill/>
                    </a:lnB>
                    <a:noFill/>
                  </a:tcPr>
                </a:tc>
                <a:tc>
                  <a:txBody>
                    <a:bodyPr/>
                    <a:lstStyle/>
                    <a:p>
                      <a:r>
                        <a:rPr lang="en-IN" sz="800"/>
                        <a:t>1.17</a:t>
                      </a:r>
                    </a:p>
                  </a:txBody>
                  <a:tcPr anchor="ctr">
                    <a:lnL>
                      <a:noFill/>
                    </a:lnL>
                    <a:lnR>
                      <a:noFill/>
                    </a:lnR>
                    <a:lnT>
                      <a:noFill/>
                    </a:lnT>
                    <a:lnB>
                      <a:noFill/>
                    </a:lnB>
                    <a:noFill/>
                  </a:tcPr>
                </a:tc>
                <a:tc>
                  <a:txBody>
                    <a:bodyPr/>
                    <a:lstStyle/>
                    <a:p>
                      <a:r>
                        <a:rPr lang="en-IN" sz="800"/>
                        <a:t>High protein + grocery synergy</a:t>
                      </a:r>
                    </a:p>
                  </a:txBody>
                  <a:tcPr anchor="ctr">
                    <a:lnL>
                      <a:noFill/>
                    </a:lnL>
                    <a:lnR>
                      <a:noFill/>
                    </a:lnR>
                    <a:lnT>
                      <a:noFill/>
                    </a:lnT>
                    <a:lnB>
                      <a:noFill/>
                    </a:lnB>
                    <a:noFill/>
                  </a:tcPr>
                </a:tc>
                <a:extLst>
                  <a:ext uri="{0D108BD9-81ED-4DB2-BD59-A6C34878D82A}">
                    <a16:rowId xmlns:a16="http://schemas.microsoft.com/office/drawing/2014/main" val="2788056616"/>
                  </a:ext>
                </a:extLst>
              </a:tr>
              <a:tr h="220596">
                <a:tc>
                  <a:txBody>
                    <a:bodyPr/>
                    <a:lstStyle/>
                    <a:p>
                      <a:r>
                        <a:rPr lang="en-IN" sz="800" b="1"/>
                        <a:t>Laundry Detergent</a:t>
                      </a:r>
                      <a:endParaRPr lang="en-IN" sz="800"/>
                    </a:p>
                  </a:txBody>
                  <a:tcPr anchor="ctr">
                    <a:lnL>
                      <a:noFill/>
                    </a:lnL>
                    <a:lnR>
                      <a:noFill/>
                    </a:lnR>
                    <a:lnT>
                      <a:noFill/>
                    </a:lnT>
                    <a:lnB>
                      <a:noFill/>
                    </a:lnB>
                    <a:noFill/>
                  </a:tcPr>
                </a:tc>
                <a:tc>
                  <a:txBody>
                    <a:bodyPr/>
                    <a:lstStyle/>
                    <a:p>
                      <a:r>
                        <a:rPr lang="en-IN" sz="800"/>
                        <a:t>44.9%</a:t>
                      </a:r>
                    </a:p>
                  </a:txBody>
                  <a:tcPr anchor="ctr">
                    <a:lnL>
                      <a:noFill/>
                    </a:lnL>
                    <a:lnR>
                      <a:noFill/>
                    </a:lnR>
                    <a:lnT>
                      <a:noFill/>
                    </a:lnT>
                    <a:lnB>
                      <a:noFill/>
                    </a:lnB>
                    <a:noFill/>
                  </a:tcPr>
                </a:tc>
                <a:tc>
                  <a:txBody>
                    <a:bodyPr/>
                    <a:lstStyle/>
                    <a:p>
                      <a:r>
                        <a:rPr lang="en-IN" sz="800"/>
                        <a:t>1.18</a:t>
                      </a:r>
                    </a:p>
                  </a:txBody>
                  <a:tcPr anchor="ctr">
                    <a:lnL>
                      <a:noFill/>
                    </a:lnL>
                    <a:lnR>
                      <a:noFill/>
                    </a:lnR>
                    <a:lnT>
                      <a:noFill/>
                    </a:lnT>
                    <a:lnB>
                      <a:noFill/>
                    </a:lnB>
                    <a:noFill/>
                  </a:tcPr>
                </a:tc>
                <a:tc>
                  <a:txBody>
                    <a:bodyPr/>
                    <a:lstStyle/>
                    <a:p>
                      <a:r>
                        <a:rPr lang="en-US" sz="800" dirty="0"/>
                        <a:t>Strong correlation between cleaning and grocery</a:t>
                      </a:r>
                    </a:p>
                  </a:txBody>
                  <a:tcPr anchor="ctr">
                    <a:lnL>
                      <a:noFill/>
                    </a:lnL>
                    <a:lnR>
                      <a:noFill/>
                    </a:lnR>
                    <a:lnT>
                      <a:noFill/>
                    </a:lnT>
                    <a:lnB>
                      <a:noFill/>
                    </a:lnB>
                    <a:noFill/>
                  </a:tcPr>
                </a:tc>
                <a:extLst>
                  <a:ext uri="{0D108BD9-81ED-4DB2-BD59-A6C34878D82A}">
                    <a16:rowId xmlns:a16="http://schemas.microsoft.com/office/drawing/2014/main" val="3785781585"/>
                  </a:ext>
                </a:extLst>
              </a:tr>
            </a:tbl>
          </a:graphicData>
        </a:graphic>
      </p:graphicFrame>
    </p:spTree>
    <p:extLst>
      <p:ext uri="{BB962C8B-B14F-4D97-AF65-F5344CB8AC3E}">
        <p14:creationId xmlns:p14="http://schemas.microsoft.com/office/powerpoint/2010/main" val="3154062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7AD9D-640E-F6A2-A67E-705322BF8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D70B0-373D-20EB-2B9F-BE2AD1837C84}"/>
              </a:ext>
            </a:extLst>
          </p:cNvPr>
          <p:cNvSpPr>
            <a:spLocks noGrp="1"/>
          </p:cNvSpPr>
          <p:nvPr>
            <p:ph type="title"/>
          </p:nvPr>
        </p:nvSpPr>
        <p:spPr/>
        <p:txBody>
          <a:bodyPr/>
          <a:lstStyle/>
          <a:p>
            <a:r>
              <a:rPr lang="en-IN" dirty="0"/>
              <a:t>MBA (using KNIME) Inferences</a:t>
            </a:r>
          </a:p>
        </p:txBody>
      </p:sp>
      <p:sp>
        <p:nvSpPr>
          <p:cNvPr id="3" name="Content Placeholder 2">
            <a:extLst>
              <a:ext uri="{FF2B5EF4-FFF2-40B4-BE49-F238E27FC236}">
                <a16:creationId xmlns:a16="http://schemas.microsoft.com/office/drawing/2014/main" id="{8D783201-8B79-DB9F-855E-AD48EA9911AA}"/>
              </a:ext>
            </a:extLst>
          </p:cNvPr>
          <p:cNvSpPr>
            <a:spLocks noGrp="1"/>
          </p:cNvSpPr>
          <p:nvPr>
            <p:ph idx="1"/>
          </p:nvPr>
        </p:nvSpPr>
        <p:spPr/>
        <p:txBody>
          <a:bodyPr>
            <a:normAutofit/>
          </a:bodyPr>
          <a:lstStyle/>
          <a:p>
            <a:r>
              <a:rPr lang="en-US" sz="1000" b="1" dirty="0"/>
              <a:t>3: Certain Product Combinations Suggest Lifestyle or Meal Preferences: </a:t>
            </a:r>
            <a:r>
              <a:rPr lang="en-US" sz="1000" dirty="0"/>
              <a:t>Some baskets hint at </a:t>
            </a:r>
            <a:r>
              <a:rPr lang="en-US" sz="1000" b="1" dirty="0"/>
              <a:t>specific customer behaviors</a:t>
            </a:r>
            <a:r>
              <a:rPr lang="en-US" sz="1000" dirty="0"/>
              <a:t>, for example:</a:t>
            </a:r>
          </a:p>
          <a:p>
            <a:pPr lvl="1">
              <a:buClrTx/>
              <a:buFont typeface="Arial" panose="020B0604020202020204" pitchFamily="34" charset="0"/>
              <a:buChar char="•"/>
            </a:pPr>
            <a:r>
              <a:rPr lang="en-US" sz="800" b="1" dirty="0"/>
              <a:t>All-purpose + Coffee/Tea → Laundry Detergent</a:t>
            </a:r>
            <a:br>
              <a:rPr lang="en-US" sz="800" dirty="0"/>
            </a:br>
            <a:r>
              <a:rPr lang="en-US" sz="800" dirty="0"/>
              <a:t>Suggests household restocking missions, not just food-based trips.</a:t>
            </a:r>
          </a:p>
          <a:p>
            <a:pPr lvl="1">
              <a:buClrTx/>
              <a:buFont typeface="Arial" panose="020B0604020202020204" pitchFamily="34" charset="0"/>
              <a:buChar char="•"/>
            </a:pPr>
            <a:r>
              <a:rPr lang="en-US" sz="800" b="1" dirty="0"/>
              <a:t>Beef + All-purpose → Sandwich Loaves</a:t>
            </a:r>
            <a:br>
              <a:rPr lang="en-US" sz="800" dirty="0"/>
            </a:br>
            <a:r>
              <a:rPr lang="en-US" sz="800" dirty="0"/>
              <a:t>Indicates prep for meals like sandwiches, implying convenience-oriented buying.</a:t>
            </a:r>
          </a:p>
          <a:p>
            <a:pPr lvl="1">
              <a:buClrTx/>
              <a:buFont typeface="Arial" panose="020B0604020202020204" pitchFamily="34" charset="0"/>
              <a:buChar char="•"/>
            </a:pPr>
            <a:r>
              <a:rPr lang="en-US" sz="800" b="1" dirty="0"/>
              <a:t>Bagels + All-purpose → Dinner Rolls</a:t>
            </a:r>
            <a:br>
              <a:rPr lang="en-US" sz="800" dirty="0"/>
            </a:br>
            <a:r>
              <a:rPr lang="en-US" sz="800" dirty="0"/>
              <a:t>Suggests customers interested in </a:t>
            </a:r>
            <a:r>
              <a:rPr lang="en-US" sz="800" b="1" dirty="0"/>
              <a:t>breakfast and bread-focused meals</a:t>
            </a:r>
            <a:r>
              <a:rPr lang="en-US" sz="800" dirty="0"/>
              <a:t>.</a:t>
            </a:r>
          </a:p>
          <a:p>
            <a:r>
              <a:rPr lang="en-US" sz="1000" b="1" dirty="0"/>
              <a:t>Implication:</a:t>
            </a:r>
            <a:r>
              <a:rPr lang="en-US" sz="1000" dirty="0"/>
              <a:t> You can derive </a:t>
            </a:r>
            <a:r>
              <a:rPr lang="en-US" sz="1000" b="1" dirty="0"/>
              <a:t>purchase intent</a:t>
            </a:r>
            <a:r>
              <a:rPr lang="en-US" sz="1000" dirty="0"/>
              <a:t> (e.g., meal planning, household cleaning) from these rules and tailor </a:t>
            </a:r>
            <a:r>
              <a:rPr lang="en-US" sz="1000" b="1" dirty="0"/>
              <a:t>time-based offers</a:t>
            </a:r>
            <a:r>
              <a:rPr lang="en-US" sz="1000" dirty="0"/>
              <a:t> (e.g., weekend family packs).</a:t>
            </a:r>
          </a:p>
          <a:p>
            <a:pPr marL="0" indent="0">
              <a:buNone/>
            </a:pPr>
            <a:r>
              <a:rPr lang="en-IN" dirty="0"/>
              <a:t>Recommendations:</a:t>
            </a:r>
          </a:p>
          <a:p>
            <a:r>
              <a:rPr lang="en-IN" sz="1000" b="1" dirty="0"/>
              <a:t>1. Launch Cross-Category Bundle Offers: </a:t>
            </a:r>
            <a:r>
              <a:rPr lang="en-IN" sz="1000" dirty="0"/>
              <a:t>Design cross-category promotions such as:</a:t>
            </a:r>
          </a:p>
          <a:p>
            <a:pPr lvl="1">
              <a:buClrTx/>
              <a:buFont typeface="Arial" panose="020B0604020202020204" pitchFamily="34" charset="0"/>
              <a:buChar char="•"/>
            </a:pPr>
            <a:r>
              <a:rPr lang="en-IN" sz="900" b="1" dirty="0"/>
              <a:t>"Weekend Essentials Combo"</a:t>
            </a:r>
            <a:r>
              <a:rPr lang="en-IN" sz="900" dirty="0"/>
              <a:t>: All-purpose + Coffee/Tea + Laundry Detergent (Home care + Grocery)</a:t>
            </a:r>
          </a:p>
          <a:p>
            <a:pPr lvl="1">
              <a:buClrTx/>
              <a:buFont typeface="Arial" panose="020B0604020202020204" pitchFamily="34" charset="0"/>
              <a:buChar char="•"/>
            </a:pPr>
            <a:r>
              <a:rPr lang="en-IN" sz="900" b="1" dirty="0"/>
              <a:t>"Protein + Bread Value Pack"</a:t>
            </a:r>
            <a:r>
              <a:rPr lang="en-IN" sz="900" dirty="0"/>
              <a:t>: Beef + Sandwich Loaves</a:t>
            </a:r>
          </a:p>
          <a:p>
            <a:pPr lvl="1">
              <a:buClrTx/>
              <a:buFont typeface="Arial" panose="020B0604020202020204" pitchFamily="34" charset="0"/>
              <a:buChar char="•"/>
            </a:pPr>
            <a:r>
              <a:rPr lang="en-IN" sz="900" b="1" dirty="0"/>
              <a:t>"Morning Meal Bundle"</a:t>
            </a:r>
            <a:r>
              <a:rPr lang="en-IN" sz="900" dirty="0"/>
              <a:t>: Bagels + Dinner Rolls + Cheese</a:t>
            </a:r>
          </a:p>
          <a:p>
            <a:r>
              <a:rPr lang="en-US" sz="1000" b="1" dirty="0"/>
              <a:t>2</a:t>
            </a:r>
            <a:r>
              <a:rPr lang="en-US" sz="1300" b="1" dirty="0"/>
              <a:t>. </a:t>
            </a:r>
            <a:r>
              <a:rPr lang="en-US" sz="1000" b="1" dirty="0"/>
              <a:t>Optimize Store Layout and Product Placement</a:t>
            </a:r>
          </a:p>
          <a:p>
            <a:pPr lvl="1">
              <a:buClrTx/>
              <a:buFont typeface="Arial" panose="020B0604020202020204" pitchFamily="34" charset="0"/>
              <a:buChar char="•"/>
            </a:pPr>
            <a:r>
              <a:rPr lang="en-US" sz="900" dirty="0"/>
              <a:t>Use physical proximity in the store and UI proximity on e-commerce platforms:</a:t>
            </a:r>
          </a:p>
          <a:p>
            <a:pPr lvl="1">
              <a:buClrTx/>
              <a:buFont typeface="Arial" panose="020B0604020202020204" pitchFamily="34" charset="0"/>
              <a:buChar char="•"/>
            </a:pPr>
            <a:r>
              <a:rPr lang="en-US" sz="900" dirty="0"/>
              <a:t>Co-locate </a:t>
            </a:r>
            <a:r>
              <a:rPr lang="en-US" sz="900" b="1" dirty="0"/>
              <a:t>all-purpose cleaner and cheeses</a:t>
            </a:r>
            <a:r>
              <a:rPr lang="en-US" sz="900" dirty="0"/>
              <a:t> with signage like “Perfect Pairings for the Week.”</a:t>
            </a:r>
          </a:p>
          <a:p>
            <a:pPr lvl="1">
              <a:buClrTx/>
              <a:buFont typeface="Arial" panose="020B0604020202020204" pitchFamily="34" charset="0"/>
              <a:buChar char="•"/>
            </a:pPr>
            <a:r>
              <a:rPr lang="en-US" sz="900" dirty="0"/>
              <a:t>Place </a:t>
            </a:r>
            <a:r>
              <a:rPr lang="en-US" sz="900" b="1" dirty="0"/>
              <a:t>coffee/tea, aluminum foil</a:t>
            </a:r>
            <a:r>
              <a:rPr lang="en-US" sz="900" dirty="0"/>
              <a:t>, and </a:t>
            </a:r>
            <a:r>
              <a:rPr lang="en-US" sz="900" b="1" dirty="0"/>
              <a:t>detergents</a:t>
            </a:r>
            <a:r>
              <a:rPr lang="en-US" sz="900" dirty="0"/>
              <a:t> in a restock-oriented aisle zone.</a:t>
            </a:r>
          </a:p>
          <a:p>
            <a:pPr lvl="1">
              <a:buClrTx/>
              <a:buFont typeface="Arial" panose="020B0604020202020204" pitchFamily="34" charset="0"/>
              <a:buChar char="•"/>
            </a:pPr>
            <a:r>
              <a:rPr lang="en-US" sz="900" dirty="0"/>
              <a:t>Put </a:t>
            </a:r>
            <a:r>
              <a:rPr lang="en-US" sz="900" b="1" dirty="0"/>
              <a:t>bagels, sandwich loaves</a:t>
            </a:r>
            <a:r>
              <a:rPr lang="en-US" sz="900" dirty="0"/>
              <a:t>, and </a:t>
            </a:r>
            <a:r>
              <a:rPr lang="en-US" sz="900" b="1" dirty="0"/>
              <a:t>beef</a:t>
            </a:r>
            <a:r>
              <a:rPr lang="en-US" sz="900" dirty="0"/>
              <a:t> close together to encourage meal-focused shopping.</a:t>
            </a:r>
          </a:p>
          <a:p>
            <a:pPr marL="201168" lvl="1" indent="0">
              <a:buNone/>
            </a:pPr>
            <a:endParaRPr lang="en-IN" sz="800" b="1" dirty="0"/>
          </a:p>
          <a:p>
            <a:pPr marL="0" indent="0">
              <a:buNone/>
            </a:pPr>
            <a:endParaRPr lang="en-IN" sz="1000" dirty="0"/>
          </a:p>
        </p:txBody>
      </p:sp>
      <p:sp>
        <p:nvSpPr>
          <p:cNvPr id="4" name="Slide Number Placeholder 3">
            <a:extLst>
              <a:ext uri="{FF2B5EF4-FFF2-40B4-BE49-F238E27FC236}">
                <a16:creationId xmlns:a16="http://schemas.microsoft.com/office/drawing/2014/main" id="{B4C1635A-01A4-68A3-07C9-4A1D5FD43A0A}"/>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5043221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391</TotalTime>
  <Words>1821</Words>
  <Application>Microsoft Office PowerPoint</Application>
  <PresentationFormat>Widescreen</PresentationFormat>
  <Paragraphs>210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Retrospect</vt:lpstr>
      <vt:lpstr>MRA Project Part B</vt:lpstr>
      <vt:lpstr>Agenda – Part B: Market Basket Analysis Using Association Rules</vt:lpstr>
      <vt:lpstr>Business Overview</vt:lpstr>
      <vt:lpstr>Problem Statement</vt:lpstr>
      <vt:lpstr>Data Description</vt:lpstr>
      <vt:lpstr>EDA STARTS</vt:lpstr>
      <vt:lpstr>EDA cont..</vt:lpstr>
      <vt:lpstr>EDA cont..</vt:lpstr>
      <vt:lpstr>EDA cont..</vt:lpstr>
      <vt:lpstr>EDA cont..</vt:lpstr>
      <vt:lpstr>EDA cont..</vt:lpstr>
      <vt:lpstr>EDA cont..</vt:lpstr>
      <vt:lpstr>EDA SUMMARY [INFERENCES]</vt:lpstr>
      <vt:lpstr>MBA Starts</vt:lpstr>
      <vt:lpstr>MBA (using KNIME)</vt:lpstr>
      <vt:lpstr>MBA (using KNIME) Inferences</vt:lpstr>
      <vt:lpstr>MBA (using KNIME) Inferences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ML 1</dc:title>
  <dc:creator>Windows User</dc:creator>
  <cp:lastModifiedBy>Rajesh Mambulli</cp:lastModifiedBy>
  <cp:revision>7</cp:revision>
  <dcterms:created xsi:type="dcterms:W3CDTF">2021-05-25T13:38:16Z</dcterms:created>
  <dcterms:modified xsi:type="dcterms:W3CDTF">2025-06-15T15:48:02Z</dcterms:modified>
</cp:coreProperties>
</file>