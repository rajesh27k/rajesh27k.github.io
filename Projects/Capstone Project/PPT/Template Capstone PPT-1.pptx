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3" r:id="rId3"/>
    <p:sldId id="274" r:id="rId4"/>
    <p:sldId id="275" r:id="rId5"/>
    <p:sldId id="265" r:id="rId6"/>
    <p:sldId id="273" r:id="rId7"/>
    <p:sldId id="276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1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FC1"/>
    <a:srgbClr val="A2A4A4"/>
    <a:srgbClr val="5999D3"/>
    <a:srgbClr val="254175"/>
    <a:srgbClr val="6D6868"/>
    <a:srgbClr val="005296"/>
    <a:srgbClr val="014D8E"/>
    <a:srgbClr val="00589F"/>
    <a:srgbClr val="005FA8"/>
    <a:srgbClr val="00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70"/>
    <p:restoredTop sz="96208"/>
  </p:normalViewPr>
  <p:slideViewPr>
    <p:cSldViewPr snapToGrid="0" snapToObjects="1" showGuides="1">
      <p:cViewPr varScale="1">
        <p:scale>
          <a:sx n="155" d="100"/>
          <a:sy n="155" d="100"/>
        </p:scale>
        <p:origin x="180" y="294"/>
      </p:cViewPr>
      <p:guideLst>
        <p:guide orient="horz" pos="3748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896B-F54D-CB4E-8E1F-E922CD2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9CB30-EEA7-6C48-BA49-131675470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C9555-C9B4-D94D-A6AC-7000721C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B8D3-9A29-B64E-B444-0F0A1C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229D4-3156-F845-AAA9-9F4AAF57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3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2A24-3BCF-104F-B2B4-808FFA12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C088-CD2E-5547-B2FF-83C53C8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A407-11D9-5947-BBF3-D9FAD7D3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F927-7DAC-9341-842B-0FD264B3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873C-CF74-1049-BA6C-9C81E0EE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71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1A87C-251F-CB4D-AA3C-16067809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BE4E9-9A6A-714C-9DDC-E4500738C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9ECF-C4D9-6E4A-840B-E852BB7D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B227-288D-904A-95BB-5BE9882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549-73B6-8C4B-B667-111ADF17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1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7E6A-42EF-944F-A701-188B72DAC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1A28-F85A-CD49-95B6-8BDD3110B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70336-DDE3-E147-AAC4-D175A5EE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C7F5-0F77-CC4E-A7F3-E09E89CD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B59C2-A178-754D-898A-11EDEB4A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72E9B-7AC7-E942-A5A8-7CF1D9F2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D4EE-9647-124A-A396-2CD164183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BC021-8473-1247-A0A3-6E92389A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61C68-B174-6F42-A27E-E6DFD2819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3931-4430-B94E-B071-1A9E67B5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3A001-AFF5-8242-A49C-787813881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47992-8148-4B4B-88CE-1BD94B62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78456-4CE9-8E47-A1D5-F506F16D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1E0FB-33FF-614D-A183-66470F06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6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ACE1-36CE-3A43-83D4-971EE0E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4C53A-F68C-C543-B6B1-7918BAF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ACA56-584B-8249-9BAB-AD509316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22BB5-F0BF-C94C-BF58-AFC82296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0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40D476-EEF5-7540-AF03-C95B5E3AB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19" t="13182" r="3002" b="7575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4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9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F07356-A34D-4F4D-A489-BAAA1D2552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25" t="12803" r="7288" b="46015"/>
          <a:stretch/>
        </p:blipFill>
        <p:spPr>
          <a:xfrm>
            <a:off x="0" y="0"/>
            <a:ext cx="12192000" cy="36168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503D70-FF35-A949-A3D8-E63C868F3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686" t="451" r="7375" b="1"/>
          <a:stretch/>
        </p:blipFill>
        <p:spPr>
          <a:xfrm rot="20436793">
            <a:off x="-188402" y="2374729"/>
            <a:ext cx="13432426" cy="5601308"/>
          </a:xfrm>
          <a:custGeom>
            <a:avLst/>
            <a:gdLst>
              <a:gd name="connsiteX0" fmla="*/ 12359125 w 13432426"/>
              <a:gd name="connsiteY0" fmla="*/ 0 h 5601308"/>
              <a:gd name="connsiteX1" fmla="*/ 13432426 w 13432426"/>
              <a:gd name="connsiteY1" fmla="*/ 377691 h 5601308"/>
              <a:gd name="connsiteX2" fmla="*/ 13432426 w 13432426"/>
              <a:gd name="connsiteY2" fmla="*/ 778593 h 5601308"/>
              <a:gd name="connsiteX3" fmla="*/ 11735330 w 13432426"/>
              <a:gd name="connsiteY3" fmla="*/ 5601308 h 5601308"/>
              <a:gd name="connsiteX4" fmla="*/ 9605975 w 13432426"/>
              <a:gd name="connsiteY4" fmla="*/ 5601308 h 5601308"/>
              <a:gd name="connsiteX5" fmla="*/ 0 w 13432426"/>
              <a:gd name="connsiteY5" fmla="*/ 2221001 h 5601308"/>
              <a:gd name="connsiteX6" fmla="*/ 781562 w 13432426"/>
              <a:gd name="connsiteY6" fmla="*/ 0 h 560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2426" h="5601308">
                <a:moveTo>
                  <a:pt x="12359125" y="0"/>
                </a:moveTo>
                <a:lnTo>
                  <a:pt x="13432426" y="377691"/>
                </a:lnTo>
                <a:lnTo>
                  <a:pt x="13432426" y="778593"/>
                </a:lnTo>
                <a:lnTo>
                  <a:pt x="11735330" y="5601308"/>
                </a:lnTo>
                <a:lnTo>
                  <a:pt x="9605975" y="5601308"/>
                </a:lnTo>
                <a:lnTo>
                  <a:pt x="0" y="2221001"/>
                </a:lnTo>
                <a:lnTo>
                  <a:pt x="781562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360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BA7AC-F33E-C740-BF8D-F8385FEFA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025" t="16383" r="11065" b="12297"/>
          <a:stretch/>
        </p:blipFill>
        <p:spPr>
          <a:xfrm>
            <a:off x="0" y="0"/>
            <a:ext cx="11328400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3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68E9B-E8B9-FD4D-B2B9-D4F02F0B2B31}"/>
              </a:ext>
            </a:extLst>
          </p:cNvPr>
          <p:cNvSpPr/>
          <p:nvPr userDrawn="1"/>
        </p:nvSpPr>
        <p:spPr>
          <a:xfrm>
            <a:off x="11328400" y="0"/>
            <a:ext cx="863600" cy="6858000"/>
          </a:xfrm>
          <a:prstGeom prst="rect">
            <a:avLst/>
          </a:prstGeom>
          <a:gradFill>
            <a:gsLst>
              <a:gs pos="37000">
                <a:srgbClr val="0070C0"/>
              </a:gs>
              <a:gs pos="100000">
                <a:srgbClr val="00B0F0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832F23-5F8E-C24A-924C-295E5E3C0658}"/>
              </a:ext>
            </a:extLst>
          </p:cNvPr>
          <p:cNvSpPr/>
          <p:nvPr userDrawn="1"/>
        </p:nvSpPr>
        <p:spPr>
          <a:xfrm>
            <a:off x="10778066" y="5338233"/>
            <a:ext cx="1130300" cy="11303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12700" dir="2580000" sx="104000" sy="10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94B41FC5-8BC2-BB44-AC5B-4D88A06355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62216" y="552026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6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1018-2976-AA49-A740-DDC5D6D7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960F-3B9D-134F-920F-56EC4DE5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9E991-8828-2049-9393-950FD703A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5707-B915-DA47-9178-0C1ABADB0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4392B-A7E4-D143-BD60-F9538421A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51E37-109A-B343-B780-F7233ACA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0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2277-4EFA-E743-8BB3-E6C403E6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2D57E5-3218-D44D-89DB-D869107F7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F2D83-EAB4-CA44-A7F7-C18A4A71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B392-C1F3-764E-9AA3-457044F1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4A54A-FF07-7C48-999A-67D71B4B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8022A-1337-0B44-AEA8-E4615BE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8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3C27-9C65-3E45-873D-7188A54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68386-7936-D842-93AB-FC92510A5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1898-E20A-7241-B4F6-77B54730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5934C-A9FF-B24C-8179-DD4A08F8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683F-F7E4-5848-A263-3A612EE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FD4F-C622-364D-BAB7-1FCE2921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E67C-1202-244C-8382-954898328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452-BB22-FC4D-B6DC-D4C0270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DABA5-026E-9641-AAB0-00A2093D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273DA-7F7F-9343-A113-D4F5DF9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6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0D5B3-FA64-FD40-A370-F37EF9C6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7060-FA86-7942-99EC-88B397F1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0105-0DFD-3F40-AA87-1642704DF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BF8E-211B-9C43-825C-0671E50D7E3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CF04-95E7-7144-8A2B-1D7ADE927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8691-866E-CF46-9919-541469EDC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FDC9-3D54-674E-86E0-9C3C8672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7" r:id="rId8"/>
    <p:sldLayoutId id="2147483673" r:id="rId9"/>
    <p:sldLayoutId id="2147483675" r:id="rId10"/>
    <p:sldLayoutId id="2147483674" r:id="rId11"/>
    <p:sldLayoutId id="2147483676" r:id="rId12"/>
    <p:sldLayoutId id="2147483668" r:id="rId13"/>
    <p:sldLayoutId id="2147483669" r:id="rId14"/>
    <p:sldLayoutId id="2147483670" r:id="rId15"/>
    <p:sldLayoutId id="214748367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21ED-814E-F441-93A2-B7DC230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9" y="595020"/>
            <a:ext cx="3021463" cy="590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90AA6-3288-7A41-9F48-31D099259D5C}"/>
              </a:ext>
            </a:extLst>
          </p:cNvPr>
          <p:cNvSpPr txBox="1"/>
          <p:nvPr/>
        </p:nvSpPr>
        <p:spPr>
          <a:xfrm>
            <a:off x="282105" y="2367874"/>
            <a:ext cx="777816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Capstone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0E41-0F8D-4151-979A-4270FBA95E57}"/>
              </a:ext>
            </a:extLst>
          </p:cNvPr>
          <p:cNvSpPr txBox="1"/>
          <p:nvPr/>
        </p:nvSpPr>
        <p:spPr>
          <a:xfrm>
            <a:off x="282105" y="3503141"/>
            <a:ext cx="4881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</a:t>
            </a:r>
          </a:p>
          <a:p>
            <a:r>
              <a:rPr lang="en-IN" dirty="0"/>
              <a:t>Rajesh Mambulli</a:t>
            </a:r>
          </a:p>
        </p:txBody>
      </p:sp>
    </p:spTree>
    <p:extLst>
      <p:ext uri="{BB962C8B-B14F-4D97-AF65-F5344CB8AC3E}">
        <p14:creationId xmlns:p14="http://schemas.microsoft.com/office/powerpoint/2010/main" val="325227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-223745" y="8656"/>
            <a:ext cx="9327879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278701" y="1047906"/>
            <a:ext cx="638159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indent="0">
              <a:buNone/>
            </a:pPr>
            <a:r>
              <a:rPr lang="en-IN" sz="2800" dirty="0"/>
              <a:t>Business Problem:</a:t>
            </a:r>
          </a:p>
          <a:p>
            <a:pPr marL="25400" indent="0">
              <a:buNone/>
            </a:pPr>
            <a:r>
              <a:rPr lang="en-US" sz="1600" dirty="0"/>
              <a:t>We all know that Health care is very important domain in the market. It is directly linked with the life of the individual; hence we have to be always be proactive in this particular domain. Money plays a major role in this domain, because sometime treatment becomes super costly and if any individual is not covered under the insurance, then it will become a pretty tough financial situation for that individual. The companies in the medical insurance also want to reduce their risk by optimizing the insurance cost, because we all know a healthy body is in the hand of the individual only. If individual eat healthy and do proper exercise the chance of getting ill is drastically reduced. </a:t>
            </a:r>
          </a:p>
          <a:p>
            <a:pPr marL="25400" indent="0">
              <a:buNone/>
            </a:pPr>
            <a:endParaRPr lang="en-US" sz="1600" dirty="0"/>
          </a:p>
          <a:p>
            <a:pPr marL="25400"/>
            <a:r>
              <a:rPr lang="en-IN" sz="2800" dirty="0"/>
              <a:t>Goal &amp; Objective:</a:t>
            </a:r>
          </a:p>
          <a:p>
            <a:pPr marL="25400" indent="0">
              <a:buNone/>
            </a:pPr>
            <a:r>
              <a:rPr lang="en-US" sz="1600" dirty="0"/>
              <a:t>The objective of this exercise is to build a model, using data that provide the optimum insurance cost for an individual. You have to use the health and habit related parameters for the estimated cost of insurance.</a:t>
            </a:r>
          </a:p>
          <a:p>
            <a:pPr marL="25400" indent="0">
              <a:buNone/>
            </a:pPr>
            <a:endParaRPr lang="en-US" sz="1600" dirty="0"/>
          </a:p>
          <a:p>
            <a:pPr marL="25400"/>
            <a:r>
              <a:rPr lang="en-IN" sz="2800" dirty="0"/>
              <a:t>Target Variable: Insurance Cost</a:t>
            </a:r>
          </a:p>
          <a:p>
            <a:pPr marL="25400" indent="0">
              <a:buNone/>
            </a:pPr>
            <a:endParaRPr lang="en-US" sz="1600" dirty="0"/>
          </a:p>
          <a:p>
            <a:pPr marL="25400" indent="0">
              <a:buNone/>
            </a:pPr>
            <a:endParaRPr lang="en-US" sz="1600" dirty="0"/>
          </a:p>
          <a:p>
            <a:pPr marL="25400" indent="0">
              <a:buNone/>
            </a:pP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9EB19-4131-B769-4DC6-CF1249CCE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92" y="1462396"/>
            <a:ext cx="3701147" cy="3004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B3E2B9-5E3E-97C5-62C0-A0639CB5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92" y="4386742"/>
            <a:ext cx="4049563" cy="12479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15F849-4E64-DD9C-01A7-CCC495B60E5F}"/>
              </a:ext>
            </a:extLst>
          </p:cNvPr>
          <p:cNvSpPr txBox="1"/>
          <p:nvPr/>
        </p:nvSpPr>
        <p:spPr>
          <a:xfrm>
            <a:off x="6660292" y="1093064"/>
            <a:ext cx="2001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/>
            <a:r>
              <a:rPr lang="en-IN" sz="1800" dirty="0"/>
              <a:t>Data Dictionary:</a:t>
            </a:r>
          </a:p>
        </p:txBody>
      </p:sp>
    </p:spTree>
    <p:extLst>
      <p:ext uri="{BB962C8B-B14F-4D97-AF65-F5344CB8AC3E}">
        <p14:creationId xmlns:p14="http://schemas.microsoft.com/office/powerpoint/2010/main" val="95403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9E23-CF52-D5CA-6693-C5741D38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9BC2B7-F284-F172-F344-567B47BC82F5}"/>
              </a:ext>
            </a:extLst>
          </p:cNvPr>
          <p:cNvSpPr/>
          <p:nvPr/>
        </p:nvSpPr>
        <p:spPr>
          <a:xfrm>
            <a:off x="128422" y="-21540"/>
            <a:ext cx="10300681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AAF9E-949C-C6BA-9A25-B31690922308}"/>
              </a:ext>
            </a:extLst>
          </p:cNvPr>
          <p:cNvSpPr txBox="1"/>
          <p:nvPr/>
        </p:nvSpPr>
        <p:spPr>
          <a:xfrm>
            <a:off x="514350" y="732227"/>
            <a:ext cx="1030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r>
              <a:rPr lang="en-IN" sz="2800" dirty="0"/>
              <a:t>Exploratory Data Analysis :</a:t>
            </a:r>
          </a:p>
          <a:p>
            <a:pPr marL="2540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02109-2AC5-9C5C-6F5C-C428FA1C14C7}"/>
              </a:ext>
            </a:extLst>
          </p:cNvPr>
          <p:cNvSpPr txBox="1"/>
          <p:nvPr/>
        </p:nvSpPr>
        <p:spPr>
          <a:xfrm>
            <a:off x="514350" y="1494805"/>
            <a:ext cx="411943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Univariate Analysis – Key Insights</a:t>
            </a:r>
          </a:p>
          <a:p>
            <a:pPr>
              <a:buNone/>
            </a:pPr>
            <a:endParaRPr lang="en-US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Years with Insurance</a:t>
            </a:r>
            <a:r>
              <a:rPr lang="en-US" sz="1200" dirty="0"/>
              <a:t> – Peak at </a:t>
            </a:r>
            <a:r>
              <a:rPr lang="en-US" sz="1200" b="1" dirty="0"/>
              <a:t>3 years</a:t>
            </a:r>
            <a:r>
              <a:rPr lang="en-US" sz="1200" dirty="0"/>
              <a:t> (2,990 customers).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Regular Checkups</a:t>
            </a:r>
            <a:r>
              <a:rPr lang="en-US" sz="1200" dirty="0"/>
              <a:t> – Most customers have </a:t>
            </a:r>
            <a:r>
              <a:rPr lang="en-US" sz="1200" b="1" dirty="0"/>
              <a:t>0–2 checkups/year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Adventure Sports</a:t>
            </a:r>
            <a:r>
              <a:rPr lang="en-US" sz="1200" dirty="0"/>
              <a:t> – Majority </a:t>
            </a:r>
            <a:r>
              <a:rPr lang="en-US" sz="1200" b="1" dirty="0"/>
              <a:t>not involved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Occupation</a:t>
            </a:r>
            <a:r>
              <a:rPr lang="en-US" sz="1200" dirty="0"/>
              <a:t> – Mainly </a:t>
            </a:r>
            <a:r>
              <a:rPr lang="en-US" sz="1200" b="1" dirty="0"/>
              <a:t>Business</a:t>
            </a:r>
            <a:r>
              <a:rPr lang="en-US" sz="1200" dirty="0"/>
              <a:t> and </a:t>
            </a:r>
            <a:r>
              <a:rPr lang="en-US" sz="1200" b="1" dirty="0"/>
              <a:t>Students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Doctor Visits</a:t>
            </a:r>
            <a:r>
              <a:rPr lang="en-US" sz="1200" dirty="0"/>
              <a:t> – Commonly </a:t>
            </a:r>
            <a:r>
              <a:rPr lang="en-US" sz="1200" b="1" dirty="0"/>
              <a:t>2–4 visits/year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Cholesterol Level</a:t>
            </a:r>
            <a:r>
              <a:rPr lang="en-US" sz="1200" dirty="0"/>
              <a:t> – Mostly in </a:t>
            </a:r>
            <a:r>
              <a:rPr lang="en-US" sz="1200" b="1" dirty="0"/>
              <a:t>125–175 </a:t>
            </a:r>
            <a:r>
              <a:rPr lang="en-US" sz="1200" dirty="0"/>
              <a:t>safe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Daily Steps</a:t>
            </a:r>
            <a:r>
              <a:rPr lang="en-US" sz="1200" dirty="0"/>
              <a:t> – Peak at </a:t>
            </a:r>
            <a:r>
              <a:rPr lang="en-US" sz="1200" b="1" dirty="0"/>
              <a:t>4,000–6,000 steps/day</a:t>
            </a:r>
            <a:r>
              <a:rPr lang="en-US" sz="1200" dirty="0"/>
              <a:t>; few highly active users.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Age</a:t>
            </a:r>
            <a:r>
              <a:rPr lang="en-US" sz="1200" dirty="0"/>
              <a:t> – Median around </a:t>
            </a:r>
            <a:r>
              <a:rPr lang="en-US" sz="1200" b="1" dirty="0"/>
              <a:t>45 years</a:t>
            </a:r>
            <a:r>
              <a:rPr lang="en-US" sz="1200" dirty="0"/>
              <a:t>, evenly spread across 20–70.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Heart &amp; Major Disease History</a:t>
            </a:r>
            <a:r>
              <a:rPr lang="en-US" sz="1200" dirty="0"/>
              <a:t> – Majority </a:t>
            </a:r>
            <a:r>
              <a:rPr lang="en-US" sz="1200" b="1" dirty="0"/>
              <a:t>no prior records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Gender</a:t>
            </a:r>
            <a:r>
              <a:rPr lang="en-US" sz="1200" dirty="0"/>
              <a:t> – </a:t>
            </a:r>
            <a:r>
              <a:rPr lang="en-US" sz="1200" b="1" dirty="0"/>
              <a:t>Male-dominated</a:t>
            </a:r>
            <a:r>
              <a:rPr lang="en-US" sz="1200" dirty="0"/>
              <a:t> dataset.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Glucose Level</a:t>
            </a:r>
            <a:r>
              <a:rPr lang="en-US" sz="1200" dirty="0"/>
              <a:t> – Skewed right; many above normal.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BMI</a:t>
            </a:r>
            <a:r>
              <a:rPr lang="en-US" sz="1200" dirty="0"/>
              <a:t> – Most between </a:t>
            </a:r>
            <a:r>
              <a:rPr lang="en-US" sz="1200" b="1" dirty="0"/>
              <a:t>28–33</a:t>
            </a:r>
            <a:r>
              <a:rPr lang="en-US" sz="1200" dirty="0"/>
              <a:t>; right-skewed.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Smoking</a:t>
            </a:r>
            <a:r>
              <a:rPr lang="en-US" sz="1200" dirty="0"/>
              <a:t> – Majority “Never Smoked”; some </a:t>
            </a:r>
            <a:r>
              <a:rPr lang="en-US" sz="1200" b="1" dirty="0"/>
              <a:t>unknown</a:t>
            </a:r>
            <a:r>
              <a:rPr lang="en-US" sz="1200" dirty="0"/>
              <a:t> status.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Location</a:t>
            </a:r>
            <a:r>
              <a:rPr lang="en-US" sz="1200" dirty="0"/>
              <a:t> – Mostly </a:t>
            </a:r>
            <a:r>
              <a:rPr lang="en-US" sz="1200" b="1" dirty="0"/>
              <a:t>Bangalore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Weight</a:t>
            </a:r>
            <a:r>
              <a:rPr lang="en-US" sz="1200" dirty="0"/>
              <a:t> – Peak at </a:t>
            </a:r>
            <a:r>
              <a:rPr lang="en-US" sz="1200" b="1" dirty="0"/>
              <a:t>70–75 kg</a:t>
            </a:r>
            <a:r>
              <a:rPr lang="en-US" sz="1200" dirty="0"/>
              <a:t>, slight right skew.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Other Coverage</a:t>
            </a:r>
            <a:r>
              <a:rPr lang="en-US" sz="1200" dirty="0"/>
              <a:t> – Most </a:t>
            </a:r>
            <a:r>
              <a:rPr lang="en-US" sz="1200" b="1" dirty="0"/>
              <a:t>no alternate coverage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Alcohol</a:t>
            </a:r>
            <a:r>
              <a:rPr lang="en-US" sz="1200" dirty="0"/>
              <a:t> – Majority </a:t>
            </a:r>
            <a:r>
              <a:rPr lang="en-US" sz="1200" b="1" dirty="0"/>
              <a:t>occasional drinkers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Exercise</a:t>
            </a:r>
            <a:r>
              <a:rPr lang="en-US" sz="1200" dirty="0"/>
              <a:t> – Majority </a:t>
            </a:r>
            <a:r>
              <a:rPr lang="en-US" sz="1200" b="1" dirty="0"/>
              <a:t>Moderate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Fat %</a:t>
            </a:r>
            <a:r>
              <a:rPr lang="en-US" sz="1200" dirty="0"/>
              <a:t> – Mode around </a:t>
            </a:r>
            <a:r>
              <a:rPr lang="en-US" sz="1200" b="1" dirty="0"/>
              <a:t>35%</a:t>
            </a:r>
            <a:r>
              <a:rPr lang="en-US" sz="1200" dirty="0"/>
              <a:t>, right-skewed.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Insurance Cost</a:t>
            </a:r>
            <a:r>
              <a:rPr lang="en-US" sz="1200" dirty="0"/>
              <a:t> – Highest density in </a:t>
            </a:r>
            <a:r>
              <a:rPr lang="en-US" sz="1200" b="1" dirty="0"/>
              <a:t>20K–30K</a:t>
            </a:r>
            <a:r>
              <a:rPr lang="en-US" sz="1200" dirty="0"/>
              <a:t>, right-skewed tail to ₹70K.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86BC7-6B1D-74E5-30CB-D15EF856C72A}"/>
              </a:ext>
            </a:extLst>
          </p:cNvPr>
          <p:cNvSpPr txBox="1"/>
          <p:nvPr/>
        </p:nvSpPr>
        <p:spPr>
          <a:xfrm>
            <a:off x="5172848" y="1494805"/>
            <a:ext cx="564218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Bivariate Analysis – Key Insights</a:t>
            </a:r>
          </a:p>
          <a:p>
            <a:pPr>
              <a:buNone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Strong Positive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Fat %</a:t>
            </a:r>
            <a:r>
              <a:rPr lang="en-US" sz="1200" dirty="0"/>
              <a:t>, </a:t>
            </a:r>
            <a:r>
              <a:rPr lang="en-US" sz="1200" b="1" dirty="0"/>
              <a:t>Avg Glucose Level</a:t>
            </a:r>
            <a:r>
              <a:rPr lang="en-US" sz="1200" dirty="0"/>
              <a:t>, </a:t>
            </a:r>
            <a:r>
              <a:rPr lang="en-US" sz="1200" b="1" dirty="0"/>
              <a:t>BMI</a:t>
            </a:r>
            <a:r>
              <a:rPr lang="en-US" sz="1200" dirty="0"/>
              <a:t>, </a:t>
            </a:r>
            <a:r>
              <a:rPr lang="en-US" sz="1200" b="1" dirty="0"/>
              <a:t>Heart Disease History</a:t>
            </a:r>
            <a:r>
              <a:rPr lang="en-US" sz="1200" dirty="0"/>
              <a:t>, </a:t>
            </a:r>
            <a:r>
              <a:rPr lang="en-US" sz="1200" b="1" dirty="0"/>
              <a:t>Other Major Disease History</a:t>
            </a:r>
            <a:r>
              <a:rPr lang="en-US" sz="1200" dirty="0"/>
              <a:t>, </a:t>
            </a:r>
            <a:r>
              <a:rPr lang="en-US" sz="1200" b="1" dirty="0"/>
              <a:t>Weight Change (Last Year)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Moderate/Low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Age</a:t>
            </a:r>
            <a:r>
              <a:rPr lang="en-US" sz="1200" dirty="0"/>
              <a:t> (mild positive), </a:t>
            </a:r>
            <a:r>
              <a:rPr lang="en-US" sz="1200" b="1" dirty="0"/>
              <a:t>Cholesterol</a:t>
            </a:r>
            <a:r>
              <a:rPr lang="en-US" sz="1200" dirty="0"/>
              <a:t> (low), </a:t>
            </a:r>
            <a:r>
              <a:rPr lang="en-US" sz="1200" b="1" dirty="0"/>
              <a:t>Smoking Status</a:t>
            </a:r>
            <a:r>
              <a:rPr lang="en-US" sz="1200" dirty="0"/>
              <a:t> (low), </a:t>
            </a:r>
            <a:r>
              <a:rPr lang="en-US" sz="1200" b="1" dirty="0"/>
              <a:t>Alcohol</a:t>
            </a:r>
            <a:r>
              <a:rPr lang="en-US" sz="1200" dirty="0"/>
              <a:t> (modest).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Slight Negative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Exercise</a:t>
            </a:r>
            <a:r>
              <a:rPr lang="en-US" sz="1200" dirty="0"/>
              <a:t>, </a:t>
            </a:r>
            <a:r>
              <a:rPr lang="en-US" sz="1200" b="1" dirty="0"/>
              <a:t>Daily Steps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No Correlation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Years with Insurance</a:t>
            </a:r>
            <a:r>
              <a:rPr lang="en-US" sz="1200" dirty="0"/>
              <a:t>, </a:t>
            </a:r>
            <a:r>
              <a:rPr lang="en-US" sz="1200" b="1" dirty="0"/>
              <a:t>Other Insurance Coverage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Key Patterns with Mean Insurance Cost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More Checkups</a:t>
            </a:r>
            <a:r>
              <a:rPr lang="en-US" sz="1200" dirty="0"/>
              <a:t> → Higher cost (max at 5 checkups/year).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Adventure Sports</a:t>
            </a:r>
            <a:r>
              <a:rPr lang="en-US" sz="1200" dirty="0"/>
              <a:t> → Higher cost (~32K vs 27K).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Occupation</a:t>
            </a:r>
            <a:r>
              <a:rPr lang="en-US" sz="1200" dirty="0"/>
              <a:t> – Business &amp; Students slightly higher than Salaried.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Cholesterol</a:t>
            </a:r>
            <a:r>
              <a:rPr lang="en-US" sz="1200" dirty="0"/>
              <a:t> – Highest cost in </a:t>
            </a:r>
            <a:r>
              <a:rPr lang="en-US" sz="1200" b="1" dirty="0"/>
              <a:t>200–225 </a:t>
            </a:r>
            <a:r>
              <a:rPr lang="en-US" sz="1200" dirty="0"/>
              <a:t>group.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Steps</a:t>
            </a:r>
            <a:r>
              <a:rPr lang="en-US" sz="1200" dirty="0"/>
              <a:t> – Low activity and moderate activity cost similar; high activity slightly lower.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Heart/Major Disease History</a:t>
            </a:r>
            <a:r>
              <a:rPr lang="en-US" sz="1200" dirty="0"/>
              <a:t> – Clearly higher costs.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Gender</a:t>
            </a:r>
            <a:r>
              <a:rPr lang="en-US" sz="1200" dirty="0"/>
              <a:t> – Costs nearly equal despite male majority.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BMI</a:t>
            </a:r>
            <a:r>
              <a:rPr lang="en-US" sz="1200" dirty="0"/>
              <a:t> – Highest cost in </a:t>
            </a:r>
            <a:r>
              <a:rPr lang="en-US" sz="1200" b="1" dirty="0"/>
              <a:t>healthy BMI</a:t>
            </a:r>
            <a:r>
              <a:rPr lang="en-US" sz="1200" dirty="0"/>
              <a:t> (&lt;25), moderate dip in overweight, slight rise in obese.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Smoking</a:t>
            </a:r>
            <a:r>
              <a:rPr lang="en-US" sz="1200" dirty="0"/>
              <a:t> – “Unknown” status highest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Alcohol</a:t>
            </a:r>
            <a:r>
              <a:rPr lang="en-US" sz="1200" dirty="0"/>
              <a:t> – Daily consumer's highest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Exercise</a:t>
            </a:r>
            <a:r>
              <a:rPr lang="en-US" sz="1200" dirty="0"/>
              <a:t> – Moderate exercise group has highest average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Fat %</a:t>
            </a:r>
            <a:r>
              <a:rPr lang="en-US" sz="1200" dirty="0"/>
              <a:t> – &lt;25% fat surprisingly highest cost; &gt;35% lowest (possible underutilization).</a:t>
            </a:r>
          </a:p>
        </p:txBody>
      </p:sp>
    </p:spTree>
    <p:extLst>
      <p:ext uri="{BB962C8B-B14F-4D97-AF65-F5344CB8AC3E}">
        <p14:creationId xmlns:p14="http://schemas.microsoft.com/office/powerpoint/2010/main" val="40298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AE1B3-4263-B763-42B2-EE67A001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B9AD9E-C2C3-B88F-07EA-A3DBBCB2D03A}"/>
              </a:ext>
            </a:extLst>
          </p:cNvPr>
          <p:cNvSpPr/>
          <p:nvPr/>
        </p:nvSpPr>
        <p:spPr>
          <a:xfrm>
            <a:off x="224850" y="-19500"/>
            <a:ext cx="10300681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 Understanding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2B322-AB29-8A24-65C8-C769794B16BE}"/>
              </a:ext>
            </a:extLst>
          </p:cNvPr>
          <p:cNvSpPr txBox="1"/>
          <p:nvPr/>
        </p:nvSpPr>
        <p:spPr>
          <a:xfrm>
            <a:off x="607025" y="726048"/>
            <a:ext cx="1030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indent="0">
              <a:buNone/>
            </a:pPr>
            <a:r>
              <a:rPr lang="en-IN" sz="2800" dirty="0"/>
              <a:t>Exploratory Data Analysis  (contd..):</a:t>
            </a:r>
          </a:p>
          <a:p>
            <a:pPr marL="2540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BB062-B0F4-AFAC-EFC7-A6995E906953}"/>
              </a:ext>
            </a:extLst>
          </p:cNvPr>
          <p:cNvSpPr txBox="1"/>
          <p:nvPr/>
        </p:nvSpPr>
        <p:spPr>
          <a:xfrm>
            <a:off x="5375191" y="1509998"/>
            <a:ext cx="545550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Cluster Analysis – Key Findings</a:t>
            </a:r>
          </a:p>
          <a:p>
            <a:endParaRPr lang="en-US" sz="1600" dirty="0"/>
          </a:p>
          <a:p>
            <a:r>
              <a:rPr lang="en-US" sz="1200" b="1" dirty="0"/>
              <a:t>Cluster 0 – Health-Conscious but High-Cost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Moderate exercise, frequent doctor visits, low smoking/alcohol, mostly male, limited external coverage.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Proactive healthcare users; higher utilization drives up costs.</a:t>
            </a:r>
          </a:p>
          <a:p>
            <a:endParaRPr lang="en-US" sz="1200" dirty="0"/>
          </a:p>
          <a:p>
            <a:r>
              <a:rPr lang="en-US" sz="1200" b="1" dirty="0"/>
              <a:t>Cluster 1 – Low Engagement, Silent Risk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Few/no checkups, low doctor visits, sedentary, higher alcohol consumption, low external coverage.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Avoid healthcare until late-stage; risk of delayed chronic condition detection.</a:t>
            </a:r>
          </a:p>
          <a:p>
            <a:endParaRPr lang="en-US" sz="1200" dirty="0"/>
          </a:p>
          <a:p>
            <a:r>
              <a:rPr lang="en-US" sz="1200" b="1" dirty="0"/>
              <a:t>Cluster 2 – Lean, Fitness-Forward Males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Extreme or no exercise, mostly male, lower healthcare engagement, mixed alcohol habits, more external coverage.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Younger, leaner, underutilizing insurance due to partial coverage.</a:t>
            </a:r>
          </a:p>
          <a:p>
            <a:endParaRPr lang="en-US" sz="1200" dirty="0"/>
          </a:p>
          <a:p>
            <a:r>
              <a:rPr lang="en-US" sz="1200" b="1" dirty="0"/>
              <a:t>Cluster 3 – Data-Ambiguous but Potentially High-Risk</a:t>
            </a:r>
            <a:endParaRPr lang="en-US" sz="1200" dirty="0"/>
          </a:p>
          <a:p>
            <a:pPr lvl="1"/>
            <a:r>
              <a:rPr lang="en-US" sz="1200" b="1" dirty="0"/>
              <a:t>Traits:</a:t>
            </a:r>
            <a:r>
              <a:rPr lang="en-US" sz="1200" dirty="0"/>
              <a:t> Many unknown smoking statuses, high alcohol prevalence, neutral exercise, gender-balanced, external coverage present.</a:t>
            </a:r>
          </a:p>
          <a:p>
            <a:pPr lvl="1"/>
            <a:r>
              <a:rPr lang="en-US" sz="1200" b="1" dirty="0"/>
              <a:t>Interpretation:</a:t>
            </a:r>
            <a:r>
              <a:rPr lang="en-US" sz="1200" dirty="0"/>
              <a:t> Missing/ambiguous data hides risks; cost-volatile and hard to profile.</a:t>
            </a:r>
          </a:p>
          <a:p>
            <a:pPr>
              <a:buNone/>
            </a:pP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A62E15-A720-6AF7-B93E-109E1992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1" y="1954654"/>
            <a:ext cx="2720022" cy="3360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61994A-F394-5794-A4E1-34FA9F3C5B54}"/>
              </a:ext>
            </a:extLst>
          </p:cNvPr>
          <p:cNvSpPr txBox="1"/>
          <p:nvPr/>
        </p:nvSpPr>
        <p:spPr>
          <a:xfrm>
            <a:off x="607025" y="1509998"/>
            <a:ext cx="6295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Picked Top 15 Features from Model:</a:t>
            </a:r>
          </a:p>
        </p:txBody>
      </p:sp>
    </p:spTree>
    <p:extLst>
      <p:ext uri="{BB962C8B-B14F-4D97-AF65-F5344CB8AC3E}">
        <p14:creationId xmlns:p14="http://schemas.microsoft.com/office/powerpoint/2010/main" val="16266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322819" y="-12357"/>
            <a:ext cx="9116863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Modelling Approach Used &amp; Why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BBB34-2883-154B-B588-CD7BD235E055}"/>
              </a:ext>
            </a:extLst>
          </p:cNvPr>
          <p:cNvSpPr/>
          <p:nvPr/>
        </p:nvSpPr>
        <p:spPr>
          <a:xfrm>
            <a:off x="1287519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9D5F40-FD28-F442-905F-E871742D5041}"/>
              </a:ext>
            </a:extLst>
          </p:cNvPr>
          <p:cNvSpPr/>
          <p:nvPr/>
        </p:nvSpPr>
        <p:spPr>
          <a:xfrm>
            <a:off x="4585895" y="5148306"/>
            <a:ext cx="1019742" cy="1019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7EAFD-7C5F-4E98-5C29-5BDD3B91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53" y="1559013"/>
            <a:ext cx="3244696" cy="22481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789271-CE86-3C40-8B78-27296F2F9F5C}"/>
              </a:ext>
            </a:extLst>
          </p:cNvPr>
          <p:cNvSpPr txBox="1"/>
          <p:nvPr/>
        </p:nvSpPr>
        <p:spPr>
          <a:xfrm>
            <a:off x="322819" y="1102332"/>
            <a:ext cx="41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Performances on Training Data</a:t>
            </a:r>
            <a:endParaRPr 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A3CA3-840D-0E1F-6136-BFFEECAC7EF7}"/>
              </a:ext>
            </a:extLst>
          </p:cNvPr>
          <p:cNvSpPr txBox="1"/>
          <p:nvPr/>
        </p:nvSpPr>
        <p:spPr>
          <a:xfrm>
            <a:off x="452946" y="3807115"/>
            <a:ext cx="419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Performances on Testing Data</a:t>
            </a:r>
            <a:endParaRPr lang="en-US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9BC775-834D-A1BE-79D9-71FC29A3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53" y="4295922"/>
            <a:ext cx="3244696" cy="2304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C2DF0E-0995-6018-8EF7-A31A409DC299}"/>
              </a:ext>
            </a:extLst>
          </p:cNvPr>
          <p:cNvSpPr txBox="1"/>
          <p:nvPr/>
        </p:nvSpPr>
        <p:spPr>
          <a:xfrm>
            <a:off x="4643026" y="1102332"/>
            <a:ext cx="4922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 Importance of Tuned XG Boost Model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471C66-1112-D027-F3EC-C53946D42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026" y="1471664"/>
            <a:ext cx="4165491" cy="34833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EAC668-D0B3-E712-D27D-CC306E18B2A9}"/>
              </a:ext>
            </a:extLst>
          </p:cNvPr>
          <p:cNvSpPr txBox="1"/>
          <p:nvPr/>
        </p:nvSpPr>
        <p:spPr>
          <a:xfrm>
            <a:off x="4708181" y="4950869"/>
            <a:ext cx="60949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Weight</a:t>
            </a:r>
            <a:r>
              <a:rPr lang="en-US" sz="1200" dirty="0"/>
              <a:t> – ~95% importance → The single most influential factor; higher weight strongly correlates with higher insurance cost.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Coverage by Another Insurance Company</a:t>
            </a:r>
            <a:r>
              <a:rPr lang="en-US" sz="1200" dirty="0"/>
              <a:t> – ~1.5% importance → Indicates partial risk sharing; affects pricing strategy slightly.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Regular Health Checkups</a:t>
            </a:r>
            <a:r>
              <a:rPr lang="en-US" sz="1200" dirty="0"/>
              <a:t> – ~1.5% importance → Frequent checkups may flag chronic conditions or proactive care needs.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b="1" dirty="0"/>
              <a:t>Other Features (combined)</a:t>
            </a:r>
            <a:r>
              <a:rPr lang="en-US" sz="1200" dirty="0"/>
              <a:t> – ~2% importance → Includes BMI, </a:t>
            </a:r>
            <a:r>
              <a:rPr lang="en-US" sz="1200" dirty="0" err="1"/>
              <a:t>avg_glucose_level</a:t>
            </a:r>
            <a:r>
              <a:rPr lang="en-US" sz="1200" dirty="0"/>
              <a:t>, </a:t>
            </a:r>
            <a:r>
              <a:rPr lang="en-US" sz="1200" dirty="0" err="1"/>
              <a:t>fat_percentage</a:t>
            </a:r>
            <a:r>
              <a:rPr lang="en-US" sz="1200" dirty="0"/>
              <a:t>, age, </a:t>
            </a:r>
            <a:r>
              <a:rPr lang="en-US" sz="1200" dirty="0" err="1"/>
              <a:t>smoking_status</a:t>
            </a:r>
            <a:r>
              <a:rPr lang="en-US" sz="1200" dirty="0"/>
              <a:t>, </a:t>
            </a:r>
            <a:r>
              <a:rPr lang="en-US" sz="1200" dirty="0" err="1"/>
              <a:t>cholesterol_level</a:t>
            </a:r>
            <a:r>
              <a:rPr lang="en-US" sz="1200" dirty="0"/>
              <a:t>, exercise, weight change, gender, tenure, alcohol use; mostly minor impact compared to top 3.</a:t>
            </a:r>
          </a:p>
        </p:txBody>
      </p:sp>
    </p:spTree>
    <p:extLst>
      <p:ext uri="{BB962C8B-B14F-4D97-AF65-F5344CB8AC3E}">
        <p14:creationId xmlns:p14="http://schemas.microsoft.com/office/powerpoint/2010/main" val="53269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158268" y="61393"/>
            <a:ext cx="10676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158268" y="841051"/>
            <a:ext cx="1069633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Weight (~95% importance)</a:t>
            </a:r>
          </a:p>
          <a:p>
            <a:pPr lvl="1"/>
            <a:r>
              <a:rPr lang="en-US" sz="1400" b="1" dirty="0"/>
              <a:t>Direction of Impact:</a:t>
            </a:r>
            <a:r>
              <a:rPr lang="en-US" sz="1400" dirty="0"/>
              <a:t> Positive.</a:t>
            </a:r>
          </a:p>
          <a:p>
            <a:pPr lvl="1"/>
            <a:r>
              <a:rPr lang="en-US" sz="1400" b="1" dirty="0"/>
              <a:t>Interpretation:</a:t>
            </a:r>
            <a:r>
              <a:rPr lang="en-US" sz="1400" dirty="0"/>
              <a:t> Higher body weight generally reflects higher BMI and fat %, both linked to increased cardio-metabolic risk (e.g., diabetes, heart disease).</a:t>
            </a:r>
          </a:p>
          <a:p>
            <a:pPr lvl="1"/>
            <a:r>
              <a:rPr lang="en-US" sz="1400" b="1" dirty="0"/>
              <a:t>Business Impact:</a:t>
            </a:r>
            <a:r>
              <a:rPr lang="en-US" sz="1400" dirty="0"/>
              <a:t> Individuals with higher weight are more likely to incur higher medical expenses, leading to higher insurance costs.</a:t>
            </a:r>
          </a:p>
          <a:p>
            <a:endParaRPr lang="en-US" sz="1600" dirty="0"/>
          </a:p>
          <a:p>
            <a:r>
              <a:rPr lang="en-US" sz="1600" b="1" dirty="0"/>
              <a:t>2. Coverage by Another Insurance Company (~1.5% importance)</a:t>
            </a:r>
          </a:p>
          <a:p>
            <a:pPr lvl="1"/>
            <a:r>
              <a:rPr lang="en-US" sz="1400" b="1" dirty="0"/>
              <a:t>Direction of Impact:</a:t>
            </a:r>
            <a:r>
              <a:rPr lang="en-US" sz="1400" dirty="0"/>
              <a:t> Mixed.</a:t>
            </a:r>
          </a:p>
          <a:p>
            <a:pPr lvl="1"/>
            <a:r>
              <a:rPr lang="en-US" sz="1400" b="1" dirty="0"/>
              <a:t>Interpretation:</a:t>
            </a:r>
            <a:r>
              <a:rPr lang="en-US" sz="1400" dirty="0"/>
              <a:t> Having additional coverage could mean:</a:t>
            </a:r>
          </a:p>
          <a:p>
            <a:pPr lvl="2"/>
            <a:r>
              <a:rPr lang="en-US" sz="1400" b="1" dirty="0"/>
              <a:t>Lower actual utilization</a:t>
            </a:r>
            <a:r>
              <a:rPr lang="en-US" sz="1400" dirty="0"/>
              <a:t> of this policy (cost dilution), OR</a:t>
            </a:r>
          </a:p>
          <a:p>
            <a:pPr lvl="2"/>
            <a:r>
              <a:rPr lang="en-US" sz="1400" b="1" dirty="0"/>
              <a:t>Higher baseline risk</a:t>
            </a:r>
            <a:r>
              <a:rPr lang="en-US" sz="1400" dirty="0"/>
              <a:t> prompting individuals to seek multiple coverages.</a:t>
            </a:r>
          </a:p>
          <a:p>
            <a:pPr lvl="1"/>
            <a:r>
              <a:rPr lang="en-US" sz="1400" b="1" dirty="0"/>
              <a:t>Business Impact:</a:t>
            </a:r>
            <a:r>
              <a:rPr lang="en-US" sz="1400" dirty="0"/>
              <a:t> While the direct correlation with cost is minor, this variable signals customer risk perception and can influence premium structuring or cross-sell opportunities.</a:t>
            </a:r>
          </a:p>
          <a:p>
            <a:endParaRPr lang="en-US" sz="1600" dirty="0"/>
          </a:p>
          <a:p>
            <a:r>
              <a:rPr lang="en-US" sz="1600" b="1" dirty="0"/>
              <a:t>3. Regular Health Checkups (~1.5% importance)</a:t>
            </a:r>
          </a:p>
          <a:p>
            <a:pPr lvl="1"/>
            <a:r>
              <a:rPr lang="en-US" sz="1400" b="1" dirty="0"/>
              <a:t>Direction of Impact:</a:t>
            </a:r>
            <a:r>
              <a:rPr lang="en-US" sz="1400" dirty="0"/>
              <a:t> Positive.</a:t>
            </a:r>
          </a:p>
          <a:p>
            <a:pPr lvl="1"/>
            <a:r>
              <a:rPr lang="en-US" sz="1400" b="1" dirty="0"/>
              <a:t>Interpretation:</a:t>
            </a:r>
            <a:endParaRPr lang="en-US" sz="1400" dirty="0"/>
          </a:p>
          <a:p>
            <a:pPr lvl="2"/>
            <a:r>
              <a:rPr lang="en-US" sz="1400" dirty="0"/>
              <a:t>Higher checkup frequency often means active health monitoring — but in insurance pricing, it may also flag existing chronic conditions requiring continuous management.</a:t>
            </a:r>
          </a:p>
          <a:p>
            <a:pPr lvl="2"/>
            <a:r>
              <a:rPr lang="en-US" sz="1400" dirty="0"/>
              <a:t>Preventive care can lower long-term risks, but short-term insurance cost may be higher due to increased utilization.</a:t>
            </a:r>
          </a:p>
          <a:p>
            <a:pPr lvl="1"/>
            <a:r>
              <a:rPr lang="en-US" sz="1400" b="1" dirty="0"/>
              <a:t>Business Impact:</a:t>
            </a:r>
            <a:endParaRPr lang="en-US" sz="1400" dirty="0"/>
          </a:p>
          <a:p>
            <a:pPr lvl="1"/>
            <a:r>
              <a:rPr lang="en-US" sz="1400" dirty="0"/>
              <a:t>Can serve as a leading indicator for proactive care segments.</a:t>
            </a:r>
          </a:p>
          <a:p>
            <a:pPr lvl="1"/>
            <a:r>
              <a:rPr lang="en-US" sz="1400" dirty="0"/>
              <a:t>May justify wellness incentives or discounts to encourage preventive habits while managing claims.</a:t>
            </a:r>
          </a:p>
          <a:p>
            <a:pPr lvl="1"/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3284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A46D-FA0F-D94C-7ECC-2C231EBC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5D689F-1FE5-5A7F-91DA-03FC09060B77}"/>
              </a:ext>
            </a:extLst>
          </p:cNvPr>
          <p:cNvSpPr/>
          <p:nvPr/>
        </p:nvSpPr>
        <p:spPr>
          <a:xfrm>
            <a:off x="158268" y="61393"/>
            <a:ext cx="10676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 from Analysis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(contd..)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38A42-7AFF-2FE7-D084-7E5196E7AC62}"/>
              </a:ext>
            </a:extLst>
          </p:cNvPr>
          <p:cNvSpPr txBox="1"/>
          <p:nvPr/>
        </p:nvSpPr>
        <p:spPr>
          <a:xfrm>
            <a:off x="158268" y="841051"/>
            <a:ext cx="106963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4. Other Features (Combined ~2%)</a:t>
            </a:r>
          </a:p>
          <a:p>
            <a:pPr lvl="1"/>
            <a:r>
              <a:rPr lang="en-US" sz="1400" b="1" dirty="0"/>
              <a:t>BMI, Avg Glucose Level, Fat %, Age, Smoking, Cholesterol, Exercise, Alcohol, Weight Change, Gender, Tenure</a:t>
            </a:r>
            <a:endParaRPr lang="en-US" sz="1400" dirty="0"/>
          </a:p>
          <a:p>
            <a:pPr lvl="1"/>
            <a:r>
              <a:rPr lang="en-US" sz="1400" b="1" dirty="0"/>
              <a:t>General Impact:</a:t>
            </a:r>
            <a:endParaRPr lang="en-US" sz="1400" dirty="0"/>
          </a:p>
          <a:p>
            <a:pPr lvl="2"/>
            <a:r>
              <a:rPr lang="en-US" sz="1400" dirty="0"/>
              <a:t>These contribute marginally in isolation but can have stronger predictive power when interacting with top features (e.g., BMI + Age, Glucose + Weight).</a:t>
            </a:r>
          </a:p>
          <a:p>
            <a:pPr lvl="2"/>
            <a:r>
              <a:rPr lang="en-US" sz="1400" dirty="0"/>
              <a:t>Provide context to refine customer health profiles, underwriting, and segmentation.</a:t>
            </a:r>
          </a:p>
        </p:txBody>
      </p:sp>
    </p:spTree>
    <p:extLst>
      <p:ext uri="{BB962C8B-B14F-4D97-AF65-F5344CB8AC3E}">
        <p14:creationId xmlns:p14="http://schemas.microsoft.com/office/powerpoint/2010/main" val="96709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02C64F-B802-E343-B318-70D330A9A3FE}"/>
              </a:ext>
            </a:extLst>
          </p:cNvPr>
          <p:cNvSpPr/>
          <p:nvPr/>
        </p:nvSpPr>
        <p:spPr>
          <a:xfrm>
            <a:off x="276462" y="120283"/>
            <a:ext cx="5374857" cy="70788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B8933-F44C-374A-B677-D79AD8184284}"/>
              </a:ext>
            </a:extLst>
          </p:cNvPr>
          <p:cNvSpPr txBox="1"/>
          <p:nvPr/>
        </p:nvSpPr>
        <p:spPr>
          <a:xfrm>
            <a:off x="276462" y="828169"/>
            <a:ext cx="1069633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Weight Management Programs (Top Predictor – 95% importance)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Launch targeted wellness programs focusing on </a:t>
            </a:r>
            <a:r>
              <a:rPr lang="en-US" sz="1400" b="1" dirty="0"/>
              <a:t>weight reduction</a:t>
            </a:r>
            <a:r>
              <a:rPr lang="en-US" sz="1400" dirty="0"/>
              <a:t> and </a:t>
            </a:r>
            <a:r>
              <a:rPr lang="en-US" sz="1400" b="1" dirty="0"/>
              <a:t>healthy BMI maintenance</a:t>
            </a:r>
            <a:r>
              <a:rPr lang="en-US" sz="14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Offer </a:t>
            </a:r>
            <a:r>
              <a:rPr lang="en-US" sz="1400" b="1" dirty="0"/>
              <a:t>premium discounts</a:t>
            </a:r>
            <a:r>
              <a:rPr lang="en-US" sz="1400" dirty="0"/>
              <a:t> or </a:t>
            </a:r>
            <a:r>
              <a:rPr lang="en-US" sz="1400" b="1" dirty="0"/>
              <a:t>cashback incentives</a:t>
            </a:r>
            <a:r>
              <a:rPr lang="en-US" sz="1400" dirty="0"/>
              <a:t> for customers achieving set weight or fitness targets.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Partner with gyms, nutritionists, and wellness apps for </a:t>
            </a:r>
            <a:r>
              <a:rPr lang="en-US" sz="1400" b="1" dirty="0"/>
              <a:t>corporate health packages</a:t>
            </a:r>
            <a:r>
              <a:rPr lang="en-US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Engagement for Low-Touch Segments (Cluster 1 – Silent Risk)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Create </a:t>
            </a:r>
            <a:r>
              <a:rPr lang="en-US" sz="1400" b="1" dirty="0"/>
              <a:t>outreach campaigns</a:t>
            </a:r>
            <a:r>
              <a:rPr lang="en-US" sz="1400" dirty="0"/>
              <a:t> for customers with </a:t>
            </a:r>
            <a:r>
              <a:rPr lang="en-US" sz="1400" b="1" dirty="0"/>
              <a:t>few/no checkups</a:t>
            </a:r>
            <a:r>
              <a:rPr lang="en-US" sz="1400" dirty="0"/>
              <a:t> and low activity levels.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Offer free annual screenings or preventive care vouchers to encourage early diagnosis.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Use </a:t>
            </a:r>
            <a:r>
              <a:rPr lang="en-US" sz="1400" b="1" dirty="0"/>
              <a:t>mobile nudges</a:t>
            </a:r>
            <a:r>
              <a:rPr lang="en-US" sz="1400" dirty="0"/>
              <a:t> and gamified health challenges to boost participation.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Customized Plans for Dual-Coverage Holders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For customers with </a:t>
            </a:r>
            <a:r>
              <a:rPr lang="en-US" sz="1400" b="1" dirty="0"/>
              <a:t>coverage from another insurance company</a:t>
            </a:r>
            <a:r>
              <a:rPr lang="en-US" sz="1400" dirty="0"/>
              <a:t>, design </a:t>
            </a:r>
            <a:r>
              <a:rPr lang="en-US" sz="1400" b="1" dirty="0"/>
              <a:t>add-on or supplementary plans</a:t>
            </a:r>
            <a:r>
              <a:rPr lang="en-US" sz="1400" dirty="0"/>
              <a:t> to capture additional engagement.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Position these as “gap coverage” for risks not fully covered by their other policies.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Incentivizing Preventive Healthcare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While frequent checkups indicate higher short-term costs, they can lower </a:t>
            </a:r>
            <a:r>
              <a:rPr lang="en-US" sz="1400" b="1" dirty="0"/>
              <a:t>long-term claim severity</a:t>
            </a:r>
            <a:r>
              <a:rPr lang="en-US" sz="14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Introduce </a:t>
            </a:r>
            <a:r>
              <a:rPr lang="en-US" sz="1400" b="1" dirty="0"/>
              <a:t>wellness rewards</a:t>
            </a:r>
            <a:r>
              <a:rPr lang="en-US" sz="1400" dirty="0"/>
              <a:t> for preventive screenings, chronic condition management programs, and health coaching.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Address Data Ambiguity (Cluster 3)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High rates of </a:t>
            </a:r>
            <a:r>
              <a:rPr lang="en-US" sz="1400" b="1" dirty="0"/>
              <a:t>unknown smoking status</a:t>
            </a:r>
            <a:r>
              <a:rPr lang="en-US" sz="1400" dirty="0"/>
              <a:t> and other missing lifestyle details can hide risk.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Improve </a:t>
            </a:r>
            <a:r>
              <a:rPr lang="en-US" sz="1400" b="1" dirty="0"/>
              <a:t>data capture</a:t>
            </a:r>
            <a:r>
              <a:rPr lang="en-US" sz="1400" dirty="0"/>
              <a:t> at onboarding and through periodic surveys.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Consider </a:t>
            </a:r>
            <a:r>
              <a:rPr lang="en-US" sz="1400" b="1" dirty="0"/>
              <a:t>underwriting review</a:t>
            </a:r>
            <a:r>
              <a:rPr lang="en-US" sz="1400" dirty="0"/>
              <a:t> or predictive risk scoring for incomplete profiles.</a:t>
            </a:r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Promote Active Lifestyles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Leverage step-count and exercise-level data to reward customers achieving </a:t>
            </a:r>
            <a:r>
              <a:rPr lang="en-US" sz="1400" b="1" dirty="0"/>
              <a:t>activity milestones</a:t>
            </a:r>
            <a:r>
              <a:rPr lang="en-US" sz="14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Partner with wearable tech companies to link </a:t>
            </a:r>
            <a:r>
              <a:rPr lang="en-US" sz="1400" b="1" dirty="0"/>
              <a:t>activity tracking with premium discounts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37341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1509</Words>
  <Application>Microsoft Office PowerPoint</Application>
  <PresentationFormat>Widescreen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P</dc:creator>
  <cp:lastModifiedBy>Rajesh Mambulli</cp:lastModifiedBy>
  <cp:revision>71</cp:revision>
  <dcterms:created xsi:type="dcterms:W3CDTF">2019-12-31T09:37:22Z</dcterms:created>
  <dcterms:modified xsi:type="dcterms:W3CDTF">2025-08-15T15:55:26Z</dcterms:modified>
</cp:coreProperties>
</file>